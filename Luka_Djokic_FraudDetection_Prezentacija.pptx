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0" autoAdjust="0"/>
    <p:restoredTop sz="94610"/>
  </p:normalViewPr>
  <p:slideViewPr>
    <p:cSldViewPr snapToGrid="0" snapToObjects="1">
      <p:cViewPr>
        <p:scale>
          <a:sx n="121" d="100"/>
          <a:sy n="121" d="100"/>
        </p:scale>
        <p:origin x="283"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3500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E18"/>
        </a:solidFill>
        <a:effectLst/>
      </p:bgPr>
    </p:bg>
    <p:spTree>
      <p:nvGrpSpPr>
        <p:cNvPr id="1" name=""/>
        <p:cNvGrpSpPr/>
        <p:nvPr/>
      </p:nvGrpSpPr>
      <p:grpSpPr>
        <a:xfrm>
          <a:off x="0" y="0"/>
          <a:ext cx="0" cy="0"/>
          <a:chOff x="0" y="0"/>
          <a:chExt cx="0" cy="0"/>
        </a:xfrm>
      </p:grpSpPr>
      <p:sp>
        <p:nvSpPr>
          <p:cNvPr id="2" name="Shape 0"/>
          <p:cNvSpPr/>
          <p:nvPr/>
        </p:nvSpPr>
        <p:spPr>
          <a:xfrm>
            <a:off x="6583680" y="274320"/>
            <a:ext cx="3474720" cy="3474720"/>
          </a:xfrm>
          <a:prstGeom prst="ellipse">
            <a:avLst/>
          </a:prstGeom>
          <a:solidFill>
            <a:srgbClr val="152030"/>
          </a:solidFill>
          <a:ln w="12700">
            <a:solidFill>
              <a:srgbClr val="1E3550"/>
            </a:solidFill>
            <a:prstDash val="solid"/>
          </a:ln>
        </p:spPr>
      </p:sp>
      <p:sp>
        <p:nvSpPr>
          <p:cNvPr id="3" name="Shape 1"/>
          <p:cNvSpPr/>
          <p:nvPr/>
        </p:nvSpPr>
        <p:spPr>
          <a:xfrm>
            <a:off x="7040880" y="0"/>
            <a:ext cx="2926080" cy="2926080"/>
          </a:xfrm>
          <a:prstGeom prst="ellipse">
            <a:avLst/>
          </a:prstGeom>
          <a:solidFill>
            <a:srgbClr val="1A2B40"/>
          </a:solidFill>
          <a:ln w="12700">
            <a:solidFill>
              <a:srgbClr val="1E3550"/>
            </a:solidFill>
            <a:prstDash val="solid"/>
          </a:ln>
        </p:spPr>
      </p:sp>
      <p:sp>
        <p:nvSpPr>
          <p:cNvPr id="4" name="Shape 2"/>
          <p:cNvSpPr/>
          <p:nvPr/>
        </p:nvSpPr>
        <p:spPr>
          <a:xfrm>
            <a:off x="7406640" y="1280160"/>
            <a:ext cx="128016" cy="128016"/>
          </a:xfrm>
          <a:prstGeom prst="ellipse">
            <a:avLst/>
          </a:prstGeom>
          <a:solidFill>
            <a:srgbClr val="10B981">
              <a:alpha val="55000"/>
            </a:srgbClr>
          </a:solidFill>
          <a:ln w="6350">
            <a:solidFill>
              <a:srgbClr val="34D399"/>
            </a:solidFill>
            <a:prstDash val="solid"/>
          </a:ln>
        </p:spPr>
      </p:sp>
      <p:sp>
        <p:nvSpPr>
          <p:cNvPr id="5" name="Shape 3"/>
          <p:cNvSpPr/>
          <p:nvPr/>
        </p:nvSpPr>
        <p:spPr>
          <a:xfrm>
            <a:off x="7406640" y="1828800"/>
            <a:ext cx="128016" cy="128016"/>
          </a:xfrm>
          <a:prstGeom prst="ellipse">
            <a:avLst/>
          </a:prstGeom>
          <a:solidFill>
            <a:srgbClr val="10B981">
              <a:alpha val="55000"/>
            </a:srgbClr>
          </a:solidFill>
          <a:ln w="6350">
            <a:solidFill>
              <a:srgbClr val="34D399"/>
            </a:solidFill>
            <a:prstDash val="solid"/>
          </a:ln>
        </p:spPr>
      </p:sp>
      <p:sp>
        <p:nvSpPr>
          <p:cNvPr id="6" name="Shape 4"/>
          <p:cNvSpPr/>
          <p:nvPr/>
        </p:nvSpPr>
        <p:spPr>
          <a:xfrm>
            <a:off x="7406640" y="2377440"/>
            <a:ext cx="128016" cy="128016"/>
          </a:xfrm>
          <a:prstGeom prst="ellipse">
            <a:avLst/>
          </a:prstGeom>
          <a:solidFill>
            <a:srgbClr val="10B981">
              <a:alpha val="55000"/>
            </a:srgbClr>
          </a:solidFill>
          <a:ln w="6350">
            <a:solidFill>
              <a:srgbClr val="34D399"/>
            </a:solidFill>
            <a:prstDash val="solid"/>
          </a:ln>
        </p:spPr>
      </p:sp>
      <p:sp>
        <p:nvSpPr>
          <p:cNvPr id="7" name="Shape 5"/>
          <p:cNvSpPr/>
          <p:nvPr/>
        </p:nvSpPr>
        <p:spPr>
          <a:xfrm>
            <a:off x="7406640" y="2926080"/>
            <a:ext cx="128016" cy="128016"/>
          </a:xfrm>
          <a:prstGeom prst="ellipse">
            <a:avLst/>
          </a:prstGeom>
          <a:solidFill>
            <a:srgbClr val="10B981">
              <a:alpha val="55000"/>
            </a:srgbClr>
          </a:solidFill>
          <a:ln w="6350">
            <a:solidFill>
              <a:srgbClr val="34D399"/>
            </a:solidFill>
            <a:prstDash val="solid"/>
          </a:ln>
        </p:spPr>
      </p:sp>
      <p:sp>
        <p:nvSpPr>
          <p:cNvPr id="8" name="Shape 6"/>
          <p:cNvSpPr/>
          <p:nvPr/>
        </p:nvSpPr>
        <p:spPr>
          <a:xfrm>
            <a:off x="8046720" y="1005840"/>
            <a:ext cx="128016" cy="128016"/>
          </a:xfrm>
          <a:prstGeom prst="ellipse">
            <a:avLst/>
          </a:prstGeom>
          <a:solidFill>
            <a:srgbClr val="10B981">
              <a:alpha val="55000"/>
            </a:srgbClr>
          </a:solidFill>
          <a:ln w="6350">
            <a:solidFill>
              <a:srgbClr val="34D399"/>
            </a:solidFill>
            <a:prstDash val="solid"/>
          </a:ln>
        </p:spPr>
      </p:sp>
      <p:sp>
        <p:nvSpPr>
          <p:cNvPr id="9" name="Shape 7"/>
          <p:cNvSpPr/>
          <p:nvPr/>
        </p:nvSpPr>
        <p:spPr>
          <a:xfrm>
            <a:off x="8046720" y="1554480"/>
            <a:ext cx="128016" cy="128016"/>
          </a:xfrm>
          <a:prstGeom prst="ellipse">
            <a:avLst/>
          </a:prstGeom>
          <a:solidFill>
            <a:srgbClr val="10B981">
              <a:alpha val="55000"/>
            </a:srgbClr>
          </a:solidFill>
          <a:ln w="6350">
            <a:solidFill>
              <a:srgbClr val="34D399"/>
            </a:solidFill>
            <a:prstDash val="solid"/>
          </a:ln>
        </p:spPr>
      </p:sp>
      <p:sp>
        <p:nvSpPr>
          <p:cNvPr id="10" name="Shape 8"/>
          <p:cNvSpPr/>
          <p:nvPr/>
        </p:nvSpPr>
        <p:spPr>
          <a:xfrm>
            <a:off x="8046720" y="2103120"/>
            <a:ext cx="128016" cy="128016"/>
          </a:xfrm>
          <a:prstGeom prst="ellipse">
            <a:avLst/>
          </a:prstGeom>
          <a:solidFill>
            <a:srgbClr val="10B981">
              <a:alpha val="55000"/>
            </a:srgbClr>
          </a:solidFill>
          <a:ln w="6350">
            <a:solidFill>
              <a:srgbClr val="34D399"/>
            </a:solidFill>
            <a:prstDash val="solid"/>
          </a:ln>
        </p:spPr>
      </p:sp>
      <p:sp>
        <p:nvSpPr>
          <p:cNvPr id="11" name="Shape 9"/>
          <p:cNvSpPr/>
          <p:nvPr/>
        </p:nvSpPr>
        <p:spPr>
          <a:xfrm>
            <a:off x="8046720" y="2651760"/>
            <a:ext cx="128016" cy="128016"/>
          </a:xfrm>
          <a:prstGeom prst="ellipse">
            <a:avLst/>
          </a:prstGeom>
          <a:solidFill>
            <a:srgbClr val="10B981">
              <a:alpha val="55000"/>
            </a:srgbClr>
          </a:solidFill>
          <a:ln w="6350">
            <a:solidFill>
              <a:srgbClr val="34D399"/>
            </a:solidFill>
            <a:prstDash val="solid"/>
          </a:ln>
        </p:spPr>
      </p:sp>
      <p:sp>
        <p:nvSpPr>
          <p:cNvPr id="12" name="Shape 10"/>
          <p:cNvSpPr/>
          <p:nvPr/>
        </p:nvSpPr>
        <p:spPr>
          <a:xfrm>
            <a:off x="8046720" y="3200400"/>
            <a:ext cx="128016" cy="128016"/>
          </a:xfrm>
          <a:prstGeom prst="ellipse">
            <a:avLst/>
          </a:prstGeom>
          <a:solidFill>
            <a:srgbClr val="10B981">
              <a:alpha val="55000"/>
            </a:srgbClr>
          </a:solidFill>
          <a:ln w="6350">
            <a:solidFill>
              <a:srgbClr val="34D399"/>
            </a:solidFill>
            <a:prstDash val="solid"/>
          </a:ln>
        </p:spPr>
      </p:sp>
      <p:sp>
        <p:nvSpPr>
          <p:cNvPr id="13" name="Shape 11"/>
          <p:cNvSpPr/>
          <p:nvPr/>
        </p:nvSpPr>
        <p:spPr>
          <a:xfrm>
            <a:off x="8686800" y="1371600"/>
            <a:ext cx="128016" cy="128016"/>
          </a:xfrm>
          <a:prstGeom prst="ellipse">
            <a:avLst/>
          </a:prstGeom>
          <a:solidFill>
            <a:srgbClr val="10B981">
              <a:alpha val="55000"/>
            </a:srgbClr>
          </a:solidFill>
          <a:ln w="6350">
            <a:solidFill>
              <a:srgbClr val="34D399"/>
            </a:solidFill>
            <a:prstDash val="solid"/>
          </a:ln>
        </p:spPr>
      </p:sp>
      <p:sp>
        <p:nvSpPr>
          <p:cNvPr id="14" name="Shape 12"/>
          <p:cNvSpPr/>
          <p:nvPr/>
        </p:nvSpPr>
        <p:spPr>
          <a:xfrm>
            <a:off x="8686800" y="1920240"/>
            <a:ext cx="128016" cy="128016"/>
          </a:xfrm>
          <a:prstGeom prst="ellipse">
            <a:avLst/>
          </a:prstGeom>
          <a:solidFill>
            <a:srgbClr val="10B981">
              <a:alpha val="55000"/>
            </a:srgbClr>
          </a:solidFill>
          <a:ln w="6350">
            <a:solidFill>
              <a:srgbClr val="34D399"/>
            </a:solidFill>
            <a:prstDash val="solid"/>
          </a:ln>
        </p:spPr>
      </p:sp>
      <p:sp>
        <p:nvSpPr>
          <p:cNvPr id="15" name="Shape 13"/>
          <p:cNvSpPr/>
          <p:nvPr/>
        </p:nvSpPr>
        <p:spPr>
          <a:xfrm>
            <a:off x="8686800" y="2468880"/>
            <a:ext cx="128016" cy="128016"/>
          </a:xfrm>
          <a:prstGeom prst="ellipse">
            <a:avLst/>
          </a:prstGeom>
          <a:solidFill>
            <a:srgbClr val="10B981">
              <a:alpha val="55000"/>
            </a:srgbClr>
          </a:solidFill>
          <a:ln w="6350">
            <a:solidFill>
              <a:srgbClr val="34D399"/>
            </a:solidFill>
            <a:prstDash val="solid"/>
          </a:ln>
        </p:spPr>
      </p:sp>
      <p:sp>
        <p:nvSpPr>
          <p:cNvPr id="16" name="Text 14"/>
          <p:cNvSpPr/>
          <p:nvPr/>
        </p:nvSpPr>
        <p:spPr>
          <a:xfrm>
            <a:off x="457200" y="914400"/>
            <a:ext cx="6400800" cy="804672"/>
          </a:xfrm>
          <a:prstGeom prst="rect">
            <a:avLst/>
          </a:prstGeom>
          <a:noFill/>
          <a:ln/>
        </p:spPr>
        <p:txBody>
          <a:bodyPr wrap="square" rtlCol="0" anchor="ctr"/>
          <a:lstStyle/>
          <a:p>
            <a:pPr marL="0" indent="0">
              <a:buNone/>
            </a:pPr>
            <a:r>
              <a:rPr lang="en-US" sz="4000" b="1" dirty="0">
                <a:solidFill>
                  <a:srgbClr val="F9FAFB"/>
                </a:solidFill>
                <a:latin typeface="Calibri" pitchFamily="34" charset="0"/>
                <a:ea typeface="Calibri" pitchFamily="34" charset="-122"/>
                <a:cs typeface="Calibri" pitchFamily="34" charset="-120"/>
              </a:rPr>
              <a:t>Detekcija prevara</a:t>
            </a:r>
            <a:endParaRPr lang="en-US" sz="4000" dirty="0"/>
          </a:p>
        </p:txBody>
      </p:sp>
      <p:sp>
        <p:nvSpPr>
          <p:cNvPr id="17" name="Text 15"/>
          <p:cNvSpPr/>
          <p:nvPr/>
        </p:nvSpPr>
        <p:spPr>
          <a:xfrm>
            <a:off x="457200" y="1664208"/>
            <a:ext cx="6400800" cy="804672"/>
          </a:xfrm>
          <a:prstGeom prst="rect">
            <a:avLst/>
          </a:prstGeom>
          <a:noFill/>
          <a:ln/>
        </p:spPr>
        <p:txBody>
          <a:bodyPr wrap="square" rtlCol="0" anchor="ctr"/>
          <a:lstStyle/>
          <a:p>
            <a:pPr marL="0" indent="0">
              <a:buNone/>
            </a:pPr>
            <a:r>
              <a:rPr lang="en-US" sz="4000" b="1" dirty="0">
                <a:solidFill>
                  <a:srgbClr val="10B981"/>
                </a:solidFill>
                <a:latin typeface="Calibri" pitchFamily="34" charset="0"/>
                <a:ea typeface="Calibri" pitchFamily="34" charset="-122"/>
                <a:cs typeface="Calibri" pitchFamily="34" charset="-120"/>
              </a:rPr>
              <a:t>kreditnim karticama</a:t>
            </a:r>
            <a:endParaRPr lang="en-US" sz="4000" dirty="0"/>
          </a:p>
        </p:txBody>
      </p:sp>
      <p:sp>
        <p:nvSpPr>
          <p:cNvPr id="18" name="Text 16"/>
          <p:cNvSpPr/>
          <p:nvPr/>
        </p:nvSpPr>
        <p:spPr>
          <a:xfrm>
            <a:off x="457200" y="2633472"/>
            <a:ext cx="6858000" cy="384048"/>
          </a:xfrm>
          <a:prstGeom prst="rect">
            <a:avLst/>
          </a:prstGeom>
          <a:noFill/>
          <a:ln/>
        </p:spPr>
        <p:txBody>
          <a:bodyPr wrap="square" rtlCol="0" anchor="ctr"/>
          <a:lstStyle/>
          <a:p>
            <a:pPr marL="0" indent="0">
              <a:buNone/>
            </a:pPr>
            <a:r>
              <a:rPr lang="en-US" sz="1350" dirty="0">
                <a:solidFill>
                  <a:srgbClr val="9CA3AF"/>
                </a:solidFill>
                <a:latin typeface="Calibri" pitchFamily="34" charset="0"/>
                <a:ea typeface="Calibri" pitchFamily="34" charset="-122"/>
                <a:cs typeface="Calibri" pitchFamily="34" charset="-120"/>
              </a:rPr>
              <a:t>Primena feedforward neuronske mreže (MLP) u PyTorch okruženju</a:t>
            </a:r>
            <a:endParaRPr lang="en-US" sz="1350" dirty="0"/>
          </a:p>
        </p:txBody>
      </p:sp>
      <p:sp>
        <p:nvSpPr>
          <p:cNvPr id="19" name="Shape 17"/>
          <p:cNvSpPr/>
          <p:nvPr/>
        </p:nvSpPr>
        <p:spPr>
          <a:xfrm>
            <a:off x="457200" y="3200400"/>
            <a:ext cx="4572000" cy="22860"/>
          </a:xfrm>
          <a:prstGeom prst="rect">
            <a:avLst/>
          </a:prstGeom>
          <a:solidFill>
            <a:srgbClr val="374151"/>
          </a:solidFill>
          <a:ln w="12700">
            <a:solidFill>
              <a:srgbClr val="374151"/>
            </a:solidFill>
            <a:prstDash val="solid"/>
          </a:ln>
        </p:spPr>
      </p:sp>
      <p:sp>
        <p:nvSpPr>
          <p:cNvPr id="20" name="Text 18"/>
          <p:cNvSpPr/>
          <p:nvPr/>
        </p:nvSpPr>
        <p:spPr>
          <a:xfrm>
            <a:off x="457200" y="3337560"/>
            <a:ext cx="5486400" cy="329184"/>
          </a:xfrm>
          <a:prstGeom prst="rect">
            <a:avLst/>
          </a:prstGeom>
          <a:noFill/>
          <a:ln/>
        </p:spPr>
        <p:txBody>
          <a:bodyPr wrap="square" rtlCol="0" anchor="ctr"/>
          <a:lstStyle/>
          <a:p>
            <a:pPr marL="0" indent="0">
              <a:buNone/>
            </a:pPr>
            <a:r>
              <a:rPr lang="en-US" sz="1300" dirty="0">
                <a:solidFill>
                  <a:srgbClr val="F9FAFB"/>
                </a:solidFill>
                <a:latin typeface="Calibri" pitchFamily="34" charset="0"/>
                <a:ea typeface="Calibri" pitchFamily="34" charset="-122"/>
                <a:cs typeface="Calibri" pitchFamily="34" charset="-120"/>
              </a:rPr>
              <a:t>Luka </a:t>
            </a:r>
            <a:r>
              <a:rPr lang="sr-Latn-RS" sz="1300" dirty="0" smtClean="0">
                <a:solidFill>
                  <a:srgbClr val="F9FAFB"/>
                </a:solidFill>
                <a:latin typeface="Calibri" pitchFamily="34" charset="0"/>
                <a:ea typeface="Calibri" pitchFamily="34" charset="-122"/>
                <a:cs typeface="Calibri" pitchFamily="34" charset="-120"/>
              </a:rPr>
              <a:t>Đokić</a:t>
            </a:r>
            <a:r>
              <a:rPr lang="en-US" sz="1300" dirty="0" smtClean="0">
                <a:solidFill>
                  <a:srgbClr val="F9FAFB"/>
                </a:solidFill>
                <a:latin typeface="Calibri" pitchFamily="34" charset="0"/>
                <a:ea typeface="Calibri" pitchFamily="34" charset="-122"/>
                <a:cs typeface="Calibri" pitchFamily="34" charset="-120"/>
              </a:rPr>
              <a:t> </a:t>
            </a:r>
            <a:r>
              <a:rPr lang="sr-Latn-RS" sz="1300" dirty="0" smtClean="0">
                <a:solidFill>
                  <a:srgbClr val="F9FAFB"/>
                </a:solidFill>
                <a:latin typeface="Calibri" pitchFamily="34" charset="0"/>
                <a:ea typeface="Calibri" pitchFamily="34" charset="-122"/>
                <a:cs typeface="Calibri" pitchFamily="34" charset="-120"/>
              </a:rPr>
              <a:t> 2022/0312</a:t>
            </a:r>
            <a:endParaRPr lang="en-US" sz="1300" dirty="0"/>
          </a:p>
        </p:txBody>
      </p:sp>
      <p:sp>
        <p:nvSpPr>
          <p:cNvPr id="21" name="Text 19"/>
          <p:cNvSpPr/>
          <p:nvPr/>
        </p:nvSpPr>
        <p:spPr>
          <a:xfrm>
            <a:off x="457200" y="3675888"/>
            <a:ext cx="5486400" cy="274320"/>
          </a:xfrm>
          <a:prstGeom prst="rect">
            <a:avLst/>
          </a:prstGeom>
          <a:noFill/>
          <a:ln/>
        </p:spPr>
        <p:txBody>
          <a:bodyPr wrap="square" rtlCol="0" anchor="ctr"/>
          <a:lstStyle/>
          <a:p>
            <a:pPr marL="0" indent="0">
              <a:buNone/>
            </a:pPr>
            <a:r>
              <a:rPr lang="en-US" sz="1150" dirty="0">
                <a:solidFill>
                  <a:srgbClr val="9CA3AF"/>
                </a:solidFill>
                <a:latin typeface="Calibri" pitchFamily="34" charset="0"/>
                <a:ea typeface="Calibri" pitchFamily="34" charset="-122"/>
                <a:cs typeface="Calibri" pitchFamily="34" charset="-120"/>
              </a:rPr>
              <a:t>Duboko učenje i neuronske mreže</a:t>
            </a:r>
            <a:endParaRPr lang="en-US" sz="11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365760"/>
          </a:xfrm>
          <a:prstGeom prst="rect">
            <a:avLst/>
          </a:prstGeom>
          <a:noFill/>
          <a:ln/>
        </p:spPr>
        <p:txBody>
          <a:bodyPr wrap="square" lIns="0" tIns="0" rIns="0" bIns="0" rtlCol="0" anchor="ctr"/>
          <a:lstStyle/>
          <a:p>
            <a:pPr marL="0" indent="0">
              <a:buNone/>
            </a:pPr>
            <a:r>
              <a:rPr lang="en-US" sz="1700" b="1" dirty="0">
                <a:solidFill>
                  <a:srgbClr val="10B981"/>
                </a:solidFill>
                <a:latin typeface="Calibri" pitchFamily="34" charset="0"/>
                <a:ea typeface="Calibri" pitchFamily="34" charset="-122"/>
                <a:cs typeface="Calibri" pitchFamily="34" charset="-120"/>
              </a:rPr>
              <a:t>00</a:t>
            </a:r>
            <a:r>
              <a:rPr lang="en-US" sz="1700" dirty="0">
                <a:solidFill>
                  <a:srgbClr val="9CA3AF"/>
                </a:solidFill>
                <a:latin typeface="Calibri" pitchFamily="34" charset="0"/>
                <a:ea typeface="Calibri" pitchFamily="34" charset="-122"/>
                <a:cs typeface="Calibri" pitchFamily="34" charset="-120"/>
              </a:rPr>
              <a:t>  ·  </a:t>
            </a:r>
            <a:r>
              <a:rPr lang="en-US" sz="1700" b="1" dirty="0">
                <a:solidFill>
                  <a:srgbClr val="F9FAFB"/>
                </a:solidFill>
                <a:latin typeface="Calibri" pitchFamily="34" charset="0"/>
                <a:ea typeface="Calibri" pitchFamily="34" charset="-122"/>
                <a:cs typeface="Calibri" pitchFamily="34" charset="-120"/>
              </a:rPr>
              <a:t>Struktura prezentacije</a:t>
            </a:r>
            <a:endParaRPr lang="en-US" sz="1700" dirty="0"/>
          </a:p>
        </p:txBody>
      </p:sp>
      <p:sp>
        <p:nvSpPr>
          <p:cNvPr id="3" name="Shape 1"/>
          <p:cNvSpPr/>
          <p:nvPr/>
        </p:nvSpPr>
        <p:spPr>
          <a:xfrm>
            <a:off x="365760" y="658368"/>
            <a:ext cx="4069080" cy="713232"/>
          </a:xfrm>
          <a:prstGeom prst="roundRect">
            <a:avLst>
              <a:gd name="adj" fmla="val 10256"/>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4" name="Shape 2"/>
          <p:cNvSpPr/>
          <p:nvPr/>
        </p:nvSpPr>
        <p:spPr>
          <a:xfrm>
            <a:off x="484632" y="813816"/>
            <a:ext cx="347472" cy="347472"/>
          </a:xfrm>
          <a:prstGeom prst="roundRect">
            <a:avLst>
              <a:gd name="adj" fmla="val 13158"/>
            </a:avLst>
          </a:prstGeom>
          <a:solidFill>
            <a:srgbClr val="0D3327"/>
          </a:solidFill>
          <a:ln w="12700">
            <a:solidFill>
              <a:srgbClr val="10B981"/>
            </a:solidFill>
            <a:prstDash val="solid"/>
          </a:ln>
        </p:spPr>
      </p:sp>
      <p:sp>
        <p:nvSpPr>
          <p:cNvPr id="5" name="Text 3"/>
          <p:cNvSpPr/>
          <p:nvPr/>
        </p:nvSpPr>
        <p:spPr>
          <a:xfrm>
            <a:off x="484632" y="813816"/>
            <a:ext cx="347472"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914400" y="758952"/>
            <a:ext cx="3410712" cy="274320"/>
          </a:xfrm>
          <a:prstGeom prst="rect">
            <a:avLst/>
          </a:prstGeom>
          <a:noFill/>
          <a:ln/>
        </p:spPr>
        <p:txBody>
          <a:bodyPr wrap="square" lIns="0" tIns="0" rIns="0" bIns="0"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Opis problema</a:t>
            </a:r>
            <a:endParaRPr lang="en-US" sz="1200" dirty="0"/>
          </a:p>
        </p:txBody>
      </p:sp>
      <p:sp>
        <p:nvSpPr>
          <p:cNvPr id="7" name="Text 5"/>
          <p:cNvSpPr/>
          <p:nvPr/>
        </p:nvSpPr>
        <p:spPr>
          <a:xfrm>
            <a:off x="914400" y="1042416"/>
            <a:ext cx="3410712" cy="256032"/>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Disbalans klasa i poslovni cilj</a:t>
            </a:r>
            <a:endParaRPr lang="en-US" sz="950" dirty="0"/>
          </a:p>
        </p:txBody>
      </p:sp>
      <p:sp>
        <p:nvSpPr>
          <p:cNvPr id="8" name="Shape 6"/>
          <p:cNvSpPr/>
          <p:nvPr/>
        </p:nvSpPr>
        <p:spPr>
          <a:xfrm>
            <a:off x="365760" y="1453896"/>
            <a:ext cx="4069080" cy="713232"/>
          </a:xfrm>
          <a:prstGeom prst="roundRect">
            <a:avLst>
              <a:gd name="adj" fmla="val 10256"/>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9" name="Shape 7"/>
          <p:cNvSpPr/>
          <p:nvPr/>
        </p:nvSpPr>
        <p:spPr>
          <a:xfrm>
            <a:off x="484632" y="1609344"/>
            <a:ext cx="347472" cy="347472"/>
          </a:xfrm>
          <a:prstGeom prst="roundRect">
            <a:avLst>
              <a:gd name="adj" fmla="val 13158"/>
            </a:avLst>
          </a:prstGeom>
          <a:solidFill>
            <a:srgbClr val="0D3327"/>
          </a:solidFill>
          <a:ln w="12700">
            <a:solidFill>
              <a:srgbClr val="10B981"/>
            </a:solidFill>
            <a:prstDash val="solid"/>
          </a:ln>
        </p:spPr>
      </p:sp>
      <p:sp>
        <p:nvSpPr>
          <p:cNvPr id="10" name="Text 8"/>
          <p:cNvSpPr/>
          <p:nvPr/>
        </p:nvSpPr>
        <p:spPr>
          <a:xfrm>
            <a:off x="484632" y="1609344"/>
            <a:ext cx="347472"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02</a:t>
            </a:r>
            <a:endParaRPr lang="en-US" sz="1100" dirty="0"/>
          </a:p>
        </p:txBody>
      </p:sp>
      <p:sp>
        <p:nvSpPr>
          <p:cNvPr id="11" name="Text 9"/>
          <p:cNvSpPr/>
          <p:nvPr/>
        </p:nvSpPr>
        <p:spPr>
          <a:xfrm>
            <a:off x="914400" y="1554480"/>
            <a:ext cx="3410712" cy="274320"/>
          </a:xfrm>
          <a:prstGeom prst="rect">
            <a:avLst/>
          </a:prstGeom>
          <a:noFill/>
          <a:ln/>
        </p:spPr>
        <p:txBody>
          <a:bodyPr wrap="square" lIns="0" tIns="0" rIns="0" bIns="0"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Podaci &amp; Preprocesiranje</a:t>
            </a:r>
            <a:endParaRPr lang="en-US" sz="1200" dirty="0"/>
          </a:p>
        </p:txBody>
      </p:sp>
      <p:sp>
        <p:nvSpPr>
          <p:cNvPr id="12" name="Text 10"/>
          <p:cNvSpPr/>
          <p:nvPr/>
        </p:nvSpPr>
        <p:spPr>
          <a:xfrm>
            <a:off x="914400" y="1837944"/>
            <a:ext cx="3410712" cy="256032"/>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Dataset, feature inženjering, RobustScaler</a:t>
            </a:r>
            <a:endParaRPr lang="en-US" sz="950" dirty="0"/>
          </a:p>
        </p:txBody>
      </p:sp>
      <p:sp>
        <p:nvSpPr>
          <p:cNvPr id="13" name="Shape 11"/>
          <p:cNvSpPr/>
          <p:nvPr/>
        </p:nvSpPr>
        <p:spPr>
          <a:xfrm>
            <a:off x="365760" y="2249424"/>
            <a:ext cx="4069080" cy="713232"/>
          </a:xfrm>
          <a:prstGeom prst="roundRect">
            <a:avLst>
              <a:gd name="adj" fmla="val 10256"/>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14" name="Shape 12"/>
          <p:cNvSpPr/>
          <p:nvPr/>
        </p:nvSpPr>
        <p:spPr>
          <a:xfrm>
            <a:off x="484632" y="2404872"/>
            <a:ext cx="347472" cy="347472"/>
          </a:xfrm>
          <a:prstGeom prst="roundRect">
            <a:avLst>
              <a:gd name="adj" fmla="val 13158"/>
            </a:avLst>
          </a:prstGeom>
          <a:solidFill>
            <a:srgbClr val="0D3327"/>
          </a:solidFill>
          <a:ln w="12700">
            <a:solidFill>
              <a:srgbClr val="10B981"/>
            </a:solidFill>
            <a:prstDash val="solid"/>
          </a:ln>
        </p:spPr>
      </p:sp>
      <p:sp>
        <p:nvSpPr>
          <p:cNvPr id="15" name="Text 13"/>
          <p:cNvSpPr/>
          <p:nvPr/>
        </p:nvSpPr>
        <p:spPr>
          <a:xfrm>
            <a:off x="484632" y="2404872"/>
            <a:ext cx="347472"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03</a:t>
            </a:r>
            <a:endParaRPr lang="en-US" sz="1100" dirty="0"/>
          </a:p>
        </p:txBody>
      </p:sp>
      <p:sp>
        <p:nvSpPr>
          <p:cNvPr id="16" name="Text 14"/>
          <p:cNvSpPr/>
          <p:nvPr/>
        </p:nvSpPr>
        <p:spPr>
          <a:xfrm>
            <a:off x="914400" y="2350008"/>
            <a:ext cx="3410712" cy="274320"/>
          </a:xfrm>
          <a:prstGeom prst="rect">
            <a:avLst/>
          </a:prstGeom>
          <a:noFill/>
          <a:ln/>
        </p:spPr>
        <p:txBody>
          <a:bodyPr wrap="square" lIns="0" tIns="0" rIns="0" bIns="0"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Arhitektura modela</a:t>
            </a:r>
            <a:endParaRPr lang="en-US" sz="1200" dirty="0"/>
          </a:p>
        </p:txBody>
      </p:sp>
      <p:sp>
        <p:nvSpPr>
          <p:cNvPr id="17" name="Text 15"/>
          <p:cNvSpPr/>
          <p:nvPr/>
        </p:nvSpPr>
        <p:spPr>
          <a:xfrm>
            <a:off x="914400" y="2633472"/>
            <a:ext cx="3410712" cy="256032"/>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MLP: 23 → 64 → 32 → 1 (ReLU, Dropout)</a:t>
            </a:r>
            <a:endParaRPr lang="en-US" sz="950" dirty="0"/>
          </a:p>
        </p:txBody>
      </p:sp>
      <p:sp>
        <p:nvSpPr>
          <p:cNvPr id="18" name="Shape 16"/>
          <p:cNvSpPr/>
          <p:nvPr/>
        </p:nvSpPr>
        <p:spPr>
          <a:xfrm>
            <a:off x="365760" y="3044952"/>
            <a:ext cx="4069080" cy="713232"/>
          </a:xfrm>
          <a:prstGeom prst="roundRect">
            <a:avLst>
              <a:gd name="adj" fmla="val 10256"/>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19" name="Shape 17"/>
          <p:cNvSpPr/>
          <p:nvPr/>
        </p:nvSpPr>
        <p:spPr>
          <a:xfrm>
            <a:off x="484632" y="3200400"/>
            <a:ext cx="347472" cy="347472"/>
          </a:xfrm>
          <a:prstGeom prst="roundRect">
            <a:avLst>
              <a:gd name="adj" fmla="val 13158"/>
            </a:avLst>
          </a:prstGeom>
          <a:solidFill>
            <a:srgbClr val="0D3327"/>
          </a:solidFill>
          <a:ln w="12700">
            <a:solidFill>
              <a:srgbClr val="10B981"/>
            </a:solidFill>
            <a:prstDash val="solid"/>
          </a:ln>
        </p:spPr>
      </p:sp>
      <p:sp>
        <p:nvSpPr>
          <p:cNvPr id="20" name="Text 18"/>
          <p:cNvSpPr/>
          <p:nvPr/>
        </p:nvSpPr>
        <p:spPr>
          <a:xfrm>
            <a:off x="484632" y="3200400"/>
            <a:ext cx="347472"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04</a:t>
            </a:r>
            <a:endParaRPr lang="en-US" sz="1100" dirty="0"/>
          </a:p>
        </p:txBody>
      </p:sp>
      <p:sp>
        <p:nvSpPr>
          <p:cNvPr id="21" name="Text 19"/>
          <p:cNvSpPr/>
          <p:nvPr/>
        </p:nvSpPr>
        <p:spPr>
          <a:xfrm>
            <a:off x="914400" y="3145536"/>
            <a:ext cx="3410712" cy="274320"/>
          </a:xfrm>
          <a:prstGeom prst="rect">
            <a:avLst/>
          </a:prstGeom>
          <a:noFill/>
          <a:ln/>
        </p:spPr>
        <p:txBody>
          <a:bodyPr wrap="square" lIns="0" tIns="0" rIns="0" bIns="0"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Trening &amp; Early Stopping</a:t>
            </a:r>
            <a:endParaRPr lang="en-US" sz="1200" dirty="0"/>
          </a:p>
        </p:txBody>
      </p:sp>
      <p:sp>
        <p:nvSpPr>
          <p:cNvPr id="22" name="Text 20"/>
          <p:cNvSpPr/>
          <p:nvPr/>
        </p:nvSpPr>
        <p:spPr>
          <a:xfrm>
            <a:off x="914400" y="3429000"/>
            <a:ext cx="3410712" cy="256032"/>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Dve faze treninga, patience=10</a:t>
            </a:r>
            <a:endParaRPr lang="en-US" sz="950" dirty="0"/>
          </a:p>
        </p:txBody>
      </p:sp>
      <p:sp>
        <p:nvSpPr>
          <p:cNvPr id="23" name="Shape 21"/>
          <p:cNvSpPr/>
          <p:nvPr/>
        </p:nvSpPr>
        <p:spPr>
          <a:xfrm>
            <a:off x="4663440" y="658368"/>
            <a:ext cx="4069080" cy="713232"/>
          </a:xfrm>
          <a:prstGeom prst="roundRect">
            <a:avLst>
              <a:gd name="adj" fmla="val 10256"/>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24" name="Shape 22"/>
          <p:cNvSpPr/>
          <p:nvPr/>
        </p:nvSpPr>
        <p:spPr>
          <a:xfrm>
            <a:off x="4782312" y="813816"/>
            <a:ext cx="347472" cy="347472"/>
          </a:xfrm>
          <a:prstGeom prst="roundRect">
            <a:avLst>
              <a:gd name="adj" fmla="val 13158"/>
            </a:avLst>
          </a:prstGeom>
          <a:solidFill>
            <a:srgbClr val="0D3327"/>
          </a:solidFill>
          <a:ln w="12700">
            <a:solidFill>
              <a:srgbClr val="10B981"/>
            </a:solidFill>
            <a:prstDash val="solid"/>
          </a:ln>
        </p:spPr>
      </p:sp>
      <p:sp>
        <p:nvSpPr>
          <p:cNvPr id="25" name="Text 23"/>
          <p:cNvSpPr/>
          <p:nvPr/>
        </p:nvSpPr>
        <p:spPr>
          <a:xfrm>
            <a:off x="4782312" y="813816"/>
            <a:ext cx="347472"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05</a:t>
            </a:r>
            <a:endParaRPr lang="en-US" sz="1100" dirty="0"/>
          </a:p>
        </p:txBody>
      </p:sp>
      <p:sp>
        <p:nvSpPr>
          <p:cNvPr id="26" name="Text 24"/>
          <p:cNvSpPr/>
          <p:nvPr/>
        </p:nvSpPr>
        <p:spPr>
          <a:xfrm>
            <a:off x="5212080" y="758952"/>
            <a:ext cx="3410712" cy="274320"/>
          </a:xfrm>
          <a:prstGeom prst="rect">
            <a:avLst/>
          </a:prstGeom>
          <a:noFill/>
          <a:ln/>
        </p:spPr>
        <p:txBody>
          <a:bodyPr wrap="square" lIns="0" tIns="0" rIns="0" bIns="0"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Hiperparametarska opt.</a:t>
            </a:r>
            <a:endParaRPr lang="en-US" sz="1200" dirty="0"/>
          </a:p>
        </p:txBody>
      </p:sp>
      <p:sp>
        <p:nvSpPr>
          <p:cNvPr id="27" name="Text 25"/>
          <p:cNvSpPr/>
          <p:nvPr/>
        </p:nvSpPr>
        <p:spPr>
          <a:xfrm>
            <a:off x="5212080" y="1042416"/>
            <a:ext cx="3410712" cy="256032"/>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8 konfiguracija, sistematska pretraga</a:t>
            </a:r>
            <a:endParaRPr lang="en-US" sz="950" dirty="0"/>
          </a:p>
        </p:txBody>
      </p:sp>
      <p:sp>
        <p:nvSpPr>
          <p:cNvPr id="28" name="Shape 26"/>
          <p:cNvSpPr/>
          <p:nvPr/>
        </p:nvSpPr>
        <p:spPr>
          <a:xfrm>
            <a:off x="4663440" y="1453896"/>
            <a:ext cx="4069080" cy="713232"/>
          </a:xfrm>
          <a:prstGeom prst="roundRect">
            <a:avLst>
              <a:gd name="adj" fmla="val 10256"/>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29" name="Shape 27"/>
          <p:cNvSpPr/>
          <p:nvPr/>
        </p:nvSpPr>
        <p:spPr>
          <a:xfrm>
            <a:off x="4782312" y="1609344"/>
            <a:ext cx="347472" cy="347472"/>
          </a:xfrm>
          <a:prstGeom prst="roundRect">
            <a:avLst>
              <a:gd name="adj" fmla="val 13158"/>
            </a:avLst>
          </a:prstGeom>
          <a:solidFill>
            <a:srgbClr val="0D3327"/>
          </a:solidFill>
          <a:ln w="12700">
            <a:solidFill>
              <a:srgbClr val="10B981"/>
            </a:solidFill>
            <a:prstDash val="solid"/>
          </a:ln>
        </p:spPr>
      </p:sp>
      <p:sp>
        <p:nvSpPr>
          <p:cNvPr id="30" name="Text 28"/>
          <p:cNvSpPr/>
          <p:nvPr/>
        </p:nvSpPr>
        <p:spPr>
          <a:xfrm>
            <a:off x="4782312" y="1609344"/>
            <a:ext cx="347472"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06</a:t>
            </a:r>
            <a:endParaRPr lang="en-US" sz="1100" dirty="0"/>
          </a:p>
        </p:txBody>
      </p:sp>
      <p:sp>
        <p:nvSpPr>
          <p:cNvPr id="31" name="Text 29"/>
          <p:cNvSpPr/>
          <p:nvPr/>
        </p:nvSpPr>
        <p:spPr>
          <a:xfrm>
            <a:off x="5212080" y="1554480"/>
            <a:ext cx="3410712" cy="274320"/>
          </a:xfrm>
          <a:prstGeom prst="rect">
            <a:avLst/>
          </a:prstGeom>
          <a:noFill/>
          <a:ln/>
        </p:spPr>
        <p:txBody>
          <a:bodyPr wrap="square" lIns="0" tIns="0" rIns="0" bIns="0"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Evaluacija &amp; Rezultati</a:t>
            </a:r>
            <a:endParaRPr lang="en-US" sz="1200" dirty="0"/>
          </a:p>
        </p:txBody>
      </p:sp>
      <p:sp>
        <p:nvSpPr>
          <p:cNvPr id="32" name="Text 30"/>
          <p:cNvSpPr/>
          <p:nvPr/>
        </p:nvSpPr>
        <p:spPr>
          <a:xfrm>
            <a:off x="5212080" y="1837944"/>
            <a:ext cx="3410712" cy="256032"/>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Matrica konfuzije, PR-AUC, ROC-AUC</a:t>
            </a:r>
            <a:endParaRPr lang="en-US" sz="950" dirty="0"/>
          </a:p>
        </p:txBody>
      </p:sp>
      <p:sp>
        <p:nvSpPr>
          <p:cNvPr id="33" name="Shape 31"/>
          <p:cNvSpPr/>
          <p:nvPr/>
        </p:nvSpPr>
        <p:spPr>
          <a:xfrm>
            <a:off x="4663440" y="2249424"/>
            <a:ext cx="4069080" cy="713232"/>
          </a:xfrm>
          <a:prstGeom prst="roundRect">
            <a:avLst>
              <a:gd name="adj" fmla="val 10256"/>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34" name="Shape 32"/>
          <p:cNvSpPr/>
          <p:nvPr/>
        </p:nvSpPr>
        <p:spPr>
          <a:xfrm>
            <a:off x="4782312" y="2404872"/>
            <a:ext cx="347472" cy="347472"/>
          </a:xfrm>
          <a:prstGeom prst="roundRect">
            <a:avLst>
              <a:gd name="adj" fmla="val 13158"/>
            </a:avLst>
          </a:prstGeom>
          <a:solidFill>
            <a:srgbClr val="0D3327"/>
          </a:solidFill>
          <a:ln w="12700">
            <a:solidFill>
              <a:srgbClr val="10B981"/>
            </a:solidFill>
            <a:prstDash val="solid"/>
          </a:ln>
        </p:spPr>
      </p:sp>
      <p:sp>
        <p:nvSpPr>
          <p:cNvPr id="35" name="Text 33"/>
          <p:cNvSpPr/>
          <p:nvPr/>
        </p:nvSpPr>
        <p:spPr>
          <a:xfrm>
            <a:off x="4782312" y="2404872"/>
            <a:ext cx="347472"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07</a:t>
            </a:r>
            <a:endParaRPr lang="en-US" sz="1100" dirty="0"/>
          </a:p>
        </p:txBody>
      </p:sp>
      <p:sp>
        <p:nvSpPr>
          <p:cNvPr id="36" name="Text 34"/>
          <p:cNvSpPr/>
          <p:nvPr/>
        </p:nvSpPr>
        <p:spPr>
          <a:xfrm>
            <a:off x="5212080" y="2350008"/>
            <a:ext cx="3410712" cy="274320"/>
          </a:xfrm>
          <a:prstGeom prst="rect">
            <a:avLst/>
          </a:prstGeom>
          <a:noFill/>
          <a:ln/>
        </p:spPr>
        <p:txBody>
          <a:bodyPr wrap="square" lIns="0" tIns="0" rIns="0" bIns="0" rtlCol="0" anchor="ctr"/>
          <a:lstStyle/>
          <a:p>
            <a:pPr marL="0" indent="0">
              <a:buNone/>
            </a:pPr>
            <a:r>
              <a:rPr lang="en-US" sz="1200" b="1" dirty="0">
                <a:solidFill>
                  <a:srgbClr val="F9FAFB"/>
                </a:solidFill>
                <a:latin typeface="Calibri" pitchFamily="34" charset="0"/>
                <a:ea typeface="Calibri" pitchFamily="34" charset="-122"/>
                <a:cs typeface="Calibri" pitchFamily="34" charset="-120"/>
              </a:rPr>
              <a:t>Zaključak</a:t>
            </a:r>
            <a:endParaRPr lang="en-US" sz="1200" dirty="0"/>
          </a:p>
        </p:txBody>
      </p:sp>
      <p:sp>
        <p:nvSpPr>
          <p:cNvPr id="37" name="Text 35"/>
          <p:cNvSpPr/>
          <p:nvPr/>
        </p:nvSpPr>
        <p:spPr>
          <a:xfrm>
            <a:off x="5212080" y="2633472"/>
            <a:ext cx="3410712" cy="256032"/>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Optimalni model i preporuke</a:t>
            </a:r>
            <a:endParaRPr lang="en-US" sz="9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365760"/>
          </a:xfrm>
          <a:prstGeom prst="rect">
            <a:avLst/>
          </a:prstGeom>
          <a:noFill/>
          <a:ln/>
        </p:spPr>
        <p:txBody>
          <a:bodyPr wrap="square" lIns="0" tIns="0" rIns="0" bIns="0" rtlCol="0" anchor="ctr"/>
          <a:lstStyle/>
          <a:p>
            <a:pPr marL="0" indent="0">
              <a:buNone/>
            </a:pPr>
            <a:r>
              <a:rPr lang="en-US" sz="1700" b="1" dirty="0">
                <a:solidFill>
                  <a:srgbClr val="10B981"/>
                </a:solidFill>
                <a:latin typeface="Calibri" pitchFamily="34" charset="0"/>
                <a:ea typeface="Calibri" pitchFamily="34" charset="-122"/>
                <a:cs typeface="Calibri" pitchFamily="34" charset="-120"/>
              </a:rPr>
              <a:t>01</a:t>
            </a:r>
            <a:r>
              <a:rPr lang="en-US" sz="1700" dirty="0">
                <a:solidFill>
                  <a:srgbClr val="9CA3AF"/>
                </a:solidFill>
                <a:latin typeface="Calibri" pitchFamily="34" charset="0"/>
                <a:ea typeface="Calibri" pitchFamily="34" charset="-122"/>
                <a:cs typeface="Calibri" pitchFamily="34" charset="-120"/>
              </a:rPr>
              <a:t>  ·  </a:t>
            </a:r>
            <a:r>
              <a:rPr lang="en-US" sz="1700" b="1" dirty="0">
                <a:solidFill>
                  <a:srgbClr val="F9FAFB"/>
                </a:solidFill>
                <a:latin typeface="Calibri" pitchFamily="34" charset="0"/>
                <a:ea typeface="Calibri" pitchFamily="34" charset="-122"/>
                <a:cs typeface="Calibri" pitchFamily="34" charset="-120"/>
              </a:rPr>
              <a:t>Opis problema</a:t>
            </a:r>
            <a:endParaRPr lang="en-US" sz="1700" dirty="0"/>
          </a:p>
        </p:txBody>
      </p:sp>
      <p:sp>
        <p:nvSpPr>
          <p:cNvPr id="3" name="Shape 1"/>
          <p:cNvSpPr/>
          <p:nvPr/>
        </p:nvSpPr>
        <p:spPr>
          <a:xfrm>
            <a:off x="365760" y="658368"/>
            <a:ext cx="2560320" cy="3931920"/>
          </a:xfrm>
          <a:prstGeom prst="roundRect">
            <a:avLst>
              <a:gd name="adj" fmla="val 2857"/>
            </a:avLst>
          </a:prstGeom>
          <a:solidFill>
            <a:srgbClr val="0D2A1C"/>
          </a:solidFill>
          <a:ln w="7620">
            <a:solidFill>
              <a:srgbClr val="374151"/>
            </a:solidFill>
            <a:prstDash val="solid"/>
          </a:ln>
          <a:effectLst>
            <a:outerShdw blurRad="101600" dist="25400" dir="2700000" algn="bl" rotWithShape="0">
              <a:srgbClr val="000000">
                <a:alpha val="20000"/>
              </a:srgbClr>
            </a:outerShdw>
          </a:effectLst>
        </p:spPr>
      </p:sp>
      <p:sp>
        <p:nvSpPr>
          <p:cNvPr id="4" name="Text 2"/>
          <p:cNvSpPr/>
          <p:nvPr/>
        </p:nvSpPr>
        <p:spPr>
          <a:xfrm>
            <a:off x="365760" y="868680"/>
            <a:ext cx="2560320" cy="914400"/>
          </a:xfrm>
          <a:prstGeom prst="rect">
            <a:avLst/>
          </a:prstGeom>
          <a:noFill/>
          <a:ln/>
        </p:spPr>
        <p:txBody>
          <a:bodyPr wrap="square" lIns="0" tIns="0" rIns="0" bIns="0" rtlCol="0" anchor="ctr"/>
          <a:lstStyle/>
          <a:p>
            <a:pPr marL="0" indent="0" algn="ctr">
              <a:buNone/>
            </a:pPr>
            <a:r>
              <a:rPr lang="en-US" sz="4400" b="1" dirty="0">
                <a:solidFill>
                  <a:srgbClr val="10B981"/>
                </a:solidFill>
                <a:latin typeface="Calibri" pitchFamily="34" charset="0"/>
                <a:ea typeface="Calibri" pitchFamily="34" charset="-122"/>
                <a:cs typeface="Calibri" pitchFamily="34" charset="-120"/>
              </a:rPr>
              <a:t>0.82%</a:t>
            </a:r>
            <a:endParaRPr lang="en-US" sz="4400" dirty="0"/>
          </a:p>
        </p:txBody>
      </p:sp>
      <p:sp>
        <p:nvSpPr>
          <p:cNvPr id="5" name="Text 3"/>
          <p:cNvSpPr/>
          <p:nvPr/>
        </p:nvSpPr>
        <p:spPr>
          <a:xfrm>
            <a:off x="365760" y="1783080"/>
            <a:ext cx="2560320" cy="274320"/>
          </a:xfrm>
          <a:prstGeom prst="rect">
            <a:avLst/>
          </a:prstGeom>
          <a:noFill/>
          <a:ln/>
        </p:spPr>
        <p:txBody>
          <a:bodyPr wrap="square" lIns="0" tIns="0" rIns="0" bIns="0" rtlCol="0" anchor="ctr"/>
          <a:lstStyle/>
          <a:p>
            <a:pPr marL="0" indent="0" algn="ctr">
              <a:buNone/>
            </a:pPr>
            <a:r>
              <a:rPr lang="en-US" sz="1200" dirty="0">
                <a:solidFill>
                  <a:srgbClr val="6EE7B7"/>
                </a:solidFill>
                <a:latin typeface="Calibri" pitchFamily="34" charset="0"/>
                <a:ea typeface="Calibri" pitchFamily="34" charset="-122"/>
                <a:cs typeface="Calibri" pitchFamily="34" charset="-120"/>
              </a:rPr>
              <a:t>prevara u skupu</a:t>
            </a:r>
            <a:endParaRPr lang="en-US" sz="1200" dirty="0"/>
          </a:p>
        </p:txBody>
      </p:sp>
      <p:sp>
        <p:nvSpPr>
          <p:cNvPr id="6" name="Text 4"/>
          <p:cNvSpPr/>
          <p:nvPr/>
        </p:nvSpPr>
        <p:spPr>
          <a:xfrm>
            <a:off x="365760" y="2084832"/>
            <a:ext cx="2560320" cy="256032"/>
          </a:xfrm>
          <a:prstGeom prst="rect">
            <a:avLst/>
          </a:prstGeom>
          <a:noFill/>
          <a:ln/>
        </p:spPr>
        <p:txBody>
          <a:bodyPr wrap="square" lIns="0" tIns="0" rIns="0" bIns="0" rtlCol="0" anchor="ctr"/>
          <a:lstStyle/>
          <a:p>
            <a:pPr marL="0" indent="0" algn="ctr">
              <a:buNone/>
            </a:pPr>
            <a:r>
              <a:rPr lang="en-US" sz="1000" dirty="0">
                <a:solidFill>
                  <a:srgbClr val="9CA3AF"/>
                </a:solidFill>
                <a:latin typeface="Calibri" pitchFamily="34" charset="0"/>
                <a:ea typeface="Calibri" pitchFamily="34" charset="-122"/>
                <a:cs typeface="Calibri" pitchFamily="34" charset="-120"/>
              </a:rPr>
              <a:t>1.644 od 200.000 transakcija</a:t>
            </a:r>
            <a:endParaRPr lang="en-US" sz="1000" dirty="0"/>
          </a:p>
        </p:txBody>
      </p:sp>
      <p:sp>
        <p:nvSpPr>
          <p:cNvPr id="7" name="Shape 5"/>
          <p:cNvSpPr/>
          <p:nvPr/>
        </p:nvSpPr>
        <p:spPr>
          <a:xfrm>
            <a:off x="731520" y="2487168"/>
            <a:ext cx="1828800" cy="18288"/>
          </a:xfrm>
          <a:prstGeom prst="rect">
            <a:avLst/>
          </a:prstGeom>
          <a:solidFill>
            <a:srgbClr val="1A4030"/>
          </a:solidFill>
          <a:ln w="12700">
            <a:solidFill>
              <a:srgbClr val="1A4030"/>
            </a:solidFill>
            <a:prstDash val="solid"/>
          </a:ln>
        </p:spPr>
      </p:sp>
      <p:sp>
        <p:nvSpPr>
          <p:cNvPr id="8" name="Text 6"/>
          <p:cNvSpPr/>
          <p:nvPr/>
        </p:nvSpPr>
        <p:spPr>
          <a:xfrm>
            <a:off x="530352" y="2560320"/>
            <a:ext cx="2231136" cy="1920240"/>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Neuronske mreže otkrivaju suptilne obrasce koji razlikuju prevaru od legitimne transakcije — i uz ekstreman disbalans klasa.</a:t>
            </a:r>
            <a:endParaRPr lang="en-US" sz="1000" dirty="0"/>
          </a:p>
        </p:txBody>
      </p:sp>
      <p:sp>
        <p:nvSpPr>
          <p:cNvPr id="9" name="Shape 7"/>
          <p:cNvSpPr/>
          <p:nvPr/>
        </p:nvSpPr>
        <p:spPr>
          <a:xfrm>
            <a:off x="3108960" y="658368"/>
            <a:ext cx="5669280" cy="1170432"/>
          </a:xfrm>
          <a:prstGeom prst="roundRect">
            <a:avLst>
              <a:gd name="adj" fmla="val 6250"/>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10" name="Shape 8"/>
          <p:cNvSpPr/>
          <p:nvPr/>
        </p:nvSpPr>
        <p:spPr>
          <a:xfrm>
            <a:off x="3200400" y="804672"/>
            <a:ext cx="36576" cy="877824"/>
          </a:xfrm>
          <a:prstGeom prst="roundRect">
            <a:avLst>
              <a:gd name="adj" fmla="val 50000"/>
            </a:avLst>
          </a:prstGeom>
          <a:solidFill>
            <a:srgbClr val="10B981"/>
          </a:solidFill>
          <a:ln w="12700">
            <a:solidFill>
              <a:srgbClr val="10B981"/>
            </a:solidFill>
            <a:prstDash val="solid"/>
          </a:ln>
        </p:spPr>
      </p:sp>
      <p:sp>
        <p:nvSpPr>
          <p:cNvPr id="11" name="Text 9"/>
          <p:cNvSpPr/>
          <p:nvPr/>
        </p:nvSpPr>
        <p:spPr>
          <a:xfrm>
            <a:off x="3328416" y="768096"/>
            <a:ext cx="5358384" cy="256032"/>
          </a:xfrm>
          <a:prstGeom prst="rect">
            <a:avLst/>
          </a:prstGeom>
          <a:noFill/>
          <a:ln/>
        </p:spPr>
        <p:txBody>
          <a:bodyPr wrap="square" lIns="0" tIns="0" rIns="0" bIns="0" rtlCol="0" anchor="ctr"/>
          <a:lstStyle/>
          <a:p>
            <a:pPr marL="0" indent="0">
              <a:buNone/>
            </a:pPr>
            <a:r>
              <a:rPr lang="en-US" sz="1150" b="1" dirty="0">
                <a:solidFill>
                  <a:srgbClr val="F9FAFB"/>
                </a:solidFill>
                <a:latin typeface="Calibri" pitchFamily="34" charset="0"/>
                <a:ea typeface="Calibri" pitchFamily="34" charset="-122"/>
                <a:cs typeface="Calibri" pitchFamily="34" charset="-120"/>
              </a:rPr>
              <a:t>Ekstreman disbalans klasa</a:t>
            </a:r>
            <a:endParaRPr lang="en-US" sz="1150" dirty="0"/>
          </a:p>
        </p:txBody>
      </p:sp>
      <p:sp>
        <p:nvSpPr>
          <p:cNvPr id="12" name="Text 10"/>
          <p:cNvSpPr/>
          <p:nvPr/>
        </p:nvSpPr>
        <p:spPr>
          <a:xfrm>
            <a:off x="3328416" y="1060704"/>
            <a:ext cx="5358384" cy="694944"/>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Modeli koji uvek predvidjaju 'legitimno' postizu 99.18% tacnosti bez ikakvog ucenja. </a:t>
            </a:r>
            <a:r>
              <a:rPr lang="en-US" sz="950" dirty="0" smtClean="0">
                <a:solidFill>
                  <a:srgbClr val="9CA3AF"/>
                </a:solidFill>
                <a:latin typeface="Calibri" pitchFamily="34" charset="0"/>
                <a:ea typeface="Calibri" pitchFamily="34" charset="-122"/>
                <a:cs typeface="Calibri" pitchFamily="34" charset="-120"/>
              </a:rPr>
              <a:t>Ta</a:t>
            </a:r>
            <a:r>
              <a:rPr lang="sr-Latn-RS" sz="950" dirty="0" smtClean="0">
                <a:solidFill>
                  <a:srgbClr val="9CA3AF"/>
                </a:solidFill>
                <a:latin typeface="Calibri" pitchFamily="34" charset="0"/>
                <a:ea typeface="Calibri" pitchFamily="34" charset="-122"/>
                <a:cs typeface="Calibri" pitchFamily="34" charset="-120"/>
              </a:rPr>
              <a:t>č</a:t>
            </a:r>
            <a:r>
              <a:rPr lang="en-US" sz="950" dirty="0" err="1" smtClean="0">
                <a:solidFill>
                  <a:srgbClr val="9CA3AF"/>
                </a:solidFill>
                <a:latin typeface="Calibri" pitchFamily="34" charset="0"/>
                <a:ea typeface="Calibri" pitchFamily="34" charset="-122"/>
                <a:cs typeface="Calibri" pitchFamily="34" charset="-120"/>
              </a:rPr>
              <a:t>nost</a:t>
            </a:r>
            <a:r>
              <a:rPr lang="en-US" sz="950" dirty="0" smtClean="0">
                <a:solidFill>
                  <a:srgbClr val="9CA3AF"/>
                </a:solidFill>
                <a:latin typeface="Calibri" pitchFamily="34" charset="0"/>
                <a:ea typeface="Calibri" pitchFamily="34" charset="-122"/>
                <a:cs typeface="Calibri" pitchFamily="34" charset="-120"/>
              </a:rPr>
              <a:t> </a:t>
            </a:r>
            <a:r>
              <a:rPr lang="en-US" sz="950" dirty="0">
                <a:solidFill>
                  <a:srgbClr val="9CA3AF"/>
                </a:solidFill>
                <a:latin typeface="Calibri" pitchFamily="34" charset="0"/>
                <a:ea typeface="Calibri" pitchFamily="34" charset="-122"/>
                <a:cs typeface="Calibri" pitchFamily="34" charset="-120"/>
              </a:rPr>
              <a:t>je varljiva i beskorisna metrika — nije cilj.</a:t>
            </a:r>
            <a:endParaRPr lang="en-US" sz="950" dirty="0"/>
          </a:p>
        </p:txBody>
      </p:sp>
      <p:sp>
        <p:nvSpPr>
          <p:cNvPr id="13" name="Shape 11"/>
          <p:cNvSpPr/>
          <p:nvPr/>
        </p:nvSpPr>
        <p:spPr>
          <a:xfrm>
            <a:off x="3108960" y="1938528"/>
            <a:ext cx="5669280" cy="1170432"/>
          </a:xfrm>
          <a:prstGeom prst="roundRect">
            <a:avLst>
              <a:gd name="adj" fmla="val 6250"/>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14" name="Shape 12"/>
          <p:cNvSpPr/>
          <p:nvPr/>
        </p:nvSpPr>
        <p:spPr>
          <a:xfrm>
            <a:off x="3200400" y="2084832"/>
            <a:ext cx="36576" cy="877824"/>
          </a:xfrm>
          <a:prstGeom prst="roundRect">
            <a:avLst>
              <a:gd name="adj" fmla="val 50000"/>
            </a:avLst>
          </a:prstGeom>
          <a:solidFill>
            <a:srgbClr val="FBBF24"/>
          </a:solidFill>
          <a:ln w="12700">
            <a:solidFill>
              <a:srgbClr val="FBBF24"/>
            </a:solidFill>
            <a:prstDash val="solid"/>
          </a:ln>
        </p:spPr>
      </p:sp>
      <p:sp>
        <p:nvSpPr>
          <p:cNvPr id="15" name="Text 13"/>
          <p:cNvSpPr/>
          <p:nvPr/>
        </p:nvSpPr>
        <p:spPr>
          <a:xfrm>
            <a:off x="3328416" y="2048256"/>
            <a:ext cx="5358384" cy="256032"/>
          </a:xfrm>
          <a:prstGeom prst="rect">
            <a:avLst/>
          </a:prstGeom>
          <a:noFill/>
          <a:ln/>
        </p:spPr>
        <p:txBody>
          <a:bodyPr wrap="square" lIns="0" tIns="0" rIns="0" bIns="0" rtlCol="0" anchor="ctr"/>
          <a:lstStyle/>
          <a:p>
            <a:pPr marL="0" indent="0">
              <a:buNone/>
            </a:pPr>
            <a:r>
              <a:rPr lang="en-US" sz="1150" b="1" dirty="0">
                <a:solidFill>
                  <a:srgbClr val="F9FAFB"/>
                </a:solidFill>
                <a:latin typeface="Calibri" pitchFamily="34" charset="0"/>
                <a:ea typeface="Calibri" pitchFamily="34" charset="-122"/>
                <a:cs typeface="Calibri" pitchFamily="34" charset="-120"/>
              </a:rPr>
              <a:t>Varljiva tačnost</a:t>
            </a:r>
            <a:endParaRPr lang="en-US" sz="1150" dirty="0"/>
          </a:p>
        </p:txBody>
      </p:sp>
      <p:sp>
        <p:nvSpPr>
          <p:cNvPr id="16" name="Text 14"/>
          <p:cNvSpPr/>
          <p:nvPr/>
        </p:nvSpPr>
        <p:spPr>
          <a:xfrm>
            <a:off x="3328416" y="2340864"/>
            <a:ext cx="5358384" cy="694944"/>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Fokus mora biti na Precision, Recall i F1-Score za klasu prevara. Ukupna tačnost krije problem disbalansa.</a:t>
            </a:r>
            <a:endParaRPr lang="en-US" sz="950" dirty="0"/>
          </a:p>
        </p:txBody>
      </p:sp>
      <p:sp>
        <p:nvSpPr>
          <p:cNvPr id="17" name="Shape 15"/>
          <p:cNvSpPr/>
          <p:nvPr/>
        </p:nvSpPr>
        <p:spPr>
          <a:xfrm>
            <a:off x="3108960" y="3218688"/>
            <a:ext cx="5669280" cy="1170432"/>
          </a:xfrm>
          <a:prstGeom prst="roundRect">
            <a:avLst>
              <a:gd name="adj" fmla="val 6250"/>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18" name="Shape 16"/>
          <p:cNvSpPr/>
          <p:nvPr/>
        </p:nvSpPr>
        <p:spPr>
          <a:xfrm>
            <a:off x="3200400" y="3364992"/>
            <a:ext cx="36576" cy="877824"/>
          </a:xfrm>
          <a:prstGeom prst="roundRect">
            <a:avLst>
              <a:gd name="adj" fmla="val 50000"/>
            </a:avLst>
          </a:prstGeom>
          <a:solidFill>
            <a:srgbClr val="60A5FA"/>
          </a:solidFill>
          <a:ln w="12700">
            <a:solidFill>
              <a:srgbClr val="60A5FA"/>
            </a:solidFill>
            <a:prstDash val="solid"/>
          </a:ln>
        </p:spPr>
      </p:sp>
      <p:sp>
        <p:nvSpPr>
          <p:cNvPr id="19" name="Text 17"/>
          <p:cNvSpPr/>
          <p:nvPr/>
        </p:nvSpPr>
        <p:spPr>
          <a:xfrm>
            <a:off x="3328416" y="3328416"/>
            <a:ext cx="5358384" cy="256032"/>
          </a:xfrm>
          <a:prstGeom prst="rect">
            <a:avLst/>
          </a:prstGeom>
          <a:noFill/>
          <a:ln/>
        </p:spPr>
        <p:txBody>
          <a:bodyPr wrap="square" lIns="0" tIns="0" rIns="0" bIns="0" rtlCol="0" anchor="ctr"/>
          <a:lstStyle/>
          <a:p>
            <a:pPr marL="0" indent="0">
              <a:buNone/>
            </a:pPr>
            <a:r>
              <a:rPr lang="en-US" sz="1150" b="1" dirty="0">
                <a:solidFill>
                  <a:srgbClr val="F9FAFB"/>
                </a:solidFill>
                <a:latin typeface="Calibri" pitchFamily="34" charset="0"/>
                <a:ea typeface="Calibri" pitchFamily="34" charset="-122"/>
                <a:cs typeface="Calibri" pitchFamily="34" charset="-120"/>
              </a:rPr>
              <a:t>Zašto feedforward MLP?</a:t>
            </a:r>
            <a:endParaRPr lang="en-US" sz="1150" dirty="0"/>
          </a:p>
        </p:txBody>
      </p:sp>
      <p:sp>
        <p:nvSpPr>
          <p:cNvPr id="20" name="Text 18"/>
          <p:cNvSpPr/>
          <p:nvPr/>
        </p:nvSpPr>
        <p:spPr>
          <a:xfrm>
            <a:off x="3328416" y="3621024"/>
            <a:ext cx="5358384" cy="694944"/>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MLP sa nelinearnim aktivacionim funkcijama i dropout regularizacijom detektuje skrivene anomalije i pri drastičnom disbalansu klasa.</a:t>
            </a:r>
            <a:endParaRPr lang="en-US" sz="9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365760"/>
          </a:xfrm>
          <a:prstGeom prst="rect">
            <a:avLst/>
          </a:prstGeom>
          <a:noFill/>
          <a:ln/>
        </p:spPr>
        <p:txBody>
          <a:bodyPr wrap="square" lIns="0" tIns="0" rIns="0" bIns="0" rtlCol="0" anchor="ctr"/>
          <a:lstStyle/>
          <a:p>
            <a:pPr marL="0" indent="0">
              <a:buNone/>
            </a:pPr>
            <a:r>
              <a:rPr lang="en-US" sz="1700" b="1" dirty="0">
                <a:solidFill>
                  <a:srgbClr val="10B981"/>
                </a:solidFill>
                <a:latin typeface="Calibri" pitchFamily="34" charset="0"/>
                <a:ea typeface="Calibri" pitchFamily="34" charset="-122"/>
                <a:cs typeface="Calibri" pitchFamily="34" charset="-120"/>
              </a:rPr>
              <a:t>02</a:t>
            </a:r>
            <a:r>
              <a:rPr lang="en-US" sz="1700" dirty="0">
                <a:solidFill>
                  <a:srgbClr val="9CA3AF"/>
                </a:solidFill>
                <a:latin typeface="Calibri" pitchFamily="34" charset="0"/>
                <a:ea typeface="Calibri" pitchFamily="34" charset="-122"/>
                <a:cs typeface="Calibri" pitchFamily="34" charset="-120"/>
              </a:rPr>
              <a:t>  ·  </a:t>
            </a:r>
            <a:r>
              <a:rPr lang="en-US" sz="1700" b="1" dirty="0">
                <a:solidFill>
                  <a:srgbClr val="F9FAFB"/>
                </a:solidFill>
                <a:latin typeface="Calibri" pitchFamily="34" charset="0"/>
                <a:ea typeface="Calibri" pitchFamily="34" charset="-122"/>
                <a:cs typeface="Calibri" pitchFamily="34" charset="-120"/>
              </a:rPr>
              <a:t>Podaci &amp; Preprocesiranje</a:t>
            </a:r>
            <a:endParaRPr lang="en-US" sz="1700" dirty="0"/>
          </a:p>
        </p:txBody>
      </p:sp>
      <p:sp>
        <p:nvSpPr>
          <p:cNvPr id="3" name="Shape 1"/>
          <p:cNvSpPr/>
          <p:nvPr/>
        </p:nvSpPr>
        <p:spPr>
          <a:xfrm>
            <a:off x="365760" y="640080"/>
            <a:ext cx="2075688" cy="914400"/>
          </a:xfrm>
          <a:prstGeom prst="roundRect">
            <a:avLst>
              <a:gd name="adj" fmla="val 8000"/>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4" name="Text 2"/>
          <p:cNvSpPr/>
          <p:nvPr/>
        </p:nvSpPr>
        <p:spPr>
          <a:xfrm>
            <a:off x="365760" y="722376"/>
            <a:ext cx="2075688" cy="475488"/>
          </a:xfrm>
          <a:prstGeom prst="rect">
            <a:avLst/>
          </a:prstGeom>
          <a:noFill/>
          <a:ln/>
        </p:spPr>
        <p:txBody>
          <a:bodyPr wrap="square" lIns="0" tIns="0" rIns="0" bIns="0" rtlCol="0" anchor="ctr"/>
          <a:lstStyle/>
          <a:p>
            <a:pPr marL="0" indent="0" algn="ctr">
              <a:buNone/>
            </a:pPr>
            <a:r>
              <a:rPr lang="en-US" sz="2400" b="1" dirty="0">
                <a:solidFill>
                  <a:srgbClr val="34D399"/>
                </a:solidFill>
                <a:latin typeface="Calibri" pitchFamily="34" charset="0"/>
                <a:ea typeface="Calibri" pitchFamily="34" charset="-122"/>
                <a:cs typeface="Calibri" pitchFamily="34" charset="-120"/>
              </a:rPr>
              <a:t>200.000</a:t>
            </a:r>
            <a:endParaRPr lang="en-US" sz="2400" dirty="0"/>
          </a:p>
        </p:txBody>
      </p:sp>
      <p:sp>
        <p:nvSpPr>
          <p:cNvPr id="5" name="Text 3"/>
          <p:cNvSpPr/>
          <p:nvPr/>
        </p:nvSpPr>
        <p:spPr>
          <a:xfrm>
            <a:off x="365760" y="1188720"/>
            <a:ext cx="2075688" cy="310896"/>
          </a:xfrm>
          <a:prstGeom prst="rect">
            <a:avLst/>
          </a:prstGeom>
          <a:noFill/>
          <a:ln/>
        </p:spPr>
        <p:txBody>
          <a:bodyPr wrap="square" lIns="0" tIns="0" rIns="0" bIns="0" rtlCol="0" anchor="ctr"/>
          <a:lstStyle/>
          <a:p>
            <a:pPr marL="0" indent="0" algn="ctr">
              <a:buNone/>
            </a:pPr>
            <a:r>
              <a:rPr lang="en-US" sz="950" dirty="0">
                <a:solidFill>
                  <a:srgbClr val="9CA3AF"/>
                </a:solidFill>
                <a:latin typeface="Calibri" pitchFamily="34" charset="0"/>
                <a:ea typeface="Calibri" pitchFamily="34" charset="-122"/>
                <a:cs typeface="Calibri" pitchFamily="34" charset="-120"/>
              </a:rPr>
              <a:t>transakcija (podskup od 1.5M)</a:t>
            </a:r>
            <a:endParaRPr lang="en-US" sz="950" dirty="0"/>
          </a:p>
        </p:txBody>
      </p:sp>
      <p:sp>
        <p:nvSpPr>
          <p:cNvPr id="6" name="Shape 4"/>
          <p:cNvSpPr/>
          <p:nvPr/>
        </p:nvSpPr>
        <p:spPr>
          <a:xfrm>
            <a:off x="2478024" y="640080"/>
            <a:ext cx="2075688" cy="914400"/>
          </a:xfrm>
          <a:prstGeom prst="roundRect">
            <a:avLst>
              <a:gd name="adj" fmla="val 8000"/>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7" name="Text 5"/>
          <p:cNvSpPr/>
          <p:nvPr/>
        </p:nvSpPr>
        <p:spPr>
          <a:xfrm>
            <a:off x="2478024" y="722376"/>
            <a:ext cx="2075688" cy="475488"/>
          </a:xfrm>
          <a:prstGeom prst="rect">
            <a:avLst/>
          </a:prstGeom>
          <a:noFill/>
          <a:ln/>
        </p:spPr>
        <p:txBody>
          <a:bodyPr wrap="square" lIns="0" tIns="0" rIns="0" bIns="0" rtlCol="0" anchor="ctr"/>
          <a:lstStyle/>
          <a:p>
            <a:pPr marL="0" indent="0" algn="ctr">
              <a:buNone/>
            </a:pPr>
            <a:r>
              <a:rPr lang="en-US" sz="2400" b="1" dirty="0">
                <a:solidFill>
                  <a:srgbClr val="34D399"/>
                </a:solidFill>
                <a:latin typeface="Calibri" pitchFamily="34" charset="0"/>
                <a:ea typeface="Calibri" pitchFamily="34" charset="-122"/>
                <a:cs typeface="Calibri" pitchFamily="34" charset="-120"/>
              </a:rPr>
              <a:t>23</a:t>
            </a:r>
            <a:endParaRPr lang="en-US" sz="2400" dirty="0"/>
          </a:p>
        </p:txBody>
      </p:sp>
      <p:sp>
        <p:nvSpPr>
          <p:cNvPr id="8" name="Text 6"/>
          <p:cNvSpPr/>
          <p:nvPr/>
        </p:nvSpPr>
        <p:spPr>
          <a:xfrm>
            <a:off x="2478024" y="1188720"/>
            <a:ext cx="2075688" cy="310896"/>
          </a:xfrm>
          <a:prstGeom prst="rect">
            <a:avLst/>
          </a:prstGeom>
          <a:noFill/>
          <a:ln/>
        </p:spPr>
        <p:txBody>
          <a:bodyPr wrap="square" lIns="0" tIns="0" rIns="0" bIns="0" rtlCol="0" anchor="ctr"/>
          <a:lstStyle/>
          <a:p>
            <a:pPr marL="0" indent="0" algn="ctr">
              <a:buNone/>
            </a:pPr>
            <a:r>
              <a:rPr lang="en-US" sz="950" dirty="0">
                <a:solidFill>
                  <a:srgbClr val="9CA3AF"/>
                </a:solidFill>
                <a:latin typeface="Calibri" pitchFamily="34" charset="0"/>
                <a:ea typeface="Calibri" pitchFamily="34" charset="-122"/>
                <a:cs typeface="Calibri" pitchFamily="34" charset="-120"/>
              </a:rPr>
              <a:t>ulazna obeležja (posle enkodiranja)</a:t>
            </a:r>
            <a:endParaRPr lang="en-US" sz="950" dirty="0"/>
          </a:p>
        </p:txBody>
      </p:sp>
      <p:sp>
        <p:nvSpPr>
          <p:cNvPr id="9" name="Shape 7"/>
          <p:cNvSpPr/>
          <p:nvPr/>
        </p:nvSpPr>
        <p:spPr>
          <a:xfrm>
            <a:off x="4590288" y="640080"/>
            <a:ext cx="2075688" cy="914400"/>
          </a:xfrm>
          <a:prstGeom prst="roundRect">
            <a:avLst>
              <a:gd name="adj" fmla="val 8000"/>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10" name="Text 8"/>
          <p:cNvSpPr/>
          <p:nvPr/>
        </p:nvSpPr>
        <p:spPr>
          <a:xfrm>
            <a:off x="4590288" y="722376"/>
            <a:ext cx="2075688" cy="475488"/>
          </a:xfrm>
          <a:prstGeom prst="rect">
            <a:avLst/>
          </a:prstGeom>
          <a:noFill/>
          <a:ln/>
        </p:spPr>
        <p:txBody>
          <a:bodyPr wrap="square" lIns="0" tIns="0" rIns="0" bIns="0" rtlCol="0" anchor="ctr"/>
          <a:lstStyle/>
          <a:p>
            <a:pPr marL="0" indent="0" algn="ctr">
              <a:buNone/>
            </a:pPr>
            <a:r>
              <a:rPr lang="en-US" sz="2400" b="1" dirty="0">
                <a:solidFill>
                  <a:srgbClr val="F87171"/>
                </a:solidFill>
                <a:latin typeface="Calibri" pitchFamily="34" charset="0"/>
                <a:ea typeface="Calibri" pitchFamily="34" charset="-122"/>
                <a:cs typeface="Calibri" pitchFamily="34" charset="-120"/>
              </a:rPr>
              <a:t>0.82%</a:t>
            </a:r>
            <a:endParaRPr lang="en-US" sz="2400" dirty="0"/>
          </a:p>
        </p:txBody>
      </p:sp>
      <p:sp>
        <p:nvSpPr>
          <p:cNvPr id="11" name="Text 9"/>
          <p:cNvSpPr/>
          <p:nvPr/>
        </p:nvSpPr>
        <p:spPr>
          <a:xfrm>
            <a:off x="4590288" y="1188720"/>
            <a:ext cx="2075688" cy="310896"/>
          </a:xfrm>
          <a:prstGeom prst="rect">
            <a:avLst/>
          </a:prstGeom>
          <a:noFill/>
          <a:ln/>
        </p:spPr>
        <p:txBody>
          <a:bodyPr wrap="square" lIns="0" tIns="0" rIns="0" bIns="0" rtlCol="0" anchor="ctr"/>
          <a:lstStyle/>
          <a:p>
            <a:pPr marL="0" indent="0" algn="ctr">
              <a:buNone/>
            </a:pPr>
            <a:r>
              <a:rPr lang="en-US" sz="950" dirty="0">
                <a:solidFill>
                  <a:srgbClr val="9CA3AF"/>
                </a:solidFill>
                <a:latin typeface="Calibri" pitchFamily="34" charset="0"/>
                <a:ea typeface="Calibri" pitchFamily="34" charset="-122"/>
                <a:cs typeface="Calibri" pitchFamily="34" charset="-120"/>
              </a:rPr>
              <a:t>prevara — ekstreman disbalans</a:t>
            </a:r>
            <a:endParaRPr lang="en-US" sz="950" dirty="0"/>
          </a:p>
        </p:txBody>
      </p:sp>
      <p:sp>
        <p:nvSpPr>
          <p:cNvPr id="12" name="Shape 10"/>
          <p:cNvSpPr/>
          <p:nvPr/>
        </p:nvSpPr>
        <p:spPr>
          <a:xfrm>
            <a:off x="6702552" y="640080"/>
            <a:ext cx="2075688" cy="914400"/>
          </a:xfrm>
          <a:prstGeom prst="roundRect">
            <a:avLst>
              <a:gd name="adj" fmla="val 8000"/>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13" name="Text 11"/>
          <p:cNvSpPr/>
          <p:nvPr/>
        </p:nvSpPr>
        <p:spPr>
          <a:xfrm>
            <a:off x="6702552" y="722376"/>
            <a:ext cx="2075688" cy="475488"/>
          </a:xfrm>
          <a:prstGeom prst="rect">
            <a:avLst/>
          </a:prstGeom>
          <a:noFill/>
          <a:ln/>
        </p:spPr>
        <p:txBody>
          <a:bodyPr wrap="square" lIns="0" tIns="0" rIns="0" bIns="0" rtlCol="0" anchor="ctr"/>
          <a:lstStyle/>
          <a:p>
            <a:pPr marL="0" indent="0" algn="ctr">
              <a:buNone/>
            </a:pPr>
            <a:r>
              <a:rPr lang="en-US" sz="2400" b="1" dirty="0">
                <a:solidFill>
                  <a:srgbClr val="FBBF24"/>
                </a:solidFill>
                <a:latin typeface="Calibri" pitchFamily="34" charset="0"/>
                <a:ea typeface="Calibri" pitchFamily="34" charset="-122"/>
                <a:cs typeface="Calibri" pitchFamily="34" charset="-120"/>
              </a:rPr>
              <a:t>80/20</a:t>
            </a:r>
            <a:endParaRPr lang="en-US" sz="2400" dirty="0"/>
          </a:p>
        </p:txBody>
      </p:sp>
      <p:sp>
        <p:nvSpPr>
          <p:cNvPr id="14" name="Text 12"/>
          <p:cNvSpPr/>
          <p:nvPr/>
        </p:nvSpPr>
        <p:spPr>
          <a:xfrm>
            <a:off x="6702552" y="1188720"/>
            <a:ext cx="2075688" cy="310896"/>
          </a:xfrm>
          <a:prstGeom prst="rect">
            <a:avLst/>
          </a:prstGeom>
          <a:noFill/>
          <a:ln/>
        </p:spPr>
        <p:txBody>
          <a:bodyPr wrap="square" lIns="0" tIns="0" rIns="0" bIns="0" rtlCol="0" anchor="ctr"/>
          <a:lstStyle/>
          <a:p>
            <a:pPr marL="0" indent="0" algn="ctr">
              <a:buNone/>
            </a:pPr>
            <a:r>
              <a:rPr lang="en-US" sz="950" dirty="0">
                <a:solidFill>
                  <a:srgbClr val="9CA3AF"/>
                </a:solidFill>
                <a:latin typeface="Calibri" pitchFamily="34" charset="0"/>
                <a:ea typeface="Calibri" pitchFamily="34" charset="-122"/>
                <a:cs typeface="Calibri" pitchFamily="34" charset="-120"/>
              </a:rPr>
              <a:t>trening / test stratifikovana podela</a:t>
            </a:r>
            <a:endParaRPr lang="en-US" sz="950" dirty="0"/>
          </a:p>
        </p:txBody>
      </p:sp>
      <p:sp>
        <p:nvSpPr>
          <p:cNvPr id="15" name="Shape 13"/>
          <p:cNvSpPr/>
          <p:nvPr/>
        </p:nvSpPr>
        <p:spPr>
          <a:xfrm>
            <a:off x="365760" y="1700784"/>
            <a:ext cx="4096512" cy="310896"/>
          </a:xfrm>
          <a:prstGeom prst="roundRect">
            <a:avLst>
              <a:gd name="adj" fmla="val 23529"/>
            </a:avLst>
          </a:prstGeom>
          <a:solidFill>
            <a:srgbClr val="0E1F15"/>
          </a:solidFill>
          <a:ln w="7620">
            <a:solidFill>
              <a:srgbClr val="374151"/>
            </a:solidFill>
            <a:prstDash val="solid"/>
          </a:ln>
        </p:spPr>
      </p:sp>
      <p:sp>
        <p:nvSpPr>
          <p:cNvPr id="16" name="Text 14"/>
          <p:cNvSpPr/>
          <p:nvPr/>
        </p:nvSpPr>
        <p:spPr>
          <a:xfrm>
            <a:off x="457200" y="1755648"/>
            <a:ext cx="3913632" cy="201168"/>
          </a:xfrm>
          <a:prstGeom prst="rect">
            <a:avLst/>
          </a:prstGeom>
          <a:noFill/>
          <a:ln/>
        </p:spPr>
        <p:txBody>
          <a:bodyPr wrap="square" lIns="0" tIns="0" rIns="0" bIns="0" rtlCol="0" anchor="ctr"/>
          <a:lstStyle/>
          <a:p>
            <a:pPr marL="0" indent="0">
              <a:buNone/>
            </a:pPr>
            <a:r>
              <a:rPr lang="en-US" sz="1150" b="1" dirty="0">
                <a:solidFill>
                  <a:srgbClr val="6EE7B7"/>
                </a:solidFill>
                <a:latin typeface="Calibri" pitchFamily="34" charset="0"/>
                <a:ea typeface="Calibri" pitchFamily="34" charset="-122"/>
                <a:cs typeface="Calibri" pitchFamily="34" charset="-120"/>
              </a:rPr>
              <a:t>Feature inženjering</a:t>
            </a:r>
            <a:endParaRPr lang="en-US" sz="1150" dirty="0"/>
          </a:p>
        </p:txBody>
      </p:sp>
      <p:sp>
        <p:nvSpPr>
          <p:cNvPr id="17" name="Text 15"/>
          <p:cNvSpPr/>
          <p:nvPr/>
        </p:nvSpPr>
        <p:spPr>
          <a:xfrm>
            <a:off x="475488" y="2029968"/>
            <a:ext cx="3895344" cy="402336"/>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  hour, day_of_week   ← trans_date_trans_time</a:t>
            </a:r>
            <a:endParaRPr lang="en-US" sz="950" dirty="0"/>
          </a:p>
        </p:txBody>
      </p:sp>
      <p:sp>
        <p:nvSpPr>
          <p:cNvPr id="18" name="Shape 16"/>
          <p:cNvSpPr/>
          <p:nvPr/>
        </p:nvSpPr>
        <p:spPr>
          <a:xfrm>
            <a:off x="475488" y="2450592"/>
            <a:ext cx="3877056" cy="10973"/>
          </a:xfrm>
          <a:prstGeom prst="rect">
            <a:avLst/>
          </a:prstGeom>
          <a:solidFill>
            <a:srgbClr val="374151"/>
          </a:solidFill>
          <a:ln w="12700">
            <a:solidFill>
              <a:srgbClr val="374151"/>
            </a:solidFill>
            <a:prstDash val="solid"/>
          </a:ln>
        </p:spPr>
      </p:sp>
      <p:sp>
        <p:nvSpPr>
          <p:cNvPr id="19" name="Text 17"/>
          <p:cNvSpPr/>
          <p:nvPr/>
        </p:nvSpPr>
        <p:spPr>
          <a:xfrm>
            <a:off x="475488" y="2487168"/>
            <a:ext cx="3895344" cy="402336"/>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  age   ← datum_rodjenja vs. 01.01.2020.</a:t>
            </a:r>
            <a:endParaRPr lang="en-US" sz="950" dirty="0"/>
          </a:p>
        </p:txBody>
      </p:sp>
      <p:sp>
        <p:nvSpPr>
          <p:cNvPr id="20" name="Shape 18"/>
          <p:cNvSpPr/>
          <p:nvPr/>
        </p:nvSpPr>
        <p:spPr>
          <a:xfrm>
            <a:off x="475488" y="2907792"/>
            <a:ext cx="3877056" cy="10973"/>
          </a:xfrm>
          <a:prstGeom prst="rect">
            <a:avLst/>
          </a:prstGeom>
          <a:solidFill>
            <a:srgbClr val="374151"/>
          </a:solidFill>
          <a:ln w="12700">
            <a:solidFill>
              <a:srgbClr val="374151"/>
            </a:solidFill>
            <a:prstDash val="solid"/>
          </a:ln>
        </p:spPr>
      </p:sp>
      <p:sp>
        <p:nvSpPr>
          <p:cNvPr id="21" name="Text 19"/>
          <p:cNvSpPr/>
          <p:nvPr/>
        </p:nvSpPr>
        <p:spPr>
          <a:xfrm>
            <a:off x="475488" y="2944368"/>
            <a:ext cx="3895344" cy="402336"/>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  One-hot encoding: category, gender (drop_first=True)</a:t>
            </a:r>
            <a:endParaRPr lang="en-US" sz="950" dirty="0"/>
          </a:p>
        </p:txBody>
      </p:sp>
      <p:sp>
        <p:nvSpPr>
          <p:cNvPr id="22" name="Shape 20"/>
          <p:cNvSpPr/>
          <p:nvPr/>
        </p:nvSpPr>
        <p:spPr>
          <a:xfrm>
            <a:off x="475488" y="3364992"/>
            <a:ext cx="3877056" cy="10973"/>
          </a:xfrm>
          <a:prstGeom prst="rect">
            <a:avLst/>
          </a:prstGeom>
          <a:solidFill>
            <a:srgbClr val="374151"/>
          </a:solidFill>
          <a:ln w="12700">
            <a:solidFill>
              <a:srgbClr val="374151"/>
            </a:solidFill>
            <a:prstDash val="solid"/>
          </a:ln>
        </p:spPr>
      </p:sp>
      <p:sp>
        <p:nvSpPr>
          <p:cNvPr id="23" name="Text 21"/>
          <p:cNvSpPr/>
          <p:nvPr/>
        </p:nvSpPr>
        <p:spPr>
          <a:xfrm>
            <a:off x="475488" y="3401568"/>
            <a:ext cx="3895344" cy="402336"/>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  Izbačeno: cc_num, first/last, merchant, job, trans_num, ...</a:t>
            </a:r>
            <a:endParaRPr lang="en-US" sz="950" dirty="0"/>
          </a:p>
        </p:txBody>
      </p:sp>
      <p:sp>
        <p:nvSpPr>
          <p:cNvPr id="24" name="Shape 22"/>
          <p:cNvSpPr/>
          <p:nvPr/>
        </p:nvSpPr>
        <p:spPr>
          <a:xfrm>
            <a:off x="4663440" y="1700784"/>
            <a:ext cx="4096512" cy="310896"/>
          </a:xfrm>
          <a:prstGeom prst="roundRect">
            <a:avLst>
              <a:gd name="adj" fmla="val 23529"/>
            </a:avLst>
          </a:prstGeom>
          <a:solidFill>
            <a:srgbClr val="0E1F15"/>
          </a:solidFill>
          <a:ln w="7620">
            <a:solidFill>
              <a:srgbClr val="374151"/>
            </a:solidFill>
            <a:prstDash val="solid"/>
          </a:ln>
        </p:spPr>
      </p:sp>
      <p:sp>
        <p:nvSpPr>
          <p:cNvPr id="25" name="Text 23"/>
          <p:cNvSpPr/>
          <p:nvPr/>
        </p:nvSpPr>
        <p:spPr>
          <a:xfrm>
            <a:off x="4754880" y="1755648"/>
            <a:ext cx="3913632" cy="201168"/>
          </a:xfrm>
          <a:prstGeom prst="rect">
            <a:avLst/>
          </a:prstGeom>
          <a:noFill/>
          <a:ln/>
        </p:spPr>
        <p:txBody>
          <a:bodyPr wrap="square" lIns="0" tIns="0" rIns="0" bIns="0" rtlCol="0" anchor="ctr"/>
          <a:lstStyle/>
          <a:p>
            <a:pPr marL="0" indent="0">
              <a:buNone/>
            </a:pPr>
            <a:r>
              <a:rPr lang="en-US" sz="1150" b="1" dirty="0">
                <a:solidFill>
                  <a:srgbClr val="6EE7B7"/>
                </a:solidFill>
                <a:latin typeface="Calibri" pitchFamily="34" charset="0"/>
                <a:ea typeface="Calibri" pitchFamily="34" charset="-122"/>
                <a:cs typeface="Calibri" pitchFamily="34" charset="-120"/>
              </a:rPr>
              <a:t>Skaliranje podataka</a:t>
            </a:r>
            <a:endParaRPr lang="en-US" sz="1150" dirty="0"/>
          </a:p>
        </p:txBody>
      </p:sp>
      <p:sp>
        <p:nvSpPr>
          <p:cNvPr id="26" name="Text 24"/>
          <p:cNvSpPr/>
          <p:nvPr/>
        </p:nvSpPr>
        <p:spPr>
          <a:xfrm>
            <a:off x="4773168" y="2029968"/>
            <a:ext cx="3895344" cy="402336"/>
          </a:xfrm>
          <a:prstGeom prst="rect">
            <a:avLst/>
          </a:prstGeom>
          <a:noFill/>
          <a:ln/>
        </p:spPr>
        <p:txBody>
          <a:bodyPr wrap="square" lIns="0" tIns="0" rIns="0" bIns="0" rtlCol="0" anchor="ctr"/>
          <a:lstStyle/>
          <a:p>
            <a:pPr marL="0" indent="0">
              <a:buNone/>
            </a:pPr>
            <a:r>
              <a:rPr lang="en-US" sz="950" b="1" dirty="0">
                <a:solidFill>
                  <a:srgbClr val="F9FAFB"/>
                </a:solidFill>
                <a:latin typeface="Calibri" pitchFamily="34" charset="0"/>
                <a:ea typeface="Calibri" pitchFamily="34" charset="-122"/>
                <a:cs typeface="Calibri" pitchFamily="34" charset="-120"/>
              </a:rPr>
              <a:t>Shapiro-Wilk test: </a:t>
            </a:r>
            <a:r>
              <a:rPr lang="en-US" sz="950" dirty="0">
                <a:solidFill>
                  <a:srgbClr val="9CA3AF"/>
                </a:solidFill>
                <a:latin typeface="Calibri" pitchFamily="34" charset="0"/>
                <a:ea typeface="Calibri" pitchFamily="34" charset="-122"/>
                <a:cs typeface="Calibri" pitchFamily="34" charset="-120"/>
              </a:rPr>
              <a:t>nijedno obeležje ne prati normalnu raspodelu (p &lt; 0.05)</a:t>
            </a:r>
            <a:endParaRPr lang="en-US" sz="950" dirty="0"/>
          </a:p>
        </p:txBody>
      </p:sp>
      <p:sp>
        <p:nvSpPr>
          <p:cNvPr id="27" name="Shape 25"/>
          <p:cNvSpPr/>
          <p:nvPr/>
        </p:nvSpPr>
        <p:spPr>
          <a:xfrm>
            <a:off x="4773168" y="2450592"/>
            <a:ext cx="3877056" cy="10973"/>
          </a:xfrm>
          <a:prstGeom prst="rect">
            <a:avLst/>
          </a:prstGeom>
          <a:solidFill>
            <a:srgbClr val="374151"/>
          </a:solidFill>
          <a:ln w="12700">
            <a:solidFill>
              <a:srgbClr val="374151"/>
            </a:solidFill>
            <a:prstDash val="solid"/>
          </a:ln>
        </p:spPr>
      </p:sp>
      <p:sp>
        <p:nvSpPr>
          <p:cNvPr id="28" name="Text 26"/>
          <p:cNvSpPr/>
          <p:nvPr/>
        </p:nvSpPr>
        <p:spPr>
          <a:xfrm>
            <a:off x="4773168" y="2487168"/>
            <a:ext cx="3895344" cy="402336"/>
          </a:xfrm>
          <a:prstGeom prst="rect">
            <a:avLst/>
          </a:prstGeom>
          <a:noFill/>
          <a:ln/>
        </p:spPr>
        <p:txBody>
          <a:bodyPr wrap="square" lIns="0" tIns="0" rIns="0" bIns="0" rtlCol="0" anchor="ctr"/>
          <a:lstStyle/>
          <a:p>
            <a:pPr marL="0" indent="0">
              <a:buNone/>
            </a:pPr>
            <a:r>
              <a:rPr lang="en-US" sz="950" b="1" dirty="0">
                <a:solidFill>
                  <a:srgbClr val="F9FAFB"/>
                </a:solidFill>
                <a:latin typeface="Calibri" pitchFamily="34" charset="0"/>
                <a:ea typeface="Calibri" pitchFamily="34" charset="-122"/>
                <a:cs typeface="Calibri" pitchFamily="34" charset="-120"/>
              </a:rPr>
              <a:t>Izbor skalera: </a:t>
            </a:r>
            <a:r>
              <a:rPr lang="en-US" sz="950" dirty="0">
                <a:solidFill>
                  <a:srgbClr val="9CA3AF"/>
                </a:solidFill>
                <a:latin typeface="Calibri" pitchFamily="34" charset="0"/>
                <a:ea typeface="Calibri" pitchFamily="34" charset="-122"/>
                <a:cs typeface="Calibri" pitchFamily="34" charset="-120"/>
              </a:rPr>
              <a:t>StandardScaler odbačen — osetljiv na autlajere</a:t>
            </a:r>
            <a:endParaRPr lang="en-US" sz="950" dirty="0"/>
          </a:p>
        </p:txBody>
      </p:sp>
      <p:sp>
        <p:nvSpPr>
          <p:cNvPr id="29" name="Shape 27"/>
          <p:cNvSpPr/>
          <p:nvPr/>
        </p:nvSpPr>
        <p:spPr>
          <a:xfrm>
            <a:off x="4773168" y="2907792"/>
            <a:ext cx="3877056" cy="10973"/>
          </a:xfrm>
          <a:prstGeom prst="rect">
            <a:avLst/>
          </a:prstGeom>
          <a:solidFill>
            <a:srgbClr val="374151"/>
          </a:solidFill>
          <a:ln w="12700">
            <a:solidFill>
              <a:srgbClr val="374151"/>
            </a:solidFill>
            <a:prstDash val="solid"/>
          </a:ln>
        </p:spPr>
      </p:sp>
      <p:sp>
        <p:nvSpPr>
          <p:cNvPr id="30" name="Text 28"/>
          <p:cNvSpPr/>
          <p:nvPr/>
        </p:nvSpPr>
        <p:spPr>
          <a:xfrm>
            <a:off x="4773168" y="2944368"/>
            <a:ext cx="3895344" cy="402336"/>
          </a:xfrm>
          <a:prstGeom prst="rect">
            <a:avLst/>
          </a:prstGeom>
          <a:noFill/>
          <a:ln/>
        </p:spPr>
        <p:txBody>
          <a:bodyPr wrap="square" lIns="0" tIns="0" rIns="0" bIns="0" rtlCol="0" anchor="ctr"/>
          <a:lstStyle/>
          <a:p>
            <a:pPr marL="0" indent="0">
              <a:buNone/>
            </a:pPr>
            <a:r>
              <a:rPr lang="en-US" sz="950" b="1" dirty="0">
                <a:solidFill>
                  <a:srgbClr val="F9FAFB"/>
                </a:solidFill>
                <a:latin typeface="Calibri" pitchFamily="34" charset="0"/>
                <a:ea typeface="Calibri" pitchFamily="34" charset="-122"/>
                <a:cs typeface="Calibri" pitchFamily="34" charset="-120"/>
              </a:rPr>
              <a:t>RobustScaler: </a:t>
            </a:r>
            <a:r>
              <a:rPr lang="en-US" sz="950" dirty="0">
                <a:solidFill>
                  <a:srgbClr val="9CA3AF"/>
                </a:solidFill>
                <a:latin typeface="Calibri" pitchFamily="34" charset="0"/>
                <a:ea typeface="Calibri" pitchFamily="34" charset="-122"/>
                <a:cs typeface="Calibri" pitchFamily="34" charset="-120"/>
              </a:rPr>
              <a:t>koristi medijanu i IQR → stabilan pri ekstremnim iznosima</a:t>
            </a:r>
            <a:endParaRPr lang="en-US" sz="950" dirty="0"/>
          </a:p>
        </p:txBody>
      </p:sp>
      <p:sp>
        <p:nvSpPr>
          <p:cNvPr id="31" name="Shape 29"/>
          <p:cNvSpPr/>
          <p:nvPr/>
        </p:nvSpPr>
        <p:spPr>
          <a:xfrm>
            <a:off x="4773168" y="3364992"/>
            <a:ext cx="3877056" cy="10973"/>
          </a:xfrm>
          <a:prstGeom prst="rect">
            <a:avLst/>
          </a:prstGeom>
          <a:solidFill>
            <a:srgbClr val="374151"/>
          </a:solidFill>
          <a:ln w="12700">
            <a:solidFill>
              <a:srgbClr val="374151"/>
            </a:solidFill>
            <a:prstDash val="solid"/>
          </a:ln>
        </p:spPr>
      </p:sp>
      <p:sp>
        <p:nvSpPr>
          <p:cNvPr id="32" name="Text 30"/>
          <p:cNvSpPr/>
          <p:nvPr/>
        </p:nvSpPr>
        <p:spPr>
          <a:xfrm>
            <a:off x="4773168" y="3401568"/>
            <a:ext cx="3895344" cy="402336"/>
          </a:xfrm>
          <a:prstGeom prst="rect">
            <a:avLst/>
          </a:prstGeom>
          <a:noFill/>
          <a:ln/>
        </p:spPr>
        <p:txBody>
          <a:bodyPr wrap="square" lIns="0" tIns="0" rIns="0" bIns="0" rtlCol="0" anchor="ctr"/>
          <a:lstStyle/>
          <a:p>
            <a:pPr marL="0" indent="0">
              <a:buNone/>
            </a:pPr>
            <a:r>
              <a:rPr lang="en-US" sz="950" b="1" dirty="0">
                <a:solidFill>
                  <a:srgbClr val="F9FAFB"/>
                </a:solidFill>
                <a:latin typeface="Calibri" pitchFamily="34" charset="0"/>
                <a:ea typeface="Calibri" pitchFamily="34" charset="-122"/>
                <a:cs typeface="Calibri" pitchFamily="34" charset="-120"/>
              </a:rPr>
              <a:t>Fit samo na train: </a:t>
            </a:r>
            <a:r>
              <a:rPr lang="en-US" sz="950" dirty="0">
                <a:solidFill>
                  <a:srgbClr val="9CA3AF"/>
                </a:solidFill>
                <a:latin typeface="Calibri" pitchFamily="34" charset="0"/>
                <a:ea typeface="Calibri" pitchFamily="34" charset="-122"/>
                <a:cs typeface="Calibri" pitchFamily="34" charset="-120"/>
              </a:rPr>
              <a:t>sprečava curenje informacija (data leakage)</a:t>
            </a:r>
            <a:endParaRPr lang="en-US" sz="9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365760"/>
          </a:xfrm>
          <a:prstGeom prst="rect">
            <a:avLst/>
          </a:prstGeom>
          <a:noFill/>
          <a:ln/>
        </p:spPr>
        <p:txBody>
          <a:bodyPr wrap="square" lIns="0" tIns="0" rIns="0" bIns="0" rtlCol="0" anchor="ctr"/>
          <a:lstStyle/>
          <a:p>
            <a:pPr marL="0" indent="0">
              <a:buNone/>
            </a:pPr>
            <a:r>
              <a:rPr lang="en-US" sz="1700" b="1" dirty="0">
                <a:solidFill>
                  <a:srgbClr val="10B981"/>
                </a:solidFill>
                <a:latin typeface="Calibri" pitchFamily="34" charset="0"/>
                <a:ea typeface="Calibri" pitchFamily="34" charset="-122"/>
                <a:cs typeface="Calibri" pitchFamily="34" charset="-120"/>
              </a:rPr>
              <a:t>03</a:t>
            </a:r>
            <a:r>
              <a:rPr lang="en-US" sz="1700" dirty="0">
                <a:solidFill>
                  <a:srgbClr val="9CA3AF"/>
                </a:solidFill>
                <a:latin typeface="Calibri" pitchFamily="34" charset="0"/>
                <a:ea typeface="Calibri" pitchFamily="34" charset="-122"/>
                <a:cs typeface="Calibri" pitchFamily="34" charset="-120"/>
              </a:rPr>
              <a:t>  ·  </a:t>
            </a:r>
            <a:r>
              <a:rPr lang="en-US" sz="1700" b="1" dirty="0">
                <a:solidFill>
                  <a:srgbClr val="F9FAFB"/>
                </a:solidFill>
                <a:latin typeface="Calibri" pitchFamily="34" charset="0"/>
                <a:ea typeface="Calibri" pitchFamily="34" charset="-122"/>
                <a:cs typeface="Calibri" pitchFamily="34" charset="-120"/>
              </a:rPr>
              <a:t>Arhitektura modela — MLP</a:t>
            </a:r>
            <a:endParaRPr lang="en-US" sz="1700" dirty="0"/>
          </a:p>
        </p:txBody>
      </p:sp>
      <p:sp>
        <p:nvSpPr>
          <p:cNvPr id="3" name="Shape 1"/>
          <p:cNvSpPr/>
          <p:nvPr/>
        </p:nvSpPr>
        <p:spPr>
          <a:xfrm flipV="1">
            <a:off x="728052" y="1787652"/>
            <a:ext cx="1645920" cy="466344"/>
          </a:xfrm>
          <a:prstGeom prst="line">
            <a:avLst/>
          </a:prstGeom>
          <a:noFill/>
          <a:ln w="19050">
            <a:solidFill>
              <a:srgbClr val="9CA3AF"/>
            </a:solidFill>
            <a:prstDash val="solid"/>
            <a:tailEnd type="none"/>
          </a:ln>
        </p:spPr>
      </p:sp>
      <p:sp>
        <p:nvSpPr>
          <p:cNvPr id="4" name="Shape 2"/>
          <p:cNvSpPr/>
          <p:nvPr/>
        </p:nvSpPr>
        <p:spPr>
          <a:xfrm>
            <a:off x="502920" y="1645920"/>
            <a:ext cx="237744" cy="237744"/>
          </a:xfrm>
          <a:prstGeom prst="ellipse">
            <a:avLst/>
          </a:prstGeom>
          <a:solidFill>
            <a:srgbClr val="374151">
              <a:alpha val="70000"/>
            </a:srgbClr>
          </a:solidFill>
          <a:ln w="19050">
            <a:solidFill>
              <a:srgbClr val="374151"/>
            </a:solidFill>
            <a:prstDash val="solid"/>
          </a:ln>
        </p:spPr>
      </p:sp>
      <p:sp>
        <p:nvSpPr>
          <p:cNvPr id="5" name="Shape 3"/>
          <p:cNvSpPr/>
          <p:nvPr/>
        </p:nvSpPr>
        <p:spPr>
          <a:xfrm>
            <a:off x="502920" y="2148840"/>
            <a:ext cx="237744" cy="237744"/>
          </a:xfrm>
          <a:prstGeom prst="ellipse">
            <a:avLst/>
          </a:prstGeom>
          <a:solidFill>
            <a:srgbClr val="374151">
              <a:alpha val="70000"/>
            </a:srgbClr>
          </a:solidFill>
          <a:ln w="19050">
            <a:solidFill>
              <a:srgbClr val="374151"/>
            </a:solidFill>
            <a:prstDash val="solid"/>
          </a:ln>
        </p:spPr>
      </p:sp>
      <p:sp>
        <p:nvSpPr>
          <p:cNvPr id="6" name="Shape 4"/>
          <p:cNvSpPr/>
          <p:nvPr/>
        </p:nvSpPr>
        <p:spPr>
          <a:xfrm>
            <a:off x="502920" y="2651760"/>
            <a:ext cx="237744" cy="237744"/>
          </a:xfrm>
          <a:prstGeom prst="ellipse">
            <a:avLst/>
          </a:prstGeom>
          <a:solidFill>
            <a:srgbClr val="374151">
              <a:alpha val="70000"/>
            </a:srgbClr>
          </a:solidFill>
          <a:ln w="19050">
            <a:solidFill>
              <a:srgbClr val="374151"/>
            </a:solidFill>
            <a:prstDash val="solid"/>
          </a:ln>
        </p:spPr>
      </p:sp>
      <p:sp>
        <p:nvSpPr>
          <p:cNvPr id="7" name="Shape 5"/>
          <p:cNvSpPr/>
          <p:nvPr/>
        </p:nvSpPr>
        <p:spPr>
          <a:xfrm>
            <a:off x="502920" y="3154680"/>
            <a:ext cx="237744" cy="237744"/>
          </a:xfrm>
          <a:prstGeom prst="ellipse">
            <a:avLst/>
          </a:prstGeom>
          <a:solidFill>
            <a:srgbClr val="374151">
              <a:alpha val="70000"/>
            </a:srgbClr>
          </a:solidFill>
          <a:ln w="19050">
            <a:solidFill>
              <a:srgbClr val="374151"/>
            </a:solidFill>
            <a:prstDash val="solid"/>
          </a:ln>
        </p:spPr>
      </p:sp>
      <p:sp>
        <p:nvSpPr>
          <p:cNvPr id="8" name="Shape 6"/>
          <p:cNvSpPr/>
          <p:nvPr/>
        </p:nvSpPr>
        <p:spPr>
          <a:xfrm>
            <a:off x="502920" y="3657600"/>
            <a:ext cx="237744" cy="237744"/>
          </a:xfrm>
          <a:prstGeom prst="ellipse">
            <a:avLst/>
          </a:prstGeom>
          <a:solidFill>
            <a:srgbClr val="374151">
              <a:alpha val="70000"/>
            </a:srgbClr>
          </a:solidFill>
          <a:ln w="19050">
            <a:solidFill>
              <a:srgbClr val="374151"/>
            </a:solidFill>
            <a:prstDash val="solid"/>
          </a:ln>
        </p:spPr>
      </p:sp>
      <p:sp>
        <p:nvSpPr>
          <p:cNvPr id="9" name="Text 7"/>
          <p:cNvSpPr/>
          <p:nvPr/>
        </p:nvSpPr>
        <p:spPr>
          <a:xfrm>
            <a:off x="457200" y="3909060"/>
            <a:ext cx="329184" cy="219456"/>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 · ·</a:t>
            </a:r>
            <a:endParaRPr lang="en-US" sz="900" dirty="0"/>
          </a:p>
        </p:txBody>
      </p:sp>
      <p:sp>
        <p:nvSpPr>
          <p:cNvPr id="10" name="Text 8"/>
          <p:cNvSpPr/>
          <p:nvPr/>
        </p:nvSpPr>
        <p:spPr>
          <a:xfrm>
            <a:off x="256032" y="1005840"/>
            <a:ext cx="731520" cy="292608"/>
          </a:xfrm>
          <a:prstGeom prst="rect">
            <a:avLst/>
          </a:prstGeom>
          <a:noFill/>
          <a:ln/>
        </p:spPr>
        <p:txBody>
          <a:bodyPr wrap="square" lIns="0" tIns="0" rIns="0" bIns="0" rtlCol="0" anchor="ctr"/>
          <a:lstStyle/>
          <a:p>
            <a:pPr marL="0" indent="0" algn="ctr">
              <a:buNone/>
            </a:pPr>
            <a:r>
              <a:rPr lang="en-US" sz="1800" b="1" dirty="0">
                <a:solidFill>
                  <a:srgbClr val="374151"/>
                </a:solidFill>
                <a:latin typeface="Calibri" pitchFamily="34" charset="0"/>
                <a:ea typeface="Calibri" pitchFamily="34" charset="-122"/>
                <a:cs typeface="Calibri" pitchFamily="34" charset="-120"/>
              </a:rPr>
              <a:t>23</a:t>
            </a:r>
            <a:endParaRPr lang="en-US" sz="1800" dirty="0"/>
          </a:p>
        </p:txBody>
      </p:sp>
      <p:sp>
        <p:nvSpPr>
          <p:cNvPr id="11" name="Text 9"/>
          <p:cNvSpPr/>
          <p:nvPr/>
        </p:nvSpPr>
        <p:spPr>
          <a:xfrm>
            <a:off x="256032" y="1298448"/>
            <a:ext cx="731520" cy="201168"/>
          </a:xfrm>
          <a:prstGeom prst="rect">
            <a:avLst/>
          </a:prstGeom>
          <a:noFill/>
          <a:ln/>
        </p:spPr>
        <p:txBody>
          <a:bodyPr wrap="square" lIns="0" tIns="0" rIns="0" bIns="0" rtlCol="0" anchor="ctr"/>
          <a:lstStyle/>
          <a:p>
            <a:pPr marL="0" indent="0" algn="ctr">
              <a:buNone/>
            </a:pPr>
            <a:r>
              <a:rPr lang="en-US" sz="1000" dirty="0">
                <a:solidFill>
                  <a:srgbClr val="374151"/>
                </a:solidFill>
                <a:latin typeface="Calibri" pitchFamily="34" charset="0"/>
                <a:ea typeface="Calibri" pitchFamily="34" charset="-122"/>
                <a:cs typeface="Calibri" pitchFamily="34" charset="-120"/>
              </a:rPr>
              <a:t>ulaza</a:t>
            </a:r>
            <a:endParaRPr lang="en-US" sz="1000" dirty="0"/>
          </a:p>
        </p:txBody>
      </p:sp>
      <p:sp>
        <p:nvSpPr>
          <p:cNvPr id="12" name="Text 10"/>
          <p:cNvSpPr/>
          <p:nvPr/>
        </p:nvSpPr>
        <p:spPr>
          <a:xfrm>
            <a:off x="91440" y="3794760"/>
            <a:ext cx="1060704" cy="420624"/>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Ulazni sloj</a:t>
            </a:r>
            <a:endParaRPr lang="en-US" sz="900" dirty="0"/>
          </a:p>
        </p:txBody>
      </p:sp>
      <p:sp>
        <p:nvSpPr>
          <p:cNvPr id="13" name="Shape 11"/>
          <p:cNvSpPr/>
          <p:nvPr/>
        </p:nvSpPr>
        <p:spPr>
          <a:xfrm flipV="1">
            <a:off x="2655702" y="2016252"/>
            <a:ext cx="1662314" cy="204874"/>
          </a:xfrm>
          <a:prstGeom prst="line">
            <a:avLst/>
          </a:prstGeom>
          <a:noFill/>
          <a:ln w="19050">
            <a:solidFill>
              <a:srgbClr val="9CA3AF"/>
            </a:solidFill>
            <a:prstDash val="solid"/>
            <a:tailEnd type="none"/>
          </a:ln>
        </p:spPr>
      </p:sp>
      <p:sp>
        <p:nvSpPr>
          <p:cNvPr id="14" name="Shape 12"/>
          <p:cNvSpPr/>
          <p:nvPr/>
        </p:nvSpPr>
        <p:spPr>
          <a:xfrm>
            <a:off x="2423160" y="1645920"/>
            <a:ext cx="237744" cy="237744"/>
          </a:xfrm>
          <a:prstGeom prst="ellipse">
            <a:avLst/>
          </a:prstGeom>
          <a:solidFill>
            <a:srgbClr val="10B981"/>
          </a:solidFill>
          <a:ln w="19050">
            <a:solidFill>
              <a:srgbClr val="10B981"/>
            </a:solidFill>
            <a:prstDash val="solid"/>
          </a:ln>
        </p:spPr>
      </p:sp>
      <p:sp>
        <p:nvSpPr>
          <p:cNvPr id="15" name="Shape 13"/>
          <p:cNvSpPr/>
          <p:nvPr/>
        </p:nvSpPr>
        <p:spPr>
          <a:xfrm>
            <a:off x="2423160" y="2148840"/>
            <a:ext cx="237744" cy="237744"/>
          </a:xfrm>
          <a:prstGeom prst="ellipse">
            <a:avLst/>
          </a:prstGeom>
          <a:solidFill>
            <a:srgbClr val="10B981"/>
          </a:solidFill>
          <a:ln w="19050">
            <a:solidFill>
              <a:srgbClr val="10B981"/>
            </a:solidFill>
            <a:prstDash val="solid"/>
          </a:ln>
        </p:spPr>
      </p:sp>
      <p:sp>
        <p:nvSpPr>
          <p:cNvPr id="16" name="Shape 14"/>
          <p:cNvSpPr/>
          <p:nvPr/>
        </p:nvSpPr>
        <p:spPr>
          <a:xfrm>
            <a:off x="2423160" y="2651760"/>
            <a:ext cx="237744" cy="237744"/>
          </a:xfrm>
          <a:prstGeom prst="ellipse">
            <a:avLst/>
          </a:prstGeom>
          <a:solidFill>
            <a:srgbClr val="10B981"/>
          </a:solidFill>
          <a:ln w="19050">
            <a:solidFill>
              <a:srgbClr val="10B981"/>
            </a:solidFill>
            <a:prstDash val="solid"/>
          </a:ln>
        </p:spPr>
      </p:sp>
      <p:sp>
        <p:nvSpPr>
          <p:cNvPr id="17" name="Shape 15"/>
          <p:cNvSpPr/>
          <p:nvPr/>
        </p:nvSpPr>
        <p:spPr>
          <a:xfrm>
            <a:off x="2423160" y="3154680"/>
            <a:ext cx="237744" cy="237744"/>
          </a:xfrm>
          <a:prstGeom prst="ellipse">
            <a:avLst/>
          </a:prstGeom>
          <a:solidFill>
            <a:srgbClr val="10B981"/>
          </a:solidFill>
          <a:ln w="19050">
            <a:solidFill>
              <a:srgbClr val="10B981"/>
            </a:solidFill>
            <a:prstDash val="solid"/>
          </a:ln>
        </p:spPr>
      </p:sp>
      <p:sp>
        <p:nvSpPr>
          <p:cNvPr id="18" name="Shape 16"/>
          <p:cNvSpPr/>
          <p:nvPr/>
        </p:nvSpPr>
        <p:spPr>
          <a:xfrm>
            <a:off x="2423160" y="3657600"/>
            <a:ext cx="237744" cy="237744"/>
          </a:xfrm>
          <a:prstGeom prst="ellipse">
            <a:avLst/>
          </a:prstGeom>
          <a:solidFill>
            <a:srgbClr val="10B981"/>
          </a:solidFill>
          <a:ln w="19050">
            <a:solidFill>
              <a:srgbClr val="10B981"/>
            </a:solidFill>
            <a:prstDash val="solid"/>
          </a:ln>
        </p:spPr>
      </p:sp>
      <p:sp>
        <p:nvSpPr>
          <p:cNvPr id="19" name="Text 17"/>
          <p:cNvSpPr/>
          <p:nvPr/>
        </p:nvSpPr>
        <p:spPr>
          <a:xfrm>
            <a:off x="2377440" y="3909060"/>
            <a:ext cx="329184" cy="219456"/>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 · ·</a:t>
            </a:r>
            <a:endParaRPr lang="en-US" sz="900" dirty="0"/>
          </a:p>
        </p:txBody>
      </p:sp>
      <p:sp>
        <p:nvSpPr>
          <p:cNvPr id="20" name="Text 18"/>
          <p:cNvSpPr/>
          <p:nvPr/>
        </p:nvSpPr>
        <p:spPr>
          <a:xfrm>
            <a:off x="2176272" y="1005840"/>
            <a:ext cx="731520" cy="292608"/>
          </a:xfrm>
          <a:prstGeom prst="rect">
            <a:avLst/>
          </a:prstGeom>
          <a:noFill/>
          <a:ln/>
        </p:spPr>
        <p:txBody>
          <a:bodyPr wrap="square" lIns="0" tIns="0" rIns="0" bIns="0" rtlCol="0" anchor="ctr"/>
          <a:lstStyle/>
          <a:p>
            <a:pPr marL="0" indent="0" algn="ctr">
              <a:buNone/>
            </a:pPr>
            <a:r>
              <a:rPr lang="en-US" sz="1800" b="1" dirty="0">
                <a:solidFill>
                  <a:srgbClr val="10B981"/>
                </a:solidFill>
                <a:latin typeface="Calibri" pitchFamily="34" charset="0"/>
                <a:ea typeface="Calibri" pitchFamily="34" charset="-122"/>
                <a:cs typeface="Calibri" pitchFamily="34" charset="-120"/>
              </a:rPr>
              <a:t>64</a:t>
            </a:r>
            <a:endParaRPr lang="en-US" sz="1800" dirty="0"/>
          </a:p>
        </p:txBody>
      </p:sp>
      <p:sp>
        <p:nvSpPr>
          <p:cNvPr id="21" name="Text 19"/>
          <p:cNvSpPr/>
          <p:nvPr/>
        </p:nvSpPr>
        <p:spPr>
          <a:xfrm>
            <a:off x="2176272" y="1298448"/>
            <a:ext cx="731520" cy="201168"/>
          </a:xfrm>
          <a:prstGeom prst="rect">
            <a:avLst/>
          </a:prstGeom>
          <a:noFill/>
          <a:ln/>
        </p:spPr>
        <p:txBody>
          <a:bodyPr wrap="square" lIns="0" tIns="0" rIns="0" bIns="0" rtlCol="0" anchor="ctr"/>
          <a:lstStyle/>
          <a:p>
            <a:pPr marL="0" indent="0" algn="ctr">
              <a:buNone/>
            </a:pPr>
            <a:r>
              <a:rPr lang="en-US" sz="1000" dirty="0">
                <a:solidFill>
                  <a:srgbClr val="10B981"/>
                </a:solidFill>
                <a:latin typeface="Calibri" pitchFamily="34" charset="0"/>
                <a:ea typeface="Calibri" pitchFamily="34" charset="-122"/>
                <a:cs typeface="Calibri" pitchFamily="34" charset="-120"/>
              </a:rPr>
              <a:t>neurona</a:t>
            </a:r>
            <a:endParaRPr lang="en-US" sz="1000" dirty="0"/>
          </a:p>
        </p:txBody>
      </p:sp>
      <p:sp>
        <p:nvSpPr>
          <p:cNvPr id="22" name="Text 20"/>
          <p:cNvSpPr/>
          <p:nvPr/>
        </p:nvSpPr>
        <p:spPr>
          <a:xfrm>
            <a:off x="2011680" y="3794760"/>
            <a:ext cx="1060704" cy="420624"/>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ReLU + Dropout</a:t>
            </a:r>
            <a:endParaRPr lang="en-US" sz="900" dirty="0"/>
          </a:p>
        </p:txBody>
      </p:sp>
      <p:sp>
        <p:nvSpPr>
          <p:cNvPr id="23" name="Shape 21"/>
          <p:cNvSpPr/>
          <p:nvPr/>
        </p:nvSpPr>
        <p:spPr>
          <a:xfrm>
            <a:off x="4581144" y="2547626"/>
            <a:ext cx="1386028" cy="113278"/>
          </a:xfrm>
          <a:prstGeom prst="line">
            <a:avLst/>
          </a:prstGeom>
          <a:noFill/>
          <a:ln w="19050">
            <a:solidFill>
              <a:srgbClr val="9CA3AF"/>
            </a:solidFill>
            <a:prstDash val="solid"/>
            <a:tailEnd type="none"/>
          </a:ln>
        </p:spPr>
      </p:sp>
      <p:sp>
        <p:nvSpPr>
          <p:cNvPr id="24" name="Shape 22"/>
          <p:cNvSpPr/>
          <p:nvPr/>
        </p:nvSpPr>
        <p:spPr>
          <a:xfrm>
            <a:off x="4343400" y="1897380"/>
            <a:ext cx="237744" cy="237744"/>
          </a:xfrm>
          <a:prstGeom prst="ellipse">
            <a:avLst/>
          </a:prstGeom>
          <a:solidFill>
            <a:srgbClr val="34D399"/>
          </a:solidFill>
          <a:ln w="19050">
            <a:solidFill>
              <a:srgbClr val="34D399"/>
            </a:solidFill>
            <a:prstDash val="solid"/>
          </a:ln>
        </p:spPr>
      </p:sp>
      <p:sp>
        <p:nvSpPr>
          <p:cNvPr id="25" name="Shape 23"/>
          <p:cNvSpPr/>
          <p:nvPr/>
        </p:nvSpPr>
        <p:spPr>
          <a:xfrm>
            <a:off x="4343400" y="2400300"/>
            <a:ext cx="237744" cy="237744"/>
          </a:xfrm>
          <a:prstGeom prst="ellipse">
            <a:avLst/>
          </a:prstGeom>
          <a:solidFill>
            <a:srgbClr val="34D399"/>
          </a:solidFill>
          <a:ln w="19050">
            <a:solidFill>
              <a:srgbClr val="34D399"/>
            </a:solidFill>
            <a:prstDash val="solid"/>
          </a:ln>
        </p:spPr>
      </p:sp>
      <p:sp>
        <p:nvSpPr>
          <p:cNvPr id="26" name="Shape 24"/>
          <p:cNvSpPr/>
          <p:nvPr/>
        </p:nvSpPr>
        <p:spPr>
          <a:xfrm>
            <a:off x="4343400" y="2903220"/>
            <a:ext cx="237744" cy="237744"/>
          </a:xfrm>
          <a:prstGeom prst="ellipse">
            <a:avLst/>
          </a:prstGeom>
          <a:solidFill>
            <a:srgbClr val="34D399"/>
          </a:solidFill>
          <a:ln w="19050">
            <a:solidFill>
              <a:srgbClr val="34D399"/>
            </a:solidFill>
            <a:prstDash val="solid"/>
          </a:ln>
        </p:spPr>
      </p:sp>
      <p:sp>
        <p:nvSpPr>
          <p:cNvPr id="27" name="Shape 25"/>
          <p:cNvSpPr/>
          <p:nvPr/>
        </p:nvSpPr>
        <p:spPr>
          <a:xfrm>
            <a:off x="4343400" y="3406140"/>
            <a:ext cx="237744" cy="237744"/>
          </a:xfrm>
          <a:prstGeom prst="ellipse">
            <a:avLst/>
          </a:prstGeom>
          <a:solidFill>
            <a:srgbClr val="34D399"/>
          </a:solidFill>
          <a:ln w="19050">
            <a:solidFill>
              <a:srgbClr val="34D399"/>
            </a:solidFill>
            <a:prstDash val="solid"/>
          </a:ln>
        </p:spPr>
      </p:sp>
      <p:sp>
        <p:nvSpPr>
          <p:cNvPr id="28" name="Text 26"/>
          <p:cNvSpPr/>
          <p:nvPr/>
        </p:nvSpPr>
        <p:spPr>
          <a:xfrm>
            <a:off x="4297680" y="3657600"/>
            <a:ext cx="329184" cy="219456"/>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 · ·</a:t>
            </a:r>
            <a:endParaRPr lang="en-US" sz="900" dirty="0"/>
          </a:p>
        </p:txBody>
      </p:sp>
      <p:sp>
        <p:nvSpPr>
          <p:cNvPr id="29" name="Text 27"/>
          <p:cNvSpPr/>
          <p:nvPr/>
        </p:nvSpPr>
        <p:spPr>
          <a:xfrm>
            <a:off x="4096512" y="1005840"/>
            <a:ext cx="731520" cy="292608"/>
          </a:xfrm>
          <a:prstGeom prst="rect">
            <a:avLst/>
          </a:prstGeom>
          <a:noFill/>
          <a:ln/>
        </p:spPr>
        <p:txBody>
          <a:bodyPr wrap="square" lIns="0" tIns="0" rIns="0" bIns="0" rtlCol="0" anchor="ctr"/>
          <a:lstStyle/>
          <a:p>
            <a:pPr marL="0" indent="0" algn="ctr">
              <a:buNone/>
            </a:pPr>
            <a:r>
              <a:rPr lang="en-US" sz="1800" b="1" dirty="0">
                <a:solidFill>
                  <a:srgbClr val="34D399"/>
                </a:solidFill>
                <a:latin typeface="Calibri" pitchFamily="34" charset="0"/>
                <a:ea typeface="Calibri" pitchFamily="34" charset="-122"/>
                <a:cs typeface="Calibri" pitchFamily="34" charset="-120"/>
              </a:rPr>
              <a:t>32</a:t>
            </a:r>
            <a:endParaRPr lang="en-US" sz="1800" dirty="0"/>
          </a:p>
        </p:txBody>
      </p:sp>
      <p:sp>
        <p:nvSpPr>
          <p:cNvPr id="30" name="Text 28"/>
          <p:cNvSpPr/>
          <p:nvPr/>
        </p:nvSpPr>
        <p:spPr>
          <a:xfrm>
            <a:off x="4096512" y="1298448"/>
            <a:ext cx="731520" cy="201168"/>
          </a:xfrm>
          <a:prstGeom prst="rect">
            <a:avLst/>
          </a:prstGeom>
          <a:noFill/>
          <a:ln/>
        </p:spPr>
        <p:txBody>
          <a:bodyPr wrap="square" lIns="0" tIns="0" rIns="0" bIns="0" rtlCol="0" anchor="ctr"/>
          <a:lstStyle/>
          <a:p>
            <a:pPr marL="0" indent="0" algn="ctr">
              <a:buNone/>
            </a:pPr>
            <a:r>
              <a:rPr lang="en-US" sz="1000" dirty="0">
                <a:solidFill>
                  <a:srgbClr val="34D399"/>
                </a:solidFill>
                <a:latin typeface="Calibri" pitchFamily="34" charset="0"/>
                <a:ea typeface="Calibri" pitchFamily="34" charset="-122"/>
                <a:cs typeface="Calibri" pitchFamily="34" charset="-120"/>
              </a:rPr>
              <a:t>neurona</a:t>
            </a:r>
            <a:endParaRPr lang="en-US" sz="1000" dirty="0"/>
          </a:p>
        </p:txBody>
      </p:sp>
      <p:sp>
        <p:nvSpPr>
          <p:cNvPr id="31" name="Text 29"/>
          <p:cNvSpPr/>
          <p:nvPr/>
        </p:nvSpPr>
        <p:spPr>
          <a:xfrm>
            <a:off x="3931920" y="3794760"/>
            <a:ext cx="1060704" cy="420624"/>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ReLU + Dropout</a:t>
            </a:r>
            <a:endParaRPr lang="en-US" sz="900" dirty="0"/>
          </a:p>
        </p:txBody>
      </p:sp>
      <p:sp>
        <p:nvSpPr>
          <p:cNvPr id="32" name="Shape 30"/>
          <p:cNvSpPr/>
          <p:nvPr/>
        </p:nvSpPr>
        <p:spPr>
          <a:xfrm>
            <a:off x="5943600" y="2651760"/>
            <a:ext cx="237744" cy="237744"/>
          </a:xfrm>
          <a:prstGeom prst="ellipse">
            <a:avLst/>
          </a:prstGeom>
          <a:solidFill>
            <a:srgbClr val="FBBF24"/>
          </a:solidFill>
          <a:ln w="19050">
            <a:solidFill>
              <a:srgbClr val="FBBF24"/>
            </a:solidFill>
            <a:prstDash val="solid"/>
          </a:ln>
        </p:spPr>
      </p:sp>
      <p:sp>
        <p:nvSpPr>
          <p:cNvPr id="33" name="Text 31"/>
          <p:cNvSpPr/>
          <p:nvPr/>
        </p:nvSpPr>
        <p:spPr>
          <a:xfrm>
            <a:off x="5696712" y="1005840"/>
            <a:ext cx="731520" cy="292608"/>
          </a:xfrm>
          <a:prstGeom prst="rect">
            <a:avLst/>
          </a:prstGeom>
          <a:noFill/>
          <a:ln/>
        </p:spPr>
        <p:txBody>
          <a:bodyPr wrap="square" lIns="0" tIns="0" rIns="0" bIns="0" rtlCol="0" anchor="ctr"/>
          <a:lstStyle/>
          <a:p>
            <a:pPr marL="0" indent="0" algn="ctr">
              <a:buNone/>
            </a:pPr>
            <a:r>
              <a:rPr lang="en-US" sz="1800" b="1" dirty="0">
                <a:solidFill>
                  <a:srgbClr val="FBBF24"/>
                </a:solidFill>
                <a:latin typeface="Calibri" pitchFamily="34" charset="0"/>
                <a:ea typeface="Calibri" pitchFamily="34" charset="-122"/>
                <a:cs typeface="Calibri" pitchFamily="34" charset="-120"/>
              </a:rPr>
              <a:t>1</a:t>
            </a:r>
            <a:endParaRPr lang="en-US" sz="1800" dirty="0"/>
          </a:p>
        </p:txBody>
      </p:sp>
      <p:sp>
        <p:nvSpPr>
          <p:cNvPr id="34" name="Text 32"/>
          <p:cNvSpPr/>
          <p:nvPr/>
        </p:nvSpPr>
        <p:spPr>
          <a:xfrm>
            <a:off x="5696712" y="1298448"/>
            <a:ext cx="731520" cy="201168"/>
          </a:xfrm>
          <a:prstGeom prst="rect">
            <a:avLst/>
          </a:prstGeom>
          <a:noFill/>
          <a:ln/>
        </p:spPr>
        <p:txBody>
          <a:bodyPr wrap="square" lIns="0" tIns="0" rIns="0" bIns="0" rtlCol="0" anchor="ctr"/>
          <a:lstStyle/>
          <a:p>
            <a:pPr marL="0" indent="0" algn="ctr">
              <a:buNone/>
            </a:pPr>
            <a:r>
              <a:rPr lang="en-US" sz="1000" dirty="0">
                <a:solidFill>
                  <a:srgbClr val="FBBF24"/>
                </a:solidFill>
                <a:latin typeface="Calibri" pitchFamily="34" charset="0"/>
                <a:ea typeface="Calibri" pitchFamily="34" charset="-122"/>
                <a:cs typeface="Calibri" pitchFamily="34" charset="-120"/>
              </a:rPr>
              <a:t>logit</a:t>
            </a:r>
            <a:endParaRPr lang="en-US" sz="1000" dirty="0"/>
          </a:p>
        </p:txBody>
      </p:sp>
      <p:sp>
        <p:nvSpPr>
          <p:cNvPr id="35" name="Text 33"/>
          <p:cNvSpPr/>
          <p:nvPr/>
        </p:nvSpPr>
        <p:spPr>
          <a:xfrm>
            <a:off x="5532120" y="3794760"/>
            <a:ext cx="1060704" cy="420624"/>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Sigmoid P(prevara)</a:t>
            </a:r>
            <a:endParaRPr lang="en-US" sz="900" dirty="0"/>
          </a:p>
        </p:txBody>
      </p:sp>
      <p:sp>
        <p:nvSpPr>
          <p:cNvPr id="36" name="Text 34"/>
          <p:cNvSpPr/>
          <p:nvPr/>
        </p:nvSpPr>
        <p:spPr>
          <a:xfrm>
            <a:off x="502920" y="4343400"/>
            <a:ext cx="5943600" cy="274320"/>
          </a:xfrm>
          <a:prstGeom prst="rect">
            <a:avLst/>
          </a:prstGeom>
          <a:noFill/>
          <a:ln/>
        </p:spPr>
        <p:txBody>
          <a:bodyPr wrap="square" rtlCol="0" anchor="ctr"/>
          <a:lstStyle/>
          <a:p>
            <a:pPr marL="0" indent="0">
              <a:buNone/>
            </a:pPr>
            <a:r>
              <a:rPr lang="en-US" sz="1000" dirty="0">
                <a:solidFill>
                  <a:srgbClr val="9CA3AF"/>
                </a:solidFill>
                <a:latin typeface="Calibri" pitchFamily="34" charset="0"/>
                <a:ea typeface="Calibri" pitchFamily="34" charset="-122"/>
                <a:cs typeface="Calibri" pitchFamily="34" charset="-120"/>
              </a:rPr>
              <a:t>BCEWithLogitsLoss  ·  Adam  ·  LR = 0.001</a:t>
            </a:r>
            <a:endParaRPr lang="en-US" sz="1000" dirty="0"/>
          </a:p>
        </p:txBody>
      </p:sp>
      <p:sp>
        <p:nvSpPr>
          <p:cNvPr id="37" name="Shape 35"/>
          <p:cNvSpPr/>
          <p:nvPr/>
        </p:nvSpPr>
        <p:spPr>
          <a:xfrm>
            <a:off x="6492240" y="621792"/>
            <a:ext cx="2331720" cy="4343400"/>
          </a:xfrm>
          <a:prstGeom prst="roundRect">
            <a:avLst>
              <a:gd name="adj" fmla="val 3137"/>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38" name="Text 36"/>
          <p:cNvSpPr/>
          <p:nvPr/>
        </p:nvSpPr>
        <p:spPr>
          <a:xfrm>
            <a:off x="6492240" y="749808"/>
            <a:ext cx="2331720" cy="274320"/>
          </a:xfrm>
          <a:prstGeom prst="rect">
            <a:avLst/>
          </a:prstGeom>
          <a:noFill/>
          <a:ln/>
        </p:spPr>
        <p:txBody>
          <a:bodyPr wrap="square" lIns="0" tIns="0" rIns="0" bIns="0" rtlCol="0" anchor="ctr"/>
          <a:lstStyle/>
          <a:p>
            <a:pPr marL="0" indent="0" algn="ctr">
              <a:buNone/>
            </a:pPr>
            <a:r>
              <a:rPr lang="en-US" sz="1200" b="1" dirty="0">
                <a:solidFill>
                  <a:srgbClr val="6EE7B7"/>
                </a:solidFill>
                <a:latin typeface="Calibri" pitchFamily="34" charset="0"/>
                <a:ea typeface="Calibri" pitchFamily="34" charset="-122"/>
                <a:cs typeface="Calibri" pitchFamily="34" charset="-120"/>
              </a:rPr>
              <a:t>Konfiguracija</a:t>
            </a:r>
            <a:endParaRPr lang="en-US" sz="1200" dirty="0"/>
          </a:p>
        </p:txBody>
      </p:sp>
      <p:sp>
        <p:nvSpPr>
          <p:cNvPr id="39" name="Text 37"/>
          <p:cNvSpPr/>
          <p:nvPr/>
        </p:nvSpPr>
        <p:spPr>
          <a:xfrm>
            <a:off x="6620256" y="1124712"/>
            <a:ext cx="2075688" cy="329184"/>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Aktivacija: </a:t>
            </a:r>
            <a:r>
              <a:rPr lang="en-US" sz="1000" b="1" dirty="0">
                <a:solidFill>
                  <a:srgbClr val="F9FAFB"/>
                </a:solidFill>
                <a:latin typeface="Calibri" pitchFamily="34" charset="0"/>
                <a:ea typeface="Calibri" pitchFamily="34" charset="-122"/>
                <a:cs typeface="Calibri" pitchFamily="34" charset="-120"/>
              </a:rPr>
              <a:t>ReLU (skriveni)</a:t>
            </a:r>
            <a:endParaRPr lang="en-US" sz="1000" dirty="0"/>
          </a:p>
        </p:txBody>
      </p:sp>
      <p:sp>
        <p:nvSpPr>
          <p:cNvPr id="40" name="Shape 38"/>
          <p:cNvSpPr/>
          <p:nvPr/>
        </p:nvSpPr>
        <p:spPr>
          <a:xfrm>
            <a:off x="6620256" y="1472184"/>
            <a:ext cx="2075688" cy="9144"/>
          </a:xfrm>
          <a:prstGeom prst="rect">
            <a:avLst/>
          </a:prstGeom>
          <a:solidFill>
            <a:srgbClr val="374151"/>
          </a:solidFill>
          <a:ln w="12700">
            <a:solidFill>
              <a:srgbClr val="374151"/>
            </a:solidFill>
            <a:prstDash val="solid"/>
          </a:ln>
        </p:spPr>
      </p:sp>
      <p:sp>
        <p:nvSpPr>
          <p:cNvPr id="41" name="Text 39"/>
          <p:cNvSpPr/>
          <p:nvPr/>
        </p:nvSpPr>
        <p:spPr>
          <a:xfrm>
            <a:off x="6620256" y="1527048"/>
            <a:ext cx="2075688" cy="329184"/>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Izlaz: </a:t>
            </a:r>
            <a:r>
              <a:rPr lang="en-US" sz="1000" b="1" dirty="0">
                <a:solidFill>
                  <a:srgbClr val="F9FAFB"/>
                </a:solidFill>
                <a:latin typeface="Calibri" pitchFamily="34" charset="0"/>
                <a:ea typeface="Calibri" pitchFamily="34" charset="-122"/>
                <a:cs typeface="Calibri" pitchFamily="34" charset="-120"/>
              </a:rPr>
              <a:t>Sigmoid → P(fraud)</a:t>
            </a:r>
            <a:endParaRPr lang="en-US" sz="1000" dirty="0"/>
          </a:p>
        </p:txBody>
      </p:sp>
      <p:sp>
        <p:nvSpPr>
          <p:cNvPr id="42" name="Shape 40"/>
          <p:cNvSpPr/>
          <p:nvPr/>
        </p:nvSpPr>
        <p:spPr>
          <a:xfrm>
            <a:off x="6620256" y="1874520"/>
            <a:ext cx="2075688" cy="9144"/>
          </a:xfrm>
          <a:prstGeom prst="rect">
            <a:avLst/>
          </a:prstGeom>
          <a:solidFill>
            <a:srgbClr val="374151"/>
          </a:solidFill>
          <a:ln w="12700">
            <a:solidFill>
              <a:srgbClr val="374151"/>
            </a:solidFill>
            <a:prstDash val="solid"/>
          </a:ln>
        </p:spPr>
      </p:sp>
      <p:sp>
        <p:nvSpPr>
          <p:cNvPr id="43" name="Text 41"/>
          <p:cNvSpPr/>
          <p:nvPr/>
        </p:nvSpPr>
        <p:spPr>
          <a:xfrm>
            <a:off x="6620256" y="1929384"/>
            <a:ext cx="2075688" cy="329184"/>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Loss: </a:t>
            </a:r>
            <a:r>
              <a:rPr lang="en-US" sz="1000" b="1" dirty="0">
                <a:solidFill>
                  <a:srgbClr val="F9FAFB"/>
                </a:solidFill>
                <a:latin typeface="Calibri" pitchFamily="34" charset="0"/>
                <a:ea typeface="Calibri" pitchFamily="34" charset="-122"/>
                <a:cs typeface="Calibri" pitchFamily="34" charset="-120"/>
              </a:rPr>
              <a:t>BCEWithLogitsLoss</a:t>
            </a:r>
            <a:endParaRPr lang="en-US" sz="1000" dirty="0"/>
          </a:p>
        </p:txBody>
      </p:sp>
      <p:sp>
        <p:nvSpPr>
          <p:cNvPr id="44" name="Shape 42"/>
          <p:cNvSpPr/>
          <p:nvPr/>
        </p:nvSpPr>
        <p:spPr>
          <a:xfrm>
            <a:off x="6620256" y="2276856"/>
            <a:ext cx="2075688" cy="9144"/>
          </a:xfrm>
          <a:prstGeom prst="rect">
            <a:avLst/>
          </a:prstGeom>
          <a:solidFill>
            <a:srgbClr val="374151"/>
          </a:solidFill>
          <a:ln w="12700">
            <a:solidFill>
              <a:srgbClr val="374151"/>
            </a:solidFill>
            <a:prstDash val="solid"/>
          </a:ln>
        </p:spPr>
      </p:sp>
      <p:sp>
        <p:nvSpPr>
          <p:cNvPr id="45" name="Text 43"/>
          <p:cNvSpPr/>
          <p:nvPr/>
        </p:nvSpPr>
        <p:spPr>
          <a:xfrm>
            <a:off x="6620256" y="2331720"/>
            <a:ext cx="2075688" cy="329184"/>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Optimizer: </a:t>
            </a:r>
            <a:r>
              <a:rPr lang="en-US" sz="1000" b="1" dirty="0">
                <a:solidFill>
                  <a:srgbClr val="F9FAFB"/>
                </a:solidFill>
                <a:latin typeface="Calibri" pitchFamily="34" charset="0"/>
                <a:ea typeface="Calibri" pitchFamily="34" charset="-122"/>
                <a:cs typeface="Calibri" pitchFamily="34" charset="-120"/>
              </a:rPr>
              <a:t>Adam</a:t>
            </a:r>
            <a:endParaRPr lang="en-US" sz="1000" dirty="0"/>
          </a:p>
        </p:txBody>
      </p:sp>
      <p:sp>
        <p:nvSpPr>
          <p:cNvPr id="46" name="Shape 44"/>
          <p:cNvSpPr/>
          <p:nvPr/>
        </p:nvSpPr>
        <p:spPr>
          <a:xfrm>
            <a:off x="6620256" y="2679192"/>
            <a:ext cx="2075688" cy="9144"/>
          </a:xfrm>
          <a:prstGeom prst="rect">
            <a:avLst/>
          </a:prstGeom>
          <a:solidFill>
            <a:srgbClr val="374151"/>
          </a:solidFill>
          <a:ln w="12700">
            <a:solidFill>
              <a:srgbClr val="374151"/>
            </a:solidFill>
            <a:prstDash val="solid"/>
          </a:ln>
        </p:spPr>
      </p:sp>
      <p:sp>
        <p:nvSpPr>
          <p:cNvPr id="47" name="Text 45"/>
          <p:cNvSpPr/>
          <p:nvPr/>
        </p:nvSpPr>
        <p:spPr>
          <a:xfrm>
            <a:off x="6620256" y="2734056"/>
            <a:ext cx="2075688" cy="329184"/>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LR: </a:t>
            </a:r>
            <a:r>
              <a:rPr lang="en-US" sz="1000" b="1" dirty="0">
                <a:solidFill>
                  <a:srgbClr val="F9FAFB"/>
                </a:solidFill>
                <a:latin typeface="Calibri" pitchFamily="34" charset="0"/>
                <a:ea typeface="Calibri" pitchFamily="34" charset="-122"/>
                <a:cs typeface="Calibri" pitchFamily="34" charset="-120"/>
              </a:rPr>
              <a:t>0.001</a:t>
            </a:r>
            <a:endParaRPr lang="en-US" sz="1000" dirty="0"/>
          </a:p>
        </p:txBody>
      </p:sp>
      <p:sp>
        <p:nvSpPr>
          <p:cNvPr id="48" name="Shape 46"/>
          <p:cNvSpPr/>
          <p:nvPr/>
        </p:nvSpPr>
        <p:spPr>
          <a:xfrm>
            <a:off x="6620256" y="3081528"/>
            <a:ext cx="2075688" cy="9144"/>
          </a:xfrm>
          <a:prstGeom prst="rect">
            <a:avLst/>
          </a:prstGeom>
          <a:solidFill>
            <a:srgbClr val="374151"/>
          </a:solidFill>
          <a:ln w="12700">
            <a:solidFill>
              <a:srgbClr val="374151"/>
            </a:solidFill>
            <a:prstDash val="solid"/>
          </a:ln>
        </p:spPr>
      </p:sp>
      <p:sp>
        <p:nvSpPr>
          <p:cNvPr id="49" name="Text 47"/>
          <p:cNvSpPr/>
          <p:nvPr/>
        </p:nvSpPr>
        <p:spPr>
          <a:xfrm>
            <a:off x="6620256" y="3136392"/>
            <a:ext cx="2075688" cy="329184"/>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Dropout: </a:t>
            </a:r>
            <a:r>
              <a:rPr lang="en-US" sz="1000" b="1" dirty="0">
                <a:solidFill>
                  <a:srgbClr val="F9FAFB"/>
                </a:solidFill>
                <a:latin typeface="Calibri" pitchFamily="34" charset="0"/>
                <a:ea typeface="Calibri" pitchFamily="34" charset="-122"/>
                <a:cs typeface="Calibri" pitchFamily="34" charset="-120"/>
              </a:rPr>
              <a:t>0.3  (baseline)</a:t>
            </a:r>
            <a:endParaRPr lang="en-US" sz="1000" dirty="0"/>
          </a:p>
        </p:txBody>
      </p:sp>
      <p:sp>
        <p:nvSpPr>
          <p:cNvPr id="50" name="Shape 48"/>
          <p:cNvSpPr/>
          <p:nvPr/>
        </p:nvSpPr>
        <p:spPr>
          <a:xfrm>
            <a:off x="6620256" y="3483864"/>
            <a:ext cx="2075688" cy="9144"/>
          </a:xfrm>
          <a:prstGeom prst="rect">
            <a:avLst/>
          </a:prstGeom>
          <a:solidFill>
            <a:srgbClr val="374151"/>
          </a:solidFill>
          <a:ln w="12700">
            <a:solidFill>
              <a:srgbClr val="374151"/>
            </a:solidFill>
            <a:prstDash val="solid"/>
          </a:ln>
        </p:spPr>
      </p:sp>
      <p:sp>
        <p:nvSpPr>
          <p:cNvPr id="51" name="Text 49"/>
          <p:cNvSpPr/>
          <p:nvPr/>
        </p:nvSpPr>
        <p:spPr>
          <a:xfrm>
            <a:off x="6620256" y="3538728"/>
            <a:ext cx="2075688" cy="329184"/>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Batch size: </a:t>
            </a:r>
            <a:r>
              <a:rPr lang="en-US" sz="1000" b="1" dirty="0">
                <a:solidFill>
                  <a:srgbClr val="F9FAFB"/>
                </a:solidFill>
                <a:latin typeface="Calibri" pitchFamily="34" charset="0"/>
                <a:ea typeface="Calibri" pitchFamily="34" charset="-122"/>
                <a:cs typeface="Calibri" pitchFamily="34" charset="-120"/>
              </a:rPr>
              <a:t>32</a:t>
            </a:r>
            <a:endParaRPr lang="en-US" sz="1000" dirty="0"/>
          </a:p>
        </p:txBody>
      </p:sp>
      <p:sp>
        <p:nvSpPr>
          <p:cNvPr id="52" name="Shape 50"/>
          <p:cNvSpPr/>
          <p:nvPr/>
        </p:nvSpPr>
        <p:spPr>
          <a:xfrm>
            <a:off x="6620256" y="3886200"/>
            <a:ext cx="2075688" cy="9144"/>
          </a:xfrm>
          <a:prstGeom prst="rect">
            <a:avLst/>
          </a:prstGeom>
          <a:solidFill>
            <a:srgbClr val="374151"/>
          </a:solidFill>
          <a:ln w="12700">
            <a:solidFill>
              <a:srgbClr val="374151"/>
            </a:solidFill>
            <a:prstDash val="solid"/>
          </a:ln>
        </p:spPr>
      </p:sp>
      <p:sp>
        <p:nvSpPr>
          <p:cNvPr id="53" name="Text 51"/>
          <p:cNvSpPr/>
          <p:nvPr/>
        </p:nvSpPr>
        <p:spPr>
          <a:xfrm>
            <a:off x="6620256" y="3941064"/>
            <a:ext cx="2075688" cy="329184"/>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Epohe max: </a:t>
            </a:r>
            <a:r>
              <a:rPr lang="en-US" sz="1000" b="1" dirty="0">
                <a:solidFill>
                  <a:srgbClr val="F9FAFB"/>
                </a:solidFill>
                <a:latin typeface="Calibri" pitchFamily="34" charset="0"/>
                <a:ea typeface="Calibri" pitchFamily="34" charset="-122"/>
                <a:cs typeface="Calibri" pitchFamily="34" charset="-120"/>
              </a:rPr>
              <a:t>50</a:t>
            </a:r>
            <a:endParaRPr lang="en-US" sz="1000" dirty="0"/>
          </a:p>
        </p:txBody>
      </p:sp>
      <p:sp>
        <p:nvSpPr>
          <p:cNvPr id="54" name="Shape 52"/>
          <p:cNvSpPr/>
          <p:nvPr/>
        </p:nvSpPr>
        <p:spPr>
          <a:xfrm>
            <a:off x="6620256" y="4288536"/>
            <a:ext cx="2075688" cy="9144"/>
          </a:xfrm>
          <a:prstGeom prst="rect">
            <a:avLst/>
          </a:prstGeom>
          <a:solidFill>
            <a:srgbClr val="374151"/>
          </a:solidFill>
          <a:ln w="12700">
            <a:solidFill>
              <a:srgbClr val="374151"/>
            </a:solidFill>
            <a:prstDash val="solid"/>
          </a:ln>
        </p:spPr>
      </p:sp>
      <p:sp>
        <p:nvSpPr>
          <p:cNvPr id="55" name="Text 53"/>
          <p:cNvSpPr/>
          <p:nvPr/>
        </p:nvSpPr>
        <p:spPr>
          <a:xfrm>
            <a:off x="6620256" y="4343400"/>
            <a:ext cx="2075688" cy="329184"/>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Seed: </a:t>
            </a:r>
            <a:r>
              <a:rPr lang="en-US" sz="1000" b="1" dirty="0">
                <a:solidFill>
                  <a:srgbClr val="F9FAFB"/>
                </a:solidFill>
                <a:latin typeface="Calibri" pitchFamily="34" charset="0"/>
                <a:ea typeface="Calibri" pitchFamily="34" charset="-122"/>
                <a:cs typeface="Calibri" pitchFamily="34" charset="-120"/>
              </a:rPr>
              <a:t>42</a:t>
            </a:r>
            <a:endParaRPr lang="en-US" sz="1000" dirty="0"/>
          </a:p>
        </p:txBody>
      </p:sp>
      <p:sp>
        <p:nvSpPr>
          <p:cNvPr id="56" name="Shape 1"/>
          <p:cNvSpPr/>
          <p:nvPr/>
        </p:nvSpPr>
        <p:spPr>
          <a:xfrm flipV="1">
            <a:off x="758952" y="1764792"/>
            <a:ext cx="1645919" cy="0"/>
          </a:xfrm>
          <a:prstGeom prst="line">
            <a:avLst/>
          </a:prstGeom>
          <a:noFill/>
          <a:ln w="19050">
            <a:solidFill>
              <a:srgbClr val="9CA3AF"/>
            </a:solidFill>
            <a:prstDash val="solid"/>
            <a:tailEnd type="none"/>
          </a:ln>
        </p:spPr>
      </p:sp>
      <p:sp>
        <p:nvSpPr>
          <p:cNvPr id="57" name="Shape 1"/>
          <p:cNvSpPr/>
          <p:nvPr/>
        </p:nvSpPr>
        <p:spPr>
          <a:xfrm flipV="1">
            <a:off x="755484" y="1874520"/>
            <a:ext cx="1640244" cy="877824"/>
          </a:xfrm>
          <a:prstGeom prst="line">
            <a:avLst/>
          </a:prstGeom>
          <a:noFill/>
          <a:ln w="19050">
            <a:solidFill>
              <a:srgbClr val="9CA3AF"/>
            </a:solidFill>
            <a:prstDash val="solid"/>
            <a:tailEnd type="none"/>
          </a:ln>
        </p:spPr>
      </p:sp>
      <p:sp>
        <p:nvSpPr>
          <p:cNvPr id="58" name="Shape 1"/>
          <p:cNvSpPr/>
          <p:nvPr/>
        </p:nvSpPr>
        <p:spPr>
          <a:xfrm flipV="1">
            <a:off x="745078" y="1901952"/>
            <a:ext cx="1732946" cy="1323594"/>
          </a:xfrm>
          <a:prstGeom prst="line">
            <a:avLst/>
          </a:prstGeom>
          <a:noFill/>
          <a:ln w="19050">
            <a:solidFill>
              <a:srgbClr val="9CA3AF"/>
            </a:solidFill>
            <a:prstDash val="solid"/>
            <a:tailEnd type="none"/>
          </a:ln>
        </p:spPr>
      </p:sp>
      <p:sp>
        <p:nvSpPr>
          <p:cNvPr id="59" name="Shape 1"/>
          <p:cNvSpPr/>
          <p:nvPr/>
        </p:nvSpPr>
        <p:spPr>
          <a:xfrm flipV="1">
            <a:off x="745078" y="1897380"/>
            <a:ext cx="1860962" cy="1879091"/>
          </a:xfrm>
          <a:prstGeom prst="line">
            <a:avLst/>
          </a:prstGeom>
          <a:noFill/>
          <a:ln w="19050">
            <a:solidFill>
              <a:srgbClr val="9CA3AF"/>
            </a:solidFill>
            <a:prstDash val="solid"/>
            <a:tailEnd type="none"/>
          </a:ln>
        </p:spPr>
      </p:sp>
      <p:sp>
        <p:nvSpPr>
          <p:cNvPr id="60" name="Shape 1"/>
          <p:cNvSpPr/>
          <p:nvPr/>
        </p:nvSpPr>
        <p:spPr>
          <a:xfrm>
            <a:off x="740664" y="1821942"/>
            <a:ext cx="1715762" cy="402337"/>
          </a:xfrm>
          <a:prstGeom prst="line">
            <a:avLst/>
          </a:prstGeom>
          <a:noFill/>
          <a:ln w="19050">
            <a:solidFill>
              <a:srgbClr val="9CA3AF"/>
            </a:solidFill>
            <a:prstDash val="solid"/>
            <a:tailEnd type="none"/>
          </a:ln>
        </p:spPr>
      </p:sp>
      <p:sp>
        <p:nvSpPr>
          <p:cNvPr id="61" name="Shape 1"/>
          <p:cNvSpPr/>
          <p:nvPr/>
        </p:nvSpPr>
        <p:spPr>
          <a:xfrm flipV="1">
            <a:off x="740664" y="2241420"/>
            <a:ext cx="1719072" cy="44579"/>
          </a:xfrm>
          <a:prstGeom prst="line">
            <a:avLst/>
          </a:prstGeom>
          <a:noFill/>
          <a:ln w="19050">
            <a:solidFill>
              <a:srgbClr val="9CA3AF"/>
            </a:solidFill>
            <a:prstDash val="solid"/>
            <a:tailEnd type="none"/>
          </a:ln>
        </p:spPr>
      </p:sp>
      <p:sp>
        <p:nvSpPr>
          <p:cNvPr id="62" name="Shape 1"/>
          <p:cNvSpPr/>
          <p:nvPr/>
        </p:nvSpPr>
        <p:spPr>
          <a:xfrm flipV="1">
            <a:off x="728052" y="2272283"/>
            <a:ext cx="1695108" cy="561884"/>
          </a:xfrm>
          <a:prstGeom prst="line">
            <a:avLst/>
          </a:prstGeom>
          <a:noFill/>
          <a:ln w="19050">
            <a:solidFill>
              <a:srgbClr val="9CA3AF"/>
            </a:solidFill>
            <a:prstDash val="solid"/>
            <a:tailEnd type="none"/>
          </a:ln>
        </p:spPr>
      </p:sp>
      <p:sp>
        <p:nvSpPr>
          <p:cNvPr id="63" name="Shape 1"/>
          <p:cNvSpPr/>
          <p:nvPr/>
        </p:nvSpPr>
        <p:spPr>
          <a:xfrm flipV="1">
            <a:off x="758952" y="2319618"/>
            <a:ext cx="1700784" cy="929299"/>
          </a:xfrm>
          <a:prstGeom prst="line">
            <a:avLst/>
          </a:prstGeom>
          <a:noFill/>
          <a:ln w="19050">
            <a:solidFill>
              <a:srgbClr val="9CA3AF"/>
            </a:solidFill>
            <a:prstDash val="solid"/>
            <a:tailEnd type="none"/>
          </a:ln>
        </p:spPr>
      </p:sp>
      <p:sp>
        <p:nvSpPr>
          <p:cNvPr id="64" name="Shape 1"/>
          <p:cNvSpPr/>
          <p:nvPr/>
        </p:nvSpPr>
        <p:spPr>
          <a:xfrm flipV="1">
            <a:off x="736092" y="2386584"/>
            <a:ext cx="1741932" cy="1437576"/>
          </a:xfrm>
          <a:prstGeom prst="line">
            <a:avLst/>
          </a:prstGeom>
          <a:noFill/>
          <a:ln w="19050">
            <a:solidFill>
              <a:srgbClr val="9CA3AF"/>
            </a:solidFill>
            <a:prstDash val="solid"/>
            <a:tailEnd type="none"/>
          </a:ln>
        </p:spPr>
      </p:sp>
      <p:sp>
        <p:nvSpPr>
          <p:cNvPr id="67" name="Shape 1"/>
          <p:cNvSpPr/>
          <p:nvPr/>
        </p:nvSpPr>
        <p:spPr>
          <a:xfrm>
            <a:off x="684380" y="1879327"/>
            <a:ext cx="1775356" cy="843299"/>
          </a:xfrm>
          <a:prstGeom prst="line">
            <a:avLst/>
          </a:prstGeom>
          <a:noFill/>
          <a:ln w="19050">
            <a:solidFill>
              <a:srgbClr val="9CA3AF"/>
            </a:solidFill>
            <a:prstDash val="solid"/>
            <a:tailEnd type="none"/>
          </a:ln>
        </p:spPr>
      </p:sp>
      <p:sp>
        <p:nvSpPr>
          <p:cNvPr id="68" name="Shape 1"/>
          <p:cNvSpPr/>
          <p:nvPr/>
        </p:nvSpPr>
        <p:spPr>
          <a:xfrm>
            <a:off x="722375" y="2349214"/>
            <a:ext cx="1709929" cy="384841"/>
          </a:xfrm>
          <a:prstGeom prst="line">
            <a:avLst/>
          </a:prstGeom>
          <a:noFill/>
          <a:ln w="19050">
            <a:solidFill>
              <a:srgbClr val="9CA3AF"/>
            </a:solidFill>
            <a:prstDash val="solid"/>
            <a:tailEnd type="none"/>
          </a:ln>
        </p:spPr>
      </p:sp>
      <p:sp>
        <p:nvSpPr>
          <p:cNvPr id="69" name="Shape 1"/>
          <p:cNvSpPr/>
          <p:nvPr/>
        </p:nvSpPr>
        <p:spPr>
          <a:xfrm flipV="1">
            <a:off x="761318" y="2770396"/>
            <a:ext cx="1661842" cy="14189"/>
          </a:xfrm>
          <a:prstGeom prst="line">
            <a:avLst/>
          </a:prstGeom>
          <a:noFill/>
          <a:ln w="19050">
            <a:solidFill>
              <a:srgbClr val="9CA3AF"/>
            </a:solidFill>
            <a:prstDash val="solid"/>
            <a:tailEnd type="none"/>
          </a:ln>
        </p:spPr>
      </p:sp>
      <p:sp>
        <p:nvSpPr>
          <p:cNvPr id="70" name="Shape 1"/>
          <p:cNvSpPr/>
          <p:nvPr/>
        </p:nvSpPr>
        <p:spPr>
          <a:xfrm flipV="1">
            <a:off x="728052" y="2844018"/>
            <a:ext cx="1704252" cy="500829"/>
          </a:xfrm>
          <a:prstGeom prst="line">
            <a:avLst/>
          </a:prstGeom>
          <a:noFill/>
          <a:ln w="19050">
            <a:solidFill>
              <a:srgbClr val="9CA3AF"/>
            </a:solidFill>
            <a:prstDash val="solid"/>
            <a:tailEnd type="none"/>
          </a:ln>
        </p:spPr>
      </p:sp>
      <p:sp>
        <p:nvSpPr>
          <p:cNvPr id="71" name="Shape 1"/>
          <p:cNvSpPr/>
          <p:nvPr/>
        </p:nvSpPr>
        <p:spPr>
          <a:xfrm flipV="1">
            <a:off x="729234" y="2889503"/>
            <a:ext cx="1727192" cy="971867"/>
          </a:xfrm>
          <a:prstGeom prst="line">
            <a:avLst/>
          </a:prstGeom>
          <a:noFill/>
          <a:ln w="19050">
            <a:solidFill>
              <a:srgbClr val="9CA3AF"/>
            </a:solidFill>
            <a:prstDash val="solid"/>
            <a:tailEnd type="none"/>
          </a:ln>
        </p:spPr>
      </p:sp>
      <p:sp>
        <p:nvSpPr>
          <p:cNvPr id="72" name="Shape 1"/>
          <p:cNvSpPr/>
          <p:nvPr/>
        </p:nvSpPr>
        <p:spPr>
          <a:xfrm flipV="1">
            <a:off x="705112" y="3392537"/>
            <a:ext cx="1727192" cy="513758"/>
          </a:xfrm>
          <a:prstGeom prst="line">
            <a:avLst/>
          </a:prstGeom>
          <a:noFill/>
          <a:ln w="19050">
            <a:solidFill>
              <a:srgbClr val="9CA3AF"/>
            </a:solidFill>
            <a:prstDash val="solid"/>
            <a:tailEnd type="none"/>
          </a:ln>
        </p:spPr>
      </p:sp>
      <p:sp>
        <p:nvSpPr>
          <p:cNvPr id="73" name="Shape 1"/>
          <p:cNvSpPr/>
          <p:nvPr/>
        </p:nvSpPr>
        <p:spPr>
          <a:xfrm>
            <a:off x="754538" y="3274771"/>
            <a:ext cx="1677766" cy="87934"/>
          </a:xfrm>
          <a:prstGeom prst="line">
            <a:avLst/>
          </a:prstGeom>
          <a:noFill/>
          <a:ln w="19050">
            <a:solidFill>
              <a:srgbClr val="9CA3AF"/>
            </a:solidFill>
            <a:prstDash val="solid"/>
            <a:tailEnd type="none"/>
          </a:ln>
        </p:spPr>
      </p:sp>
      <p:sp>
        <p:nvSpPr>
          <p:cNvPr id="74" name="Shape 1"/>
          <p:cNvSpPr/>
          <p:nvPr/>
        </p:nvSpPr>
        <p:spPr>
          <a:xfrm>
            <a:off x="693131" y="2861047"/>
            <a:ext cx="1757854" cy="427714"/>
          </a:xfrm>
          <a:prstGeom prst="line">
            <a:avLst/>
          </a:prstGeom>
          <a:noFill/>
          <a:ln w="19050">
            <a:solidFill>
              <a:srgbClr val="9CA3AF"/>
            </a:solidFill>
            <a:prstDash val="solid"/>
            <a:tailEnd type="none"/>
          </a:ln>
        </p:spPr>
      </p:sp>
      <p:sp>
        <p:nvSpPr>
          <p:cNvPr id="75" name="Shape 1"/>
          <p:cNvSpPr/>
          <p:nvPr/>
        </p:nvSpPr>
        <p:spPr>
          <a:xfrm>
            <a:off x="654900" y="2394274"/>
            <a:ext cx="1740828" cy="888262"/>
          </a:xfrm>
          <a:prstGeom prst="line">
            <a:avLst/>
          </a:prstGeom>
          <a:noFill/>
          <a:ln w="19050">
            <a:solidFill>
              <a:srgbClr val="9CA3AF"/>
            </a:solidFill>
            <a:prstDash val="solid"/>
            <a:tailEnd type="none"/>
          </a:ln>
        </p:spPr>
      </p:sp>
      <p:sp>
        <p:nvSpPr>
          <p:cNvPr id="76" name="Shape 1"/>
          <p:cNvSpPr/>
          <p:nvPr/>
        </p:nvSpPr>
        <p:spPr>
          <a:xfrm>
            <a:off x="722375" y="1866519"/>
            <a:ext cx="1709929" cy="1397301"/>
          </a:xfrm>
          <a:prstGeom prst="line">
            <a:avLst/>
          </a:prstGeom>
          <a:noFill/>
          <a:ln w="19050">
            <a:solidFill>
              <a:srgbClr val="9CA3AF"/>
            </a:solidFill>
            <a:prstDash val="solid"/>
            <a:tailEnd type="none"/>
          </a:ln>
        </p:spPr>
      </p:sp>
      <p:sp>
        <p:nvSpPr>
          <p:cNvPr id="77" name="Shape 1"/>
          <p:cNvSpPr/>
          <p:nvPr/>
        </p:nvSpPr>
        <p:spPr>
          <a:xfrm>
            <a:off x="736604" y="3855726"/>
            <a:ext cx="1727192" cy="21329"/>
          </a:xfrm>
          <a:prstGeom prst="line">
            <a:avLst/>
          </a:prstGeom>
          <a:noFill/>
          <a:ln w="19050">
            <a:solidFill>
              <a:srgbClr val="9CA3AF"/>
            </a:solidFill>
            <a:prstDash val="solid"/>
            <a:tailEnd type="none"/>
          </a:ln>
        </p:spPr>
      </p:sp>
      <p:sp>
        <p:nvSpPr>
          <p:cNvPr id="78" name="Shape 1"/>
          <p:cNvSpPr/>
          <p:nvPr/>
        </p:nvSpPr>
        <p:spPr>
          <a:xfrm>
            <a:off x="736092" y="1861033"/>
            <a:ext cx="1716548" cy="1976404"/>
          </a:xfrm>
          <a:prstGeom prst="line">
            <a:avLst/>
          </a:prstGeom>
          <a:noFill/>
          <a:ln w="19050">
            <a:solidFill>
              <a:srgbClr val="9CA3AF"/>
            </a:solidFill>
            <a:prstDash val="solid"/>
            <a:tailEnd type="none"/>
          </a:ln>
        </p:spPr>
      </p:sp>
      <p:sp>
        <p:nvSpPr>
          <p:cNvPr id="79" name="Shape 1"/>
          <p:cNvSpPr/>
          <p:nvPr/>
        </p:nvSpPr>
        <p:spPr>
          <a:xfrm>
            <a:off x="673620" y="3389501"/>
            <a:ext cx="1779020" cy="460744"/>
          </a:xfrm>
          <a:prstGeom prst="line">
            <a:avLst/>
          </a:prstGeom>
          <a:noFill/>
          <a:ln w="19050">
            <a:solidFill>
              <a:srgbClr val="9CA3AF"/>
            </a:solidFill>
            <a:prstDash val="solid"/>
            <a:tailEnd type="none"/>
          </a:ln>
        </p:spPr>
      </p:sp>
      <p:sp>
        <p:nvSpPr>
          <p:cNvPr id="80" name="Shape 1"/>
          <p:cNvSpPr/>
          <p:nvPr/>
        </p:nvSpPr>
        <p:spPr>
          <a:xfrm>
            <a:off x="738458" y="2836399"/>
            <a:ext cx="1677332" cy="984726"/>
          </a:xfrm>
          <a:prstGeom prst="line">
            <a:avLst/>
          </a:prstGeom>
          <a:noFill/>
          <a:ln w="19050">
            <a:solidFill>
              <a:srgbClr val="9CA3AF"/>
            </a:solidFill>
            <a:prstDash val="solid"/>
            <a:tailEnd type="none"/>
          </a:ln>
        </p:spPr>
      </p:sp>
      <p:sp>
        <p:nvSpPr>
          <p:cNvPr id="81" name="Shape 1"/>
          <p:cNvSpPr/>
          <p:nvPr/>
        </p:nvSpPr>
        <p:spPr>
          <a:xfrm>
            <a:off x="693131" y="2375985"/>
            <a:ext cx="1693453" cy="1363438"/>
          </a:xfrm>
          <a:prstGeom prst="line">
            <a:avLst/>
          </a:prstGeom>
          <a:noFill/>
          <a:ln w="19050">
            <a:solidFill>
              <a:srgbClr val="9CA3AF"/>
            </a:solidFill>
            <a:prstDash val="solid"/>
            <a:tailEnd type="none"/>
          </a:ln>
        </p:spPr>
      </p:sp>
      <p:sp>
        <p:nvSpPr>
          <p:cNvPr id="82" name="Shape 1"/>
          <p:cNvSpPr/>
          <p:nvPr/>
        </p:nvSpPr>
        <p:spPr>
          <a:xfrm>
            <a:off x="2628900" y="1715557"/>
            <a:ext cx="1719071" cy="221164"/>
          </a:xfrm>
          <a:prstGeom prst="line">
            <a:avLst/>
          </a:prstGeom>
          <a:noFill/>
          <a:ln w="19050">
            <a:solidFill>
              <a:srgbClr val="9CA3AF"/>
            </a:solidFill>
            <a:prstDash val="solid"/>
            <a:tailEnd type="none"/>
          </a:ln>
        </p:spPr>
      </p:sp>
      <p:sp>
        <p:nvSpPr>
          <p:cNvPr id="83" name="Shape 1"/>
          <p:cNvSpPr/>
          <p:nvPr/>
        </p:nvSpPr>
        <p:spPr>
          <a:xfrm>
            <a:off x="2624328" y="1721262"/>
            <a:ext cx="1773936" cy="679038"/>
          </a:xfrm>
          <a:prstGeom prst="line">
            <a:avLst/>
          </a:prstGeom>
          <a:noFill/>
          <a:ln w="19050">
            <a:solidFill>
              <a:srgbClr val="9CA3AF"/>
            </a:solidFill>
            <a:prstDash val="solid"/>
            <a:tailEnd type="none"/>
          </a:ln>
        </p:spPr>
      </p:sp>
      <p:sp>
        <p:nvSpPr>
          <p:cNvPr id="84" name="Shape 1"/>
          <p:cNvSpPr/>
          <p:nvPr/>
        </p:nvSpPr>
        <p:spPr>
          <a:xfrm>
            <a:off x="2645061" y="1846690"/>
            <a:ext cx="1753203" cy="1070245"/>
          </a:xfrm>
          <a:prstGeom prst="line">
            <a:avLst/>
          </a:prstGeom>
          <a:noFill/>
          <a:ln w="19050">
            <a:solidFill>
              <a:srgbClr val="9CA3AF"/>
            </a:solidFill>
            <a:prstDash val="solid"/>
            <a:tailEnd type="none"/>
          </a:ln>
        </p:spPr>
      </p:sp>
      <p:sp>
        <p:nvSpPr>
          <p:cNvPr id="85" name="Shape 1"/>
          <p:cNvSpPr/>
          <p:nvPr/>
        </p:nvSpPr>
        <p:spPr>
          <a:xfrm>
            <a:off x="2655702" y="1810511"/>
            <a:ext cx="1731290" cy="1595627"/>
          </a:xfrm>
          <a:prstGeom prst="line">
            <a:avLst/>
          </a:prstGeom>
          <a:noFill/>
          <a:ln w="19050">
            <a:solidFill>
              <a:srgbClr val="9CA3AF"/>
            </a:solidFill>
            <a:prstDash val="solid"/>
            <a:tailEnd type="none"/>
          </a:ln>
        </p:spPr>
      </p:sp>
      <p:sp>
        <p:nvSpPr>
          <p:cNvPr id="86" name="Shape 11"/>
          <p:cNvSpPr/>
          <p:nvPr/>
        </p:nvSpPr>
        <p:spPr>
          <a:xfrm>
            <a:off x="2681519" y="2241419"/>
            <a:ext cx="1705473" cy="195059"/>
          </a:xfrm>
          <a:prstGeom prst="line">
            <a:avLst/>
          </a:prstGeom>
          <a:noFill/>
          <a:ln w="19050">
            <a:solidFill>
              <a:srgbClr val="9CA3AF"/>
            </a:solidFill>
            <a:prstDash val="solid"/>
            <a:tailEnd type="none"/>
          </a:ln>
        </p:spPr>
      </p:sp>
      <p:sp>
        <p:nvSpPr>
          <p:cNvPr id="87" name="Shape 11"/>
          <p:cNvSpPr/>
          <p:nvPr/>
        </p:nvSpPr>
        <p:spPr>
          <a:xfrm>
            <a:off x="2690266" y="2279086"/>
            <a:ext cx="1705473" cy="674028"/>
          </a:xfrm>
          <a:prstGeom prst="line">
            <a:avLst/>
          </a:prstGeom>
          <a:noFill/>
          <a:ln w="19050">
            <a:solidFill>
              <a:srgbClr val="9CA3AF"/>
            </a:solidFill>
            <a:prstDash val="solid"/>
            <a:tailEnd type="none"/>
          </a:ln>
        </p:spPr>
      </p:sp>
      <p:sp>
        <p:nvSpPr>
          <p:cNvPr id="88" name="Shape 11"/>
          <p:cNvSpPr/>
          <p:nvPr/>
        </p:nvSpPr>
        <p:spPr>
          <a:xfrm>
            <a:off x="2658263" y="2341454"/>
            <a:ext cx="1728729" cy="1092117"/>
          </a:xfrm>
          <a:prstGeom prst="line">
            <a:avLst/>
          </a:prstGeom>
          <a:noFill/>
          <a:ln w="19050">
            <a:solidFill>
              <a:srgbClr val="9CA3AF"/>
            </a:solidFill>
            <a:prstDash val="solid"/>
            <a:tailEnd type="none"/>
          </a:ln>
        </p:spPr>
      </p:sp>
      <p:sp>
        <p:nvSpPr>
          <p:cNvPr id="89" name="Shape 11"/>
          <p:cNvSpPr/>
          <p:nvPr/>
        </p:nvSpPr>
        <p:spPr>
          <a:xfrm flipV="1">
            <a:off x="2614671" y="2036756"/>
            <a:ext cx="1728729" cy="646695"/>
          </a:xfrm>
          <a:prstGeom prst="line">
            <a:avLst/>
          </a:prstGeom>
          <a:noFill/>
          <a:ln w="19050">
            <a:solidFill>
              <a:srgbClr val="9CA3AF"/>
            </a:solidFill>
            <a:prstDash val="solid"/>
            <a:tailEnd type="none"/>
          </a:ln>
        </p:spPr>
      </p:sp>
      <p:sp>
        <p:nvSpPr>
          <p:cNvPr id="90" name="Shape 11"/>
          <p:cNvSpPr/>
          <p:nvPr/>
        </p:nvSpPr>
        <p:spPr>
          <a:xfrm flipV="1">
            <a:off x="2678680" y="2479830"/>
            <a:ext cx="1662196" cy="293014"/>
          </a:xfrm>
          <a:prstGeom prst="line">
            <a:avLst/>
          </a:prstGeom>
          <a:noFill/>
          <a:ln w="19050">
            <a:solidFill>
              <a:srgbClr val="9CA3AF"/>
            </a:solidFill>
            <a:prstDash val="solid"/>
            <a:tailEnd type="none"/>
          </a:ln>
        </p:spPr>
      </p:sp>
      <p:sp>
        <p:nvSpPr>
          <p:cNvPr id="91" name="Shape 11"/>
          <p:cNvSpPr/>
          <p:nvPr/>
        </p:nvSpPr>
        <p:spPr>
          <a:xfrm>
            <a:off x="2660275" y="2841179"/>
            <a:ext cx="1657741" cy="125651"/>
          </a:xfrm>
          <a:prstGeom prst="line">
            <a:avLst/>
          </a:prstGeom>
          <a:noFill/>
          <a:ln w="19050">
            <a:solidFill>
              <a:srgbClr val="9CA3AF"/>
            </a:solidFill>
            <a:prstDash val="solid"/>
            <a:tailEnd type="none"/>
          </a:ln>
        </p:spPr>
      </p:sp>
      <p:sp>
        <p:nvSpPr>
          <p:cNvPr id="92" name="Shape 11"/>
          <p:cNvSpPr/>
          <p:nvPr/>
        </p:nvSpPr>
        <p:spPr>
          <a:xfrm>
            <a:off x="2634184" y="2849376"/>
            <a:ext cx="1727898" cy="600113"/>
          </a:xfrm>
          <a:prstGeom prst="line">
            <a:avLst/>
          </a:prstGeom>
          <a:noFill/>
          <a:ln w="19050">
            <a:solidFill>
              <a:srgbClr val="9CA3AF"/>
            </a:solidFill>
            <a:prstDash val="solid"/>
            <a:tailEnd type="none"/>
          </a:ln>
        </p:spPr>
      </p:sp>
      <p:sp>
        <p:nvSpPr>
          <p:cNvPr id="93" name="Shape 11"/>
          <p:cNvSpPr/>
          <p:nvPr/>
        </p:nvSpPr>
        <p:spPr>
          <a:xfrm flipV="1">
            <a:off x="2634184" y="2112840"/>
            <a:ext cx="1709216" cy="1084684"/>
          </a:xfrm>
          <a:prstGeom prst="line">
            <a:avLst/>
          </a:prstGeom>
          <a:noFill/>
          <a:ln w="19050">
            <a:solidFill>
              <a:srgbClr val="9CA3AF"/>
            </a:solidFill>
            <a:prstDash val="solid"/>
            <a:tailEnd type="none"/>
          </a:ln>
        </p:spPr>
      </p:sp>
      <p:sp>
        <p:nvSpPr>
          <p:cNvPr id="94" name="Shape 11"/>
          <p:cNvSpPr/>
          <p:nvPr/>
        </p:nvSpPr>
        <p:spPr>
          <a:xfrm flipV="1">
            <a:off x="2666661" y="2550779"/>
            <a:ext cx="1647377" cy="646706"/>
          </a:xfrm>
          <a:prstGeom prst="line">
            <a:avLst/>
          </a:prstGeom>
          <a:noFill/>
          <a:ln w="19050">
            <a:solidFill>
              <a:srgbClr val="9CA3AF"/>
            </a:solidFill>
            <a:prstDash val="solid"/>
            <a:tailEnd type="none"/>
          </a:ln>
        </p:spPr>
      </p:sp>
      <p:sp>
        <p:nvSpPr>
          <p:cNvPr id="95" name="Shape 11"/>
          <p:cNvSpPr/>
          <p:nvPr/>
        </p:nvSpPr>
        <p:spPr>
          <a:xfrm flipV="1">
            <a:off x="2655702" y="3031235"/>
            <a:ext cx="1676426" cy="201685"/>
          </a:xfrm>
          <a:prstGeom prst="line">
            <a:avLst/>
          </a:prstGeom>
          <a:noFill/>
          <a:ln w="19050">
            <a:solidFill>
              <a:srgbClr val="9CA3AF"/>
            </a:solidFill>
            <a:prstDash val="solid"/>
            <a:tailEnd type="none"/>
          </a:ln>
        </p:spPr>
      </p:sp>
      <p:sp>
        <p:nvSpPr>
          <p:cNvPr id="96" name="Shape 11"/>
          <p:cNvSpPr/>
          <p:nvPr/>
        </p:nvSpPr>
        <p:spPr>
          <a:xfrm>
            <a:off x="2674779" y="3259892"/>
            <a:ext cx="1647023" cy="217031"/>
          </a:xfrm>
          <a:prstGeom prst="line">
            <a:avLst/>
          </a:prstGeom>
          <a:noFill/>
          <a:ln w="19050">
            <a:solidFill>
              <a:srgbClr val="9CA3AF"/>
            </a:solidFill>
            <a:prstDash val="solid"/>
            <a:tailEnd type="none"/>
          </a:ln>
        </p:spPr>
      </p:sp>
      <p:sp>
        <p:nvSpPr>
          <p:cNvPr id="97" name="Shape 11"/>
          <p:cNvSpPr/>
          <p:nvPr/>
        </p:nvSpPr>
        <p:spPr>
          <a:xfrm flipV="1">
            <a:off x="2593904" y="2144833"/>
            <a:ext cx="1793088" cy="1508194"/>
          </a:xfrm>
          <a:prstGeom prst="line">
            <a:avLst/>
          </a:prstGeom>
          <a:noFill/>
          <a:ln w="19050">
            <a:solidFill>
              <a:srgbClr val="9CA3AF"/>
            </a:solidFill>
            <a:prstDash val="solid"/>
            <a:tailEnd type="none"/>
          </a:ln>
        </p:spPr>
      </p:sp>
      <p:sp>
        <p:nvSpPr>
          <p:cNvPr id="98" name="Shape 11"/>
          <p:cNvSpPr/>
          <p:nvPr/>
        </p:nvSpPr>
        <p:spPr>
          <a:xfrm flipV="1">
            <a:off x="2623340" y="2621945"/>
            <a:ext cx="1745444" cy="1058053"/>
          </a:xfrm>
          <a:prstGeom prst="line">
            <a:avLst/>
          </a:prstGeom>
          <a:noFill/>
          <a:ln w="19050">
            <a:solidFill>
              <a:srgbClr val="9CA3AF"/>
            </a:solidFill>
            <a:prstDash val="solid"/>
            <a:tailEnd type="none"/>
          </a:ln>
        </p:spPr>
      </p:sp>
      <p:sp>
        <p:nvSpPr>
          <p:cNvPr id="99" name="Shape 11"/>
          <p:cNvSpPr/>
          <p:nvPr/>
        </p:nvSpPr>
        <p:spPr>
          <a:xfrm flipV="1">
            <a:off x="2655702" y="3090273"/>
            <a:ext cx="1676426" cy="710076"/>
          </a:xfrm>
          <a:prstGeom prst="line">
            <a:avLst/>
          </a:prstGeom>
          <a:noFill/>
          <a:ln w="19050">
            <a:solidFill>
              <a:srgbClr val="9CA3AF"/>
            </a:solidFill>
            <a:prstDash val="solid"/>
            <a:tailEnd type="none"/>
          </a:ln>
        </p:spPr>
      </p:sp>
      <p:sp>
        <p:nvSpPr>
          <p:cNvPr id="100" name="Shape 11"/>
          <p:cNvSpPr/>
          <p:nvPr/>
        </p:nvSpPr>
        <p:spPr>
          <a:xfrm flipV="1">
            <a:off x="2655702" y="3527609"/>
            <a:ext cx="1658336" cy="331490"/>
          </a:xfrm>
          <a:prstGeom prst="line">
            <a:avLst/>
          </a:prstGeom>
          <a:noFill/>
          <a:ln w="19050">
            <a:solidFill>
              <a:srgbClr val="9CA3AF"/>
            </a:solidFill>
            <a:prstDash val="solid"/>
            <a:tailEnd type="none"/>
          </a:ln>
        </p:spPr>
      </p:sp>
      <p:sp>
        <p:nvSpPr>
          <p:cNvPr id="101" name="Shape 1"/>
          <p:cNvSpPr/>
          <p:nvPr/>
        </p:nvSpPr>
        <p:spPr>
          <a:xfrm>
            <a:off x="4590289" y="1987112"/>
            <a:ext cx="1403721" cy="634833"/>
          </a:xfrm>
          <a:prstGeom prst="line">
            <a:avLst/>
          </a:prstGeom>
          <a:noFill/>
          <a:ln w="19050">
            <a:solidFill>
              <a:srgbClr val="9CA3AF"/>
            </a:solidFill>
            <a:prstDash val="solid"/>
            <a:tailEnd type="none"/>
          </a:ln>
        </p:spPr>
      </p:sp>
      <p:sp>
        <p:nvSpPr>
          <p:cNvPr id="102" name="Shape 1"/>
          <p:cNvSpPr/>
          <p:nvPr/>
        </p:nvSpPr>
        <p:spPr>
          <a:xfrm flipV="1">
            <a:off x="4566247" y="2743200"/>
            <a:ext cx="1341171" cy="278038"/>
          </a:xfrm>
          <a:prstGeom prst="line">
            <a:avLst/>
          </a:prstGeom>
          <a:noFill/>
          <a:ln w="19050">
            <a:solidFill>
              <a:srgbClr val="9CA3AF"/>
            </a:solidFill>
            <a:prstDash val="solid"/>
            <a:tailEnd type="none"/>
          </a:ln>
        </p:spPr>
      </p:sp>
      <p:sp>
        <p:nvSpPr>
          <p:cNvPr id="103" name="Shape 1"/>
          <p:cNvSpPr/>
          <p:nvPr/>
        </p:nvSpPr>
        <p:spPr>
          <a:xfrm flipV="1">
            <a:off x="4566247" y="2821778"/>
            <a:ext cx="1377353" cy="654199"/>
          </a:xfrm>
          <a:prstGeom prst="line">
            <a:avLst/>
          </a:prstGeom>
          <a:noFill/>
          <a:ln w="19050">
            <a:solidFill>
              <a:srgbClr val="9CA3AF"/>
            </a:solidFill>
            <a:prstDash val="solid"/>
            <a:tailEnd type="none"/>
          </a:ln>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365760"/>
          </a:xfrm>
          <a:prstGeom prst="rect">
            <a:avLst/>
          </a:prstGeom>
          <a:noFill/>
          <a:ln/>
        </p:spPr>
        <p:txBody>
          <a:bodyPr wrap="square" lIns="0" tIns="0" rIns="0" bIns="0" rtlCol="0" anchor="ctr"/>
          <a:lstStyle/>
          <a:p>
            <a:pPr marL="0" indent="0">
              <a:buNone/>
            </a:pPr>
            <a:r>
              <a:rPr lang="en-US" sz="1700" b="1" dirty="0">
                <a:solidFill>
                  <a:srgbClr val="10B981"/>
                </a:solidFill>
                <a:latin typeface="Calibri" pitchFamily="34" charset="0"/>
                <a:ea typeface="Calibri" pitchFamily="34" charset="-122"/>
                <a:cs typeface="Calibri" pitchFamily="34" charset="-120"/>
              </a:rPr>
              <a:t>04</a:t>
            </a:r>
            <a:r>
              <a:rPr lang="en-US" sz="1700" dirty="0">
                <a:solidFill>
                  <a:srgbClr val="9CA3AF"/>
                </a:solidFill>
                <a:latin typeface="Calibri" pitchFamily="34" charset="0"/>
                <a:ea typeface="Calibri" pitchFamily="34" charset="-122"/>
                <a:cs typeface="Calibri" pitchFamily="34" charset="-120"/>
              </a:rPr>
              <a:t>  ·  </a:t>
            </a:r>
            <a:r>
              <a:rPr lang="en-US" sz="1700" b="1" dirty="0">
                <a:solidFill>
                  <a:srgbClr val="F9FAFB"/>
                </a:solidFill>
                <a:latin typeface="Calibri" pitchFamily="34" charset="0"/>
                <a:ea typeface="Calibri" pitchFamily="34" charset="-122"/>
                <a:cs typeface="Calibri" pitchFamily="34" charset="-120"/>
              </a:rPr>
              <a:t>Trening &amp; Early Stopping</a:t>
            </a:r>
            <a:endParaRPr lang="en-US" sz="1700" dirty="0"/>
          </a:p>
        </p:txBody>
      </p:sp>
      <p:sp>
        <p:nvSpPr>
          <p:cNvPr id="3" name="Shape 1"/>
          <p:cNvSpPr/>
          <p:nvPr/>
        </p:nvSpPr>
        <p:spPr>
          <a:xfrm>
            <a:off x="365760" y="658368"/>
            <a:ext cx="4078224" cy="347472"/>
          </a:xfrm>
          <a:prstGeom prst="roundRect">
            <a:avLst>
              <a:gd name="adj" fmla="val 21053"/>
            </a:avLst>
          </a:prstGeom>
          <a:solidFill>
            <a:srgbClr val="1A1510"/>
          </a:solidFill>
          <a:ln w="7620">
            <a:solidFill>
              <a:srgbClr val="374151"/>
            </a:solidFill>
            <a:prstDash val="solid"/>
          </a:ln>
        </p:spPr>
      </p:sp>
      <p:sp>
        <p:nvSpPr>
          <p:cNvPr id="4" name="Text 2"/>
          <p:cNvSpPr/>
          <p:nvPr/>
        </p:nvSpPr>
        <p:spPr>
          <a:xfrm>
            <a:off x="493776" y="713232"/>
            <a:ext cx="3822192" cy="237744"/>
          </a:xfrm>
          <a:prstGeom prst="rect">
            <a:avLst/>
          </a:prstGeom>
          <a:noFill/>
          <a:ln/>
        </p:spPr>
        <p:txBody>
          <a:bodyPr wrap="square" lIns="0" tIns="0" rIns="0" bIns="0" rtlCol="0" anchor="ctr"/>
          <a:lstStyle/>
          <a:p>
            <a:pPr marL="0" indent="0">
              <a:buNone/>
            </a:pPr>
            <a:r>
              <a:rPr lang="en-US" sz="1200" b="1" dirty="0">
                <a:solidFill>
                  <a:srgbClr val="FBBF24"/>
                </a:solidFill>
                <a:latin typeface="Calibri" pitchFamily="34" charset="0"/>
                <a:ea typeface="Calibri" pitchFamily="34" charset="-122"/>
                <a:cs typeface="Calibri" pitchFamily="34" charset="-120"/>
              </a:rPr>
              <a:t>Faza 1  —  bez Early Stopping</a:t>
            </a:r>
            <a:endParaRPr lang="en-US" sz="1200" dirty="0"/>
          </a:p>
        </p:txBody>
      </p:sp>
      <p:sp>
        <p:nvSpPr>
          <p:cNvPr id="5" name="Shape 3"/>
          <p:cNvSpPr/>
          <p:nvPr/>
        </p:nvSpPr>
        <p:spPr>
          <a:xfrm>
            <a:off x="365760" y="1115568"/>
            <a:ext cx="4078224" cy="566928"/>
          </a:xfrm>
          <a:prstGeom prst="roundRect">
            <a:avLst>
              <a:gd name="adj" fmla="val 12903"/>
            </a:avLst>
          </a:prstGeom>
          <a:solidFill>
            <a:srgbClr val="1F2937"/>
          </a:solidFill>
          <a:ln w="7620">
            <a:solidFill>
              <a:srgbClr val="374151"/>
            </a:solidFill>
            <a:prstDash val="solid"/>
          </a:ln>
        </p:spPr>
      </p:sp>
      <p:sp>
        <p:nvSpPr>
          <p:cNvPr id="6" name="Text 4"/>
          <p:cNvSpPr/>
          <p:nvPr/>
        </p:nvSpPr>
        <p:spPr>
          <a:xfrm>
            <a:off x="493776" y="1188720"/>
            <a:ext cx="3822192" cy="420624"/>
          </a:xfrm>
          <a:prstGeom prst="rect">
            <a:avLst/>
          </a:prstGeom>
          <a:noFill/>
          <a:ln/>
        </p:spPr>
        <p:txBody>
          <a:bodyPr wrap="square" lIns="0" tIns="0" rIns="0" bIns="0" rtlCol="0" anchor="ctr"/>
          <a:lstStyle/>
          <a:p>
            <a:pPr marL="0" indent="0">
              <a:buNone/>
            </a:pPr>
            <a:r>
              <a:rPr lang="en-US" sz="1000" b="1" dirty="0">
                <a:solidFill>
                  <a:srgbClr val="FBBF24"/>
                </a:solidFill>
                <a:latin typeface="Calibri" pitchFamily="34" charset="0"/>
                <a:ea typeface="Calibri" pitchFamily="34" charset="-122"/>
                <a:cs typeface="Calibri" pitchFamily="34" charset="-120"/>
              </a:rPr>
              <a:t>50 epoha:</a:t>
            </a:r>
            <a:r>
              <a:rPr lang="en-US" sz="1000" dirty="0">
                <a:solidFill>
                  <a:srgbClr val="9CA3AF"/>
                </a:solidFill>
                <a:latin typeface="Calibri" pitchFamily="34" charset="0"/>
                <a:ea typeface="Calibri" pitchFamily="34" charset="-122"/>
                <a:cs typeface="Calibri" pitchFamily="34" charset="-120"/>
              </a:rPr>
              <a:t>  bez ograničenja (analiza ponašanja)</a:t>
            </a:r>
            <a:endParaRPr lang="en-US" sz="1000" dirty="0"/>
          </a:p>
        </p:txBody>
      </p:sp>
      <p:sp>
        <p:nvSpPr>
          <p:cNvPr id="7" name="Shape 5"/>
          <p:cNvSpPr/>
          <p:nvPr/>
        </p:nvSpPr>
        <p:spPr>
          <a:xfrm>
            <a:off x="365760" y="1755648"/>
            <a:ext cx="4078224" cy="566928"/>
          </a:xfrm>
          <a:prstGeom prst="roundRect">
            <a:avLst>
              <a:gd name="adj" fmla="val 12903"/>
            </a:avLst>
          </a:prstGeom>
          <a:solidFill>
            <a:srgbClr val="1F2937"/>
          </a:solidFill>
          <a:ln w="7620">
            <a:solidFill>
              <a:srgbClr val="374151"/>
            </a:solidFill>
            <a:prstDash val="solid"/>
          </a:ln>
        </p:spPr>
      </p:sp>
      <p:sp>
        <p:nvSpPr>
          <p:cNvPr id="8" name="Text 6"/>
          <p:cNvSpPr/>
          <p:nvPr/>
        </p:nvSpPr>
        <p:spPr>
          <a:xfrm>
            <a:off x="493776" y="1828800"/>
            <a:ext cx="3822192" cy="420624"/>
          </a:xfrm>
          <a:prstGeom prst="rect">
            <a:avLst/>
          </a:prstGeom>
          <a:noFill/>
          <a:ln/>
        </p:spPr>
        <p:txBody>
          <a:bodyPr wrap="square" lIns="0" tIns="0" rIns="0" bIns="0" rtlCol="0" anchor="ctr"/>
          <a:lstStyle/>
          <a:p>
            <a:pPr marL="0" indent="0">
              <a:buNone/>
            </a:pPr>
            <a:r>
              <a:rPr lang="en-US" sz="1000" b="1" dirty="0">
                <a:solidFill>
                  <a:srgbClr val="FBBF24"/>
                </a:solidFill>
                <a:latin typeface="Calibri" pitchFamily="34" charset="0"/>
                <a:ea typeface="Calibri" pitchFamily="34" charset="-122"/>
                <a:cs typeface="Calibri" pitchFamily="34" charset="-120"/>
              </a:rPr>
              <a:t>Train Loss:</a:t>
            </a:r>
            <a:r>
              <a:rPr lang="en-US" sz="1000" dirty="0">
                <a:solidFill>
                  <a:srgbClr val="9CA3AF"/>
                </a:solidFill>
                <a:latin typeface="Calibri" pitchFamily="34" charset="0"/>
                <a:ea typeface="Calibri" pitchFamily="34" charset="-122"/>
                <a:cs typeface="Calibri" pitchFamily="34" charset="-120"/>
              </a:rPr>
              <a:t>  kontinuirano opada → 0.0121</a:t>
            </a:r>
            <a:endParaRPr lang="en-US" sz="1000" dirty="0"/>
          </a:p>
        </p:txBody>
      </p:sp>
      <p:sp>
        <p:nvSpPr>
          <p:cNvPr id="9" name="Shape 7"/>
          <p:cNvSpPr/>
          <p:nvPr/>
        </p:nvSpPr>
        <p:spPr>
          <a:xfrm>
            <a:off x="365760" y="2395728"/>
            <a:ext cx="4078224" cy="566928"/>
          </a:xfrm>
          <a:prstGeom prst="roundRect">
            <a:avLst>
              <a:gd name="adj" fmla="val 12903"/>
            </a:avLst>
          </a:prstGeom>
          <a:solidFill>
            <a:srgbClr val="1F2937"/>
          </a:solidFill>
          <a:ln w="7620">
            <a:solidFill>
              <a:srgbClr val="374151"/>
            </a:solidFill>
            <a:prstDash val="solid"/>
          </a:ln>
        </p:spPr>
      </p:sp>
      <p:sp>
        <p:nvSpPr>
          <p:cNvPr id="10" name="Text 8"/>
          <p:cNvSpPr/>
          <p:nvPr/>
        </p:nvSpPr>
        <p:spPr>
          <a:xfrm>
            <a:off x="493776" y="2468880"/>
            <a:ext cx="3822192" cy="420624"/>
          </a:xfrm>
          <a:prstGeom prst="rect">
            <a:avLst/>
          </a:prstGeom>
          <a:noFill/>
          <a:ln/>
        </p:spPr>
        <p:txBody>
          <a:bodyPr wrap="square" lIns="0" tIns="0" rIns="0" bIns="0" rtlCol="0" anchor="ctr"/>
          <a:lstStyle/>
          <a:p>
            <a:pPr marL="0" indent="0">
              <a:buNone/>
            </a:pPr>
            <a:r>
              <a:rPr lang="en-US" sz="1000" b="1" dirty="0">
                <a:solidFill>
                  <a:srgbClr val="FBBF24"/>
                </a:solidFill>
                <a:latin typeface="Calibri" pitchFamily="34" charset="0"/>
                <a:ea typeface="Calibri" pitchFamily="34" charset="-122"/>
                <a:cs typeface="Calibri" pitchFamily="34" charset="-120"/>
              </a:rPr>
              <a:t>Val Loss:</a:t>
            </a:r>
            <a:r>
              <a:rPr lang="en-US" sz="1000" dirty="0">
                <a:solidFill>
                  <a:srgbClr val="9CA3AF"/>
                </a:solidFill>
                <a:latin typeface="Calibri" pitchFamily="34" charset="0"/>
                <a:ea typeface="Calibri" pitchFamily="34" charset="-122"/>
                <a:cs typeface="Calibri" pitchFamily="34" charset="-120"/>
              </a:rPr>
              <a:t>  stagnira posle 25. epohe</a:t>
            </a:r>
            <a:endParaRPr lang="en-US" sz="1000" dirty="0"/>
          </a:p>
        </p:txBody>
      </p:sp>
      <p:sp>
        <p:nvSpPr>
          <p:cNvPr id="11" name="Shape 9"/>
          <p:cNvSpPr/>
          <p:nvPr/>
        </p:nvSpPr>
        <p:spPr>
          <a:xfrm>
            <a:off x="365760" y="3035808"/>
            <a:ext cx="4078224" cy="566928"/>
          </a:xfrm>
          <a:prstGeom prst="roundRect">
            <a:avLst>
              <a:gd name="adj" fmla="val 12903"/>
            </a:avLst>
          </a:prstGeom>
          <a:solidFill>
            <a:srgbClr val="1F2937"/>
          </a:solidFill>
          <a:ln w="7620">
            <a:solidFill>
              <a:srgbClr val="374151"/>
            </a:solidFill>
            <a:prstDash val="solid"/>
          </a:ln>
        </p:spPr>
      </p:sp>
      <p:sp>
        <p:nvSpPr>
          <p:cNvPr id="12" name="Text 10"/>
          <p:cNvSpPr/>
          <p:nvPr/>
        </p:nvSpPr>
        <p:spPr>
          <a:xfrm>
            <a:off x="493776" y="3108960"/>
            <a:ext cx="3822192" cy="420624"/>
          </a:xfrm>
          <a:prstGeom prst="rect">
            <a:avLst/>
          </a:prstGeom>
          <a:noFill/>
          <a:ln/>
        </p:spPr>
        <p:txBody>
          <a:bodyPr wrap="square" lIns="0" tIns="0" rIns="0" bIns="0" rtlCol="0" anchor="ctr"/>
          <a:lstStyle/>
          <a:p>
            <a:pPr marL="0" indent="0">
              <a:buNone/>
            </a:pPr>
            <a:r>
              <a:rPr lang="en-US" sz="1000" b="1" dirty="0">
                <a:solidFill>
                  <a:srgbClr val="FBBF24"/>
                </a:solidFill>
                <a:latin typeface="Calibri" pitchFamily="34" charset="0"/>
                <a:ea typeface="Calibri" pitchFamily="34" charset="-122"/>
                <a:cs typeface="Calibri" pitchFamily="34" charset="-120"/>
              </a:rPr>
              <a:t>Epoha 44:</a:t>
            </a:r>
            <a:r>
              <a:rPr lang="en-US" sz="1000" dirty="0">
                <a:solidFill>
                  <a:srgbClr val="9CA3AF"/>
                </a:solidFill>
                <a:latin typeface="Calibri" pitchFamily="34" charset="0"/>
                <a:ea typeface="Calibri" pitchFamily="34" charset="-122"/>
                <a:cs typeface="Calibri" pitchFamily="34" charset="-120"/>
              </a:rPr>
              <a:t>  Val Loss skače na 0.0132 (oscilacije)</a:t>
            </a:r>
            <a:endParaRPr lang="en-US" sz="1000" dirty="0"/>
          </a:p>
        </p:txBody>
      </p:sp>
      <p:sp>
        <p:nvSpPr>
          <p:cNvPr id="13" name="Shape 11"/>
          <p:cNvSpPr/>
          <p:nvPr/>
        </p:nvSpPr>
        <p:spPr>
          <a:xfrm>
            <a:off x="365760" y="3675888"/>
            <a:ext cx="4078224" cy="566928"/>
          </a:xfrm>
          <a:prstGeom prst="roundRect">
            <a:avLst>
              <a:gd name="adj" fmla="val 12903"/>
            </a:avLst>
          </a:prstGeom>
          <a:solidFill>
            <a:srgbClr val="1F2937"/>
          </a:solidFill>
          <a:ln w="7620">
            <a:solidFill>
              <a:srgbClr val="374151"/>
            </a:solidFill>
            <a:prstDash val="solid"/>
          </a:ln>
        </p:spPr>
      </p:sp>
      <p:sp>
        <p:nvSpPr>
          <p:cNvPr id="14" name="Text 12"/>
          <p:cNvSpPr/>
          <p:nvPr/>
        </p:nvSpPr>
        <p:spPr>
          <a:xfrm>
            <a:off x="493776" y="3749040"/>
            <a:ext cx="3822192" cy="420624"/>
          </a:xfrm>
          <a:prstGeom prst="rect">
            <a:avLst/>
          </a:prstGeom>
          <a:noFill/>
          <a:ln/>
        </p:spPr>
        <p:txBody>
          <a:bodyPr wrap="square" lIns="0" tIns="0" rIns="0" bIns="0" rtlCol="0" anchor="ctr"/>
          <a:lstStyle/>
          <a:p>
            <a:pPr marL="0" indent="0">
              <a:buNone/>
            </a:pPr>
            <a:r>
              <a:rPr lang="en-US" sz="1000" b="1" dirty="0">
                <a:solidFill>
                  <a:srgbClr val="FBBF24"/>
                </a:solidFill>
                <a:latin typeface="Calibri" pitchFamily="34" charset="0"/>
                <a:ea typeface="Calibri" pitchFamily="34" charset="-122"/>
                <a:cs typeface="Calibri" pitchFamily="34" charset="-120"/>
              </a:rPr>
              <a:t>Zaključak:</a:t>
            </a:r>
            <a:r>
              <a:rPr lang="en-US" sz="1000" dirty="0">
                <a:solidFill>
                  <a:srgbClr val="9CA3AF"/>
                </a:solidFill>
                <a:latin typeface="Calibri" pitchFamily="34" charset="0"/>
                <a:ea typeface="Calibri" pitchFamily="34" charset="-122"/>
                <a:cs typeface="Calibri" pitchFamily="34" charset="-120"/>
              </a:rPr>
              <a:t>  model pamti trening skup — overfitting!</a:t>
            </a:r>
            <a:endParaRPr lang="en-US" sz="1000" dirty="0"/>
          </a:p>
        </p:txBody>
      </p:sp>
      <p:sp>
        <p:nvSpPr>
          <p:cNvPr id="15" name="Shape 13"/>
          <p:cNvSpPr/>
          <p:nvPr/>
        </p:nvSpPr>
        <p:spPr>
          <a:xfrm>
            <a:off x="4681728" y="658368"/>
            <a:ext cx="4078224" cy="347472"/>
          </a:xfrm>
          <a:prstGeom prst="roundRect">
            <a:avLst>
              <a:gd name="adj" fmla="val 21053"/>
            </a:avLst>
          </a:prstGeom>
          <a:solidFill>
            <a:srgbClr val="0D2218"/>
          </a:solidFill>
          <a:ln w="7620">
            <a:solidFill>
              <a:srgbClr val="374151"/>
            </a:solidFill>
            <a:prstDash val="solid"/>
          </a:ln>
        </p:spPr>
      </p:sp>
      <p:sp>
        <p:nvSpPr>
          <p:cNvPr id="16" name="Text 14"/>
          <p:cNvSpPr/>
          <p:nvPr/>
        </p:nvSpPr>
        <p:spPr>
          <a:xfrm>
            <a:off x="4809744" y="713232"/>
            <a:ext cx="3822192" cy="237744"/>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Faza 2  —  sa Early Stopping  ✓</a:t>
            </a:r>
            <a:endParaRPr lang="en-US" sz="1200" dirty="0"/>
          </a:p>
        </p:txBody>
      </p:sp>
      <p:sp>
        <p:nvSpPr>
          <p:cNvPr id="17" name="Shape 15"/>
          <p:cNvSpPr/>
          <p:nvPr/>
        </p:nvSpPr>
        <p:spPr>
          <a:xfrm>
            <a:off x="4681728" y="1115568"/>
            <a:ext cx="4078224" cy="566928"/>
          </a:xfrm>
          <a:prstGeom prst="roundRect">
            <a:avLst>
              <a:gd name="adj" fmla="val 12903"/>
            </a:avLst>
          </a:prstGeom>
          <a:solidFill>
            <a:srgbClr val="1F2937"/>
          </a:solidFill>
          <a:ln w="7620">
            <a:solidFill>
              <a:srgbClr val="374151"/>
            </a:solidFill>
            <a:prstDash val="solid"/>
          </a:ln>
        </p:spPr>
      </p:sp>
      <p:sp>
        <p:nvSpPr>
          <p:cNvPr id="18" name="Text 16"/>
          <p:cNvSpPr/>
          <p:nvPr/>
        </p:nvSpPr>
        <p:spPr>
          <a:xfrm>
            <a:off x="4809744" y="1188720"/>
            <a:ext cx="3822192" cy="420624"/>
          </a:xfrm>
          <a:prstGeom prst="rect">
            <a:avLst/>
          </a:prstGeom>
          <a:noFill/>
          <a:ln/>
        </p:spPr>
        <p:txBody>
          <a:bodyPr wrap="square" lIns="0" tIns="0" rIns="0" bIns="0" rtlCol="0" anchor="ctr"/>
          <a:lstStyle/>
          <a:p>
            <a:pPr marL="0" indent="0">
              <a:buNone/>
            </a:pPr>
            <a:r>
              <a:rPr lang="en-US" sz="1000" b="1" dirty="0">
                <a:solidFill>
                  <a:srgbClr val="34D399"/>
                </a:solidFill>
                <a:latin typeface="Calibri" pitchFamily="34" charset="0"/>
                <a:ea typeface="Calibri" pitchFamily="34" charset="-122"/>
                <a:cs typeface="Calibri" pitchFamily="34" charset="-120"/>
              </a:rPr>
              <a:t>patience=10,  δ=0.0001:</a:t>
            </a:r>
            <a:r>
              <a:rPr lang="en-US" sz="1000" dirty="0">
                <a:solidFill>
                  <a:srgbClr val="9CA3AF"/>
                </a:solidFill>
                <a:latin typeface="Calibri" pitchFamily="34" charset="0"/>
                <a:ea typeface="Calibri" pitchFamily="34" charset="-122"/>
                <a:cs typeface="Calibri" pitchFamily="34" charset="-120"/>
              </a:rPr>
              <a:t>  EarlyStopping parametri</a:t>
            </a:r>
            <a:endParaRPr lang="en-US" sz="1000" dirty="0"/>
          </a:p>
        </p:txBody>
      </p:sp>
      <p:sp>
        <p:nvSpPr>
          <p:cNvPr id="19" name="Shape 17"/>
          <p:cNvSpPr/>
          <p:nvPr/>
        </p:nvSpPr>
        <p:spPr>
          <a:xfrm>
            <a:off x="4681728" y="1755648"/>
            <a:ext cx="4078224" cy="566928"/>
          </a:xfrm>
          <a:prstGeom prst="roundRect">
            <a:avLst>
              <a:gd name="adj" fmla="val 12903"/>
            </a:avLst>
          </a:prstGeom>
          <a:solidFill>
            <a:srgbClr val="1F2937"/>
          </a:solidFill>
          <a:ln w="7620">
            <a:solidFill>
              <a:srgbClr val="374151"/>
            </a:solidFill>
            <a:prstDash val="solid"/>
          </a:ln>
        </p:spPr>
      </p:sp>
      <p:sp>
        <p:nvSpPr>
          <p:cNvPr id="20" name="Text 18"/>
          <p:cNvSpPr/>
          <p:nvPr/>
        </p:nvSpPr>
        <p:spPr>
          <a:xfrm>
            <a:off x="4809744" y="1828800"/>
            <a:ext cx="3822192" cy="420624"/>
          </a:xfrm>
          <a:prstGeom prst="rect">
            <a:avLst/>
          </a:prstGeom>
          <a:noFill/>
          <a:ln/>
        </p:spPr>
        <p:txBody>
          <a:bodyPr wrap="square" lIns="0" tIns="0" rIns="0" bIns="0" rtlCol="0" anchor="ctr"/>
          <a:lstStyle/>
          <a:p>
            <a:pPr marL="0" indent="0">
              <a:buNone/>
            </a:pPr>
            <a:r>
              <a:rPr lang="en-US" sz="1000" b="1" dirty="0">
                <a:solidFill>
                  <a:srgbClr val="34D399"/>
                </a:solidFill>
                <a:latin typeface="Calibri" pitchFamily="34" charset="0"/>
                <a:ea typeface="Calibri" pitchFamily="34" charset="-122"/>
                <a:cs typeface="Calibri" pitchFamily="34" charset="-120"/>
              </a:rPr>
              <a:t>Epoha 25:</a:t>
            </a:r>
            <a:r>
              <a:rPr lang="en-US" sz="1000" dirty="0">
                <a:solidFill>
                  <a:srgbClr val="9CA3AF"/>
                </a:solidFill>
                <a:latin typeface="Calibri" pitchFamily="34" charset="0"/>
                <a:ea typeface="Calibri" pitchFamily="34" charset="-122"/>
                <a:cs typeface="Calibri" pitchFamily="34" charset="-120"/>
              </a:rPr>
              <a:t>  minimalni Val Loss = 0.0124  ← sačuvan</a:t>
            </a:r>
            <a:endParaRPr lang="en-US" sz="1000" dirty="0"/>
          </a:p>
        </p:txBody>
      </p:sp>
      <p:sp>
        <p:nvSpPr>
          <p:cNvPr id="21" name="Shape 19"/>
          <p:cNvSpPr/>
          <p:nvPr/>
        </p:nvSpPr>
        <p:spPr>
          <a:xfrm>
            <a:off x="4681728" y="2395728"/>
            <a:ext cx="4078224" cy="566928"/>
          </a:xfrm>
          <a:prstGeom prst="roundRect">
            <a:avLst>
              <a:gd name="adj" fmla="val 12903"/>
            </a:avLst>
          </a:prstGeom>
          <a:solidFill>
            <a:srgbClr val="1F2937"/>
          </a:solidFill>
          <a:ln w="7620">
            <a:solidFill>
              <a:srgbClr val="374151"/>
            </a:solidFill>
            <a:prstDash val="solid"/>
          </a:ln>
        </p:spPr>
      </p:sp>
      <p:sp>
        <p:nvSpPr>
          <p:cNvPr id="22" name="Text 20"/>
          <p:cNvSpPr/>
          <p:nvPr/>
        </p:nvSpPr>
        <p:spPr>
          <a:xfrm>
            <a:off x="4809744" y="2468880"/>
            <a:ext cx="3822192" cy="420624"/>
          </a:xfrm>
          <a:prstGeom prst="rect">
            <a:avLst/>
          </a:prstGeom>
          <a:noFill/>
          <a:ln/>
        </p:spPr>
        <p:txBody>
          <a:bodyPr wrap="square" lIns="0" tIns="0" rIns="0" bIns="0" rtlCol="0" anchor="ctr"/>
          <a:lstStyle/>
          <a:p>
            <a:pPr marL="0" indent="0">
              <a:buNone/>
            </a:pPr>
            <a:r>
              <a:rPr lang="en-US" sz="1000" b="1" dirty="0">
                <a:solidFill>
                  <a:srgbClr val="34D399"/>
                </a:solidFill>
                <a:latin typeface="Calibri" pitchFamily="34" charset="0"/>
                <a:ea typeface="Calibri" pitchFamily="34" charset="-122"/>
                <a:cs typeface="Calibri" pitchFamily="34" charset="-120"/>
              </a:rPr>
              <a:t>Epoha 35:</a:t>
            </a:r>
            <a:r>
              <a:rPr lang="en-US" sz="1000" dirty="0">
                <a:solidFill>
                  <a:srgbClr val="9CA3AF"/>
                </a:solidFill>
                <a:latin typeface="Calibri" pitchFamily="34" charset="0"/>
                <a:ea typeface="Calibri" pitchFamily="34" charset="-122"/>
                <a:cs typeface="Calibri" pitchFamily="34" charset="-120"/>
              </a:rPr>
              <a:t>  trening automatski prekinut</a:t>
            </a:r>
            <a:endParaRPr lang="en-US" sz="1000" dirty="0"/>
          </a:p>
        </p:txBody>
      </p:sp>
      <p:sp>
        <p:nvSpPr>
          <p:cNvPr id="23" name="Shape 21"/>
          <p:cNvSpPr/>
          <p:nvPr/>
        </p:nvSpPr>
        <p:spPr>
          <a:xfrm>
            <a:off x="4681728" y="3035808"/>
            <a:ext cx="4078224" cy="566928"/>
          </a:xfrm>
          <a:prstGeom prst="roundRect">
            <a:avLst>
              <a:gd name="adj" fmla="val 12903"/>
            </a:avLst>
          </a:prstGeom>
          <a:solidFill>
            <a:srgbClr val="1F2937"/>
          </a:solidFill>
          <a:ln w="7620">
            <a:solidFill>
              <a:srgbClr val="374151"/>
            </a:solidFill>
            <a:prstDash val="solid"/>
          </a:ln>
        </p:spPr>
      </p:sp>
      <p:sp>
        <p:nvSpPr>
          <p:cNvPr id="24" name="Text 22"/>
          <p:cNvSpPr/>
          <p:nvPr/>
        </p:nvSpPr>
        <p:spPr>
          <a:xfrm>
            <a:off x="4809744" y="3108960"/>
            <a:ext cx="3822192" cy="420624"/>
          </a:xfrm>
          <a:prstGeom prst="rect">
            <a:avLst/>
          </a:prstGeom>
          <a:noFill/>
          <a:ln/>
        </p:spPr>
        <p:txBody>
          <a:bodyPr wrap="square" lIns="0" tIns="0" rIns="0" bIns="0" rtlCol="0" anchor="ctr"/>
          <a:lstStyle/>
          <a:p>
            <a:pPr marL="0" indent="0">
              <a:buNone/>
            </a:pPr>
            <a:r>
              <a:rPr lang="en-US" sz="1000" b="1" dirty="0">
                <a:solidFill>
                  <a:srgbClr val="34D399"/>
                </a:solidFill>
                <a:latin typeface="Calibri" pitchFamily="34" charset="0"/>
                <a:ea typeface="Calibri" pitchFamily="34" charset="-122"/>
                <a:cs typeface="Calibri" pitchFamily="34" charset="-120"/>
              </a:rPr>
              <a:t>model.load_state_dict():</a:t>
            </a:r>
            <a:r>
              <a:rPr lang="en-US" sz="1000" dirty="0">
                <a:solidFill>
                  <a:srgbClr val="9CA3AF"/>
                </a:solidFill>
                <a:latin typeface="Calibri" pitchFamily="34" charset="0"/>
                <a:ea typeface="Calibri" pitchFamily="34" charset="-122"/>
                <a:cs typeface="Calibri" pitchFamily="34" charset="-120"/>
              </a:rPr>
              <a:t>  best_fraud_model.pth učitan za evaluaciju</a:t>
            </a:r>
            <a:endParaRPr lang="en-US" sz="1000" dirty="0"/>
          </a:p>
        </p:txBody>
      </p:sp>
      <p:sp>
        <p:nvSpPr>
          <p:cNvPr id="25" name="Shape 23"/>
          <p:cNvSpPr/>
          <p:nvPr/>
        </p:nvSpPr>
        <p:spPr>
          <a:xfrm>
            <a:off x="4681728" y="3675888"/>
            <a:ext cx="4078224" cy="566928"/>
          </a:xfrm>
          <a:prstGeom prst="roundRect">
            <a:avLst>
              <a:gd name="adj" fmla="val 12903"/>
            </a:avLst>
          </a:prstGeom>
          <a:solidFill>
            <a:srgbClr val="1F2937"/>
          </a:solidFill>
          <a:ln w="7620">
            <a:solidFill>
              <a:srgbClr val="374151"/>
            </a:solidFill>
            <a:prstDash val="solid"/>
          </a:ln>
        </p:spPr>
      </p:sp>
      <p:sp>
        <p:nvSpPr>
          <p:cNvPr id="26" name="Text 24"/>
          <p:cNvSpPr/>
          <p:nvPr/>
        </p:nvSpPr>
        <p:spPr>
          <a:xfrm>
            <a:off x="4809744" y="3749040"/>
            <a:ext cx="3822192" cy="420624"/>
          </a:xfrm>
          <a:prstGeom prst="rect">
            <a:avLst/>
          </a:prstGeom>
          <a:noFill/>
          <a:ln/>
        </p:spPr>
        <p:txBody>
          <a:bodyPr wrap="square" lIns="0" tIns="0" rIns="0" bIns="0" rtlCol="0" anchor="ctr"/>
          <a:lstStyle/>
          <a:p>
            <a:pPr marL="0" indent="0">
              <a:buNone/>
            </a:pPr>
            <a:r>
              <a:rPr lang="en-US" sz="1000" b="1" dirty="0">
                <a:solidFill>
                  <a:srgbClr val="34D399"/>
                </a:solidFill>
                <a:latin typeface="Calibri" pitchFamily="34" charset="0"/>
                <a:ea typeface="Calibri" pitchFamily="34" charset="-122"/>
                <a:cs typeface="Calibri" pitchFamily="34" charset="-120"/>
              </a:rPr>
              <a:t>Uštedeli smo:</a:t>
            </a:r>
            <a:r>
              <a:rPr lang="en-US" sz="1000" dirty="0">
                <a:solidFill>
                  <a:srgbClr val="9CA3AF"/>
                </a:solidFill>
                <a:latin typeface="Calibri" pitchFamily="34" charset="0"/>
                <a:ea typeface="Calibri" pitchFamily="34" charset="-122"/>
                <a:cs typeface="Calibri" pitchFamily="34" charset="-120"/>
              </a:rPr>
              <a:t>  15 nepotrebnih epoha (35 &lt; 50)</a:t>
            </a:r>
            <a:endParaRPr lang="en-US" sz="1000" dirty="0"/>
          </a:p>
        </p:txBody>
      </p:sp>
      <p:sp>
        <p:nvSpPr>
          <p:cNvPr id="27" name="Shape 25"/>
          <p:cNvSpPr/>
          <p:nvPr/>
        </p:nvSpPr>
        <p:spPr>
          <a:xfrm>
            <a:off x="365760" y="4434840"/>
            <a:ext cx="8412480" cy="384048"/>
          </a:xfrm>
          <a:prstGeom prst="roundRect">
            <a:avLst>
              <a:gd name="adj" fmla="val 19048"/>
            </a:avLst>
          </a:prstGeom>
          <a:solidFill>
            <a:srgbClr val="0D1E14"/>
          </a:solidFill>
          <a:ln w="7620">
            <a:solidFill>
              <a:srgbClr val="374151"/>
            </a:solidFill>
            <a:prstDash val="solid"/>
          </a:ln>
        </p:spPr>
      </p:sp>
      <p:sp>
        <p:nvSpPr>
          <p:cNvPr id="28" name="Text 26"/>
          <p:cNvSpPr/>
          <p:nvPr/>
        </p:nvSpPr>
        <p:spPr>
          <a:xfrm>
            <a:off x="530352" y="4471416"/>
            <a:ext cx="8083296" cy="310896"/>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Loss kriva je jasno pokazala stagnaciju validacionog gubitka → Early Stopping je prekinuo trening u pravo vreme</a:t>
            </a:r>
            <a:endParaRPr lang="en-US" sz="1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365760"/>
          </a:xfrm>
          <a:prstGeom prst="rect">
            <a:avLst/>
          </a:prstGeom>
          <a:noFill/>
          <a:ln/>
        </p:spPr>
        <p:txBody>
          <a:bodyPr wrap="square" lIns="0" tIns="0" rIns="0" bIns="0" rtlCol="0" anchor="ctr"/>
          <a:lstStyle/>
          <a:p>
            <a:pPr marL="0" indent="0">
              <a:buNone/>
            </a:pPr>
            <a:r>
              <a:rPr lang="en-US" sz="1700" b="1" dirty="0">
                <a:solidFill>
                  <a:srgbClr val="10B981"/>
                </a:solidFill>
                <a:latin typeface="Calibri" pitchFamily="34" charset="0"/>
                <a:ea typeface="Calibri" pitchFamily="34" charset="-122"/>
                <a:cs typeface="Calibri" pitchFamily="34" charset="-120"/>
              </a:rPr>
              <a:t>05</a:t>
            </a:r>
            <a:r>
              <a:rPr lang="en-US" sz="1700" dirty="0">
                <a:solidFill>
                  <a:srgbClr val="9CA3AF"/>
                </a:solidFill>
                <a:latin typeface="Calibri" pitchFamily="34" charset="0"/>
                <a:ea typeface="Calibri" pitchFamily="34" charset="-122"/>
                <a:cs typeface="Calibri" pitchFamily="34" charset="-120"/>
              </a:rPr>
              <a:t>  ·  </a:t>
            </a:r>
            <a:r>
              <a:rPr lang="en-US" sz="1700" b="1" dirty="0">
                <a:solidFill>
                  <a:srgbClr val="F9FAFB"/>
                </a:solidFill>
                <a:latin typeface="Calibri" pitchFamily="34" charset="0"/>
                <a:ea typeface="Calibri" pitchFamily="34" charset="-122"/>
                <a:cs typeface="Calibri" pitchFamily="34" charset="-120"/>
              </a:rPr>
              <a:t>Hiperparametarska optimizacija</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658368"/>
          <a:ext cx="6236208" cy="3291840"/>
        </p:xfrm>
        <a:graphic>
          <a:graphicData uri="http://schemas.openxmlformats.org/drawingml/2006/table">
            <a:tbl>
              <a:tblPr/>
              <a:tblGrid>
                <a:gridCol w="23317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tblGrid>
              <a:tr h="365760">
                <a:tc>
                  <a:txBody>
                    <a:bodyPr/>
                    <a:lstStyle/>
                    <a:p>
                      <a:pPr marL="0" indent="0" algn="ctr">
                        <a:buNone/>
                      </a:pPr>
                      <a:r>
                        <a:rPr lang="en-US" sz="1050" b="1" dirty="0">
                          <a:solidFill>
                            <a:srgbClr val="F9FAFB"/>
                          </a:solidFill>
                          <a:latin typeface="Calibri" pitchFamily="34" charset="0"/>
                          <a:ea typeface="Calibri" pitchFamily="34" charset="-122"/>
                          <a:cs typeface="Calibri" pitchFamily="34" charset="-120"/>
                        </a:rPr>
                        <a:t>Konfiguracija</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b="1" dirty="0">
                          <a:solidFill>
                            <a:srgbClr val="F9FAFB"/>
                          </a:solidFill>
                          <a:latin typeface="Calibri" pitchFamily="34" charset="0"/>
                          <a:ea typeface="Calibri" pitchFamily="34" charset="-122"/>
                          <a:cs typeface="Calibri" pitchFamily="34" charset="-120"/>
                        </a:rPr>
                        <a:t>Hidden</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b="1" dirty="0">
                          <a:solidFill>
                            <a:srgbClr val="F9FAFB"/>
                          </a:solidFill>
                          <a:latin typeface="Calibri" pitchFamily="34" charset="0"/>
                          <a:ea typeface="Calibri" pitchFamily="34" charset="-122"/>
                          <a:cs typeface="Calibri" pitchFamily="34" charset="-120"/>
                        </a:rPr>
                        <a:t>Dropout</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b="1" dirty="0">
                          <a:solidFill>
                            <a:srgbClr val="F9FAFB"/>
                          </a:solidFill>
                          <a:latin typeface="Calibri" pitchFamily="34" charset="0"/>
                          <a:ea typeface="Calibri" pitchFamily="34" charset="-122"/>
                          <a:cs typeface="Calibri" pitchFamily="34" charset="-120"/>
                        </a:rPr>
                        <a:t>LR</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b="1" dirty="0">
                          <a:solidFill>
                            <a:srgbClr val="F9FAFB"/>
                          </a:solidFill>
                          <a:latin typeface="Calibri" pitchFamily="34" charset="0"/>
                          <a:ea typeface="Calibri" pitchFamily="34" charset="-122"/>
                          <a:cs typeface="Calibri" pitchFamily="34" charset="-120"/>
                        </a:rPr>
                        <a:t>Val Loss</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b="1" dirty="0">
                          <a:solidFill>
                            <a:srgbClr val="F9FAFB"/>
                          </a:solidFill>
                          <a:latin typeface="Calibri" pitchFamily="34" charset="0"/>
                          <a:ea typeface="Calibri" pitchFamily="34" charset="-122"/>
                          <a:cs typeface="Calibri" pitchFamily="34" charset="-120"/>
                        </a:rPr>
                        <a:t>Epohe</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0"/>
                  </a:ext>
                </a:extLst>
              </a:tr>
              <a:tr h="365760">
                <a:tc>
                  <a:txBody>
                    <a:bodyPr/>
                    <a:lstStyle/>
                    <a:p>
                      <a:pPr marL="0" indent="0" algn="ctr">
                        <a:buNone/>
                      </a:pPr>
                      <a:r>
                        <a:rPr lang="en-US" sz="1050" b="1" dirty="0">
                          <a:solidFill>
                            <a:srgbClr val="34D399"/>
                          </a:solidFill>
                          <a:latin typeface="Calibri" pitchFamily="34" charset="0"/>
                          <a:ea typeface="Calibri" pitchFamily="34" charset="-122"/>
                          <a:cs typeface="Calibri" pitchFamily="34" charset="-120"/>
                        </a:rPr>
                        <a:t>Manji Dropout ★</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(64, 32)</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34D399"/>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0.001</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b="1" dirty="0">
                          <a:solidFill>
                            <a:srgbClr val="10B981"/>
                          </a:solidFill>
                          <a:latin typeface="Calibri" pitchFamily="34" charset="0"/>
                          <a:ea typeface="Calibri" pitchFamily="34" charset="-122"/>
                          <a:cs typeface="Calibri" pitchFamily="34" charset="-120"/>
                        </a:rPr>
                        <a:t>0.0110</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1"/>
                  </a:ext>
                </a:extLst>
              </a:tr>
              <a:tr h="365760">
                <a:tc>
                  <a:txBody>
                    <a:bodyPr/>
                    <a:lstStyle/>
                    <a:p>
                      <a:pPr marL="0" indent="0" algn="ctr">
                        <a:buNone/>
                      </a:pPr>
                      <a:r>
                        <a:rPr lang="en-US" sz="1050" dirty="0">
                          <a:solidFill>
                            <a:srgbClr val="F9FAFB"/>
                          </a:solidFill>
                          <a:latin typeface="Calibri" pitchFamily="34" charset="0"/>
                          <a:ea typeface="Calibri" pitchFamily="34" charset="-122"/>
                          <a:cs typeface="Calibri" pitchFamily="34" charset="-120"/>
                        </a:rPr>
                        <a:t>Veća mreža</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(128,64)</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0.3</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0.001</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0.0116</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29</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2"/>
                  </a:ext>
                </a:extLst>
              </a:tr>
              <a:tr h="365760">
                <a:tc>
                  <a:txBody>
                    <a:bodyPr/>
                    <a:lstStyle/>
                    <a:p>
                      <a:pPr marL="0" indent="0" algn="ctr">
                        <a:buNone/>
                      </a:pPr>
                      <a:r>
                        <a:rPr lang="en-US" sz="1050" dirty="0">
                          <a:solidFill>
                            <a:srgbClr val="F9FAFB"/>
                          </a:solidFill>
                          <a:latin typeface="Calibri" pitchFamily="34" charset="0"/>
                          <a:ea typeface="Calibri" pitchFamily="34" charset="-122"/>
                          <a:cs typeface="Calibri" pitchFamily="34" charset="-120"/>
                        </a:rPr>
                        <a:t>Kombinovano</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(128,64)</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34D399"/>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0.001</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0.0119</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3"/>
                  </a:ext>
                </a:extLst>
              </a:tr>
              <a:tr h="365760">
                <a:tc>
                  <a:txBody>
                    <a:bodyPr/>
                    <a:lstStyle/>
                    <a:p>
                      <a:pPr marL="0" indent="0" algn="ctr">
                        <a:buNone/>
                      </a:pPr>
                      <a:r>
                        <a:rPr lang="en-US" sz="1050" dirty="0">
                          <a:solidFill>
                            <a:srgbClr val="F9FAFB"/>
                          </a:solidFill>
                          <a:latin typeface="Calibri" pitchFamily="34" charset="0"/>
                          <a:ea typeface="Calibri" pitchFamily="34" charset="-122"/>
                          <a:cs typeface="Calibri" pitchFamily="34" charset="-120"/>
                        </a:rPr>
                        <a:t>Baseline</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(64, 32)</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0.3</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0.001</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0.0124</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4"/>
                  </a:ext>
                </a:extLst>
              </a:tr>
              <a:tr h="365760">
                <a:tc>
                  <a:txBody>
                    <a:bodyPr/>
                    <a:lstStyle/>
                    <a:p>
                      <a:pPr marL="0" indent="0" algn="ctr">
                        <a:buNone/>
                      </a:pPr>
                      <a:r>
                        <a:rPr lang="en-US" sz="1050" dirty="0">
                          <a:solidFill>
                            <a:srgbClr val="F9FAFB"/>
                          </a:solidFill>
                          <a:latin typeface="Calibri" pitchFamily="34" charset="0"/>
                          <a:ea typeface="Calibri" pitchFamily="34" charset="-122"/>
                          <a:cs typeface="Calibri" pitchFamily="34" charset="-120"/>
                        </a:rPr>
                        <a:t>Manja mreža</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(32, 16)</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0.3</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0.001</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0.0133</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F87171"/>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5"/>
                  </a:ext>
                </a:extLst>
              </a:tr>
              <a:tr h="365760">
                <a:tc>
                  <a:txBody>
                    <a:bodyPr/>
                    <a:lstStyle/>
                    <a:p>
                      <a:pPr marL="0" indent="0" algn="ctr">
                        <a:buNone/>
                      </a:pPr>
                      <a:r>
                        <a:rPr lang="en-US" sz="1050" dirty="0">
                          <a:solidFill>
                            <a:srgbClr val="F9FAFB"/>
                          </a:solidFill>
                          <a:latin typeface="Calibri" pitchFamily="34" charset="0"/>
                          <a:ea typeface="Calibri" pitchFamily="34" charset="-122"/>
                          <a:cs typeface="Calibri" pitchFamily="34" charset="-120"/>
                        </a:rPr>
                        <a:t>Veći Dropout</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(64, 32)</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F87171"/>
                          </a:solidFill>
                          <a:latin typeface="Calibri" pitchFamily="34" charset="0"/>
                          <a:ea typeface="Calibri" pitchFamily="34" charset="-122"/>
                          <a:cs typeface="Calibri" pitchFamily="34" charset="-120"/>
                        </a:rPr>
                        <a:t>0.5</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0.001</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0.0138</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F87171"/>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6"/>
                  </a:ext>
                </a:extLst>
              </a:tr>
              <a:tr h="365760">
                <a:tc>
                  <a:txBody>
                    <a:bodyPr/>
                    <a:lstStyle/>
                    <a:p>
                      <a:pPr marL="0" indent="0" algn="ctr">
                        <a:buNone/>
                      </a:pPr>
                      <a:r>
                        <a:rPr lang="en-US" sz="1050" dirty="0">
                          <a:solidFill>
                            <a:srgbClr val="F9FAFB"/>
                          </a:solidFill>
                          <a:latin typeface="Calibri" pitchFamily="34" charset="0"/>
                          <a:ea typeface="Calibri" pitchFamily="34" charset="-122"/>
                          <a:cs typeface="Calibri" pitchFamily="34" charset="-120"/>
                        </a:rPr>
                        <a:t>Manji LR</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(64, 32)</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0.3</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FBBF24"/>
                          </a:solidFill>
                          <a:latin typeface="Calibri" pitchFamily="34" charset="0"/>
                          <a:ea typeface="Calibri" pitchFamily="34" charset="-122"/>
                          <a:cs typeface="Calibri" pitchFamily="34" charset="-120"/>
                        </a:rPr>
                        <a:t>0.0001</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0.0146</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F87171"/>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7"/>
                  </a:ext>
                </a:extLst>
              </a:tr>
              <a:tr h="365760">
                <a:tc>
                  <a:txBody>
                    <a:bodyPr/>
                    <a:lstStyle/>
                    <a:p>
                      <a:pPr marL="0" indent="0" algn="ctr">
                        <a:buNone/>
                      </a:pPr>
                      <a:r>
                        <a:rPr lang="en-US" sz="1050" dirty="0">
                          <a:solidFill>
                            <a:srgbClr val="F9FAFB"/>
                          </a:solidFill>
                          <a:latin typeface="Calibri" pitchFamily="34" charset="0"/>
                          <a:ea typeface="Calibri" pitchFamily="34" charset="-122"/>
                          <a:cs typeface="Calibri" pitchFamily="34" charset="-120"/>
                        </a:rPr>
                        <a:t>Veći LR</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(64, 32)</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0.3</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F87171"/>
                          </a:solidFill>
                          <a:latin typeface="Calibri" pitchFamily="34" charset="0"/>
                          <a:ea typeface="Calibri" pitchFamily="34" charset="-122"/>
                          <a:cs typeface="Calibri" pitchFamily="34" charset="-120"/>
                        </a:rPr>
                        <a:t>0.01</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F87171"/>
                          </a:solidFill>
                          <a:latin typeface="Calibri" pitchFamily="34" charset="0"/>
                          <a:ea typeface="Calibri" pitchFamily="34" charset="-122"/>
                          <a:cs typeface="Calibri" pitchFamily="34" charset="-120"/>
                        </a:rPr>
                        <a:t>0.0221</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050" dirty="0">
                          <a:solidFill>
                            <a:srgbClr val="9CA3AF"/>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8"/>
                  </a:ext>
                </a:extLst>
              </a:tr>
            </a:tbl>
          </a:graphicData>
        </a:graphic>
      </p:graphicFrame>
      <p:sp>
        <p:nvSpPr>
          <p:cNvPr id="4" name="Shape 1"/>
          <p:cNvSpPr/>
          <p:nvPr/>
        </p:nvSpPr>
        <p:spPr>
          <a:xfrm>
            <a:off x="365760" y="4096512"/>
            <a:ext cx="2712720" cy="822960"/>
          </a:xfrm>
          <a:prstGeom prst="roundRect">
            <a:avLst>
              <a:gd name="adj" fmla="val 8889"/>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5" name="Text 2"/>
          <p:cNvSpPr/>
          <p:nvPr/>
        </p:nvSpPr>
        <p:spPr>
          <a:xfrm>
            <a:off x="475488" y="4142232"/>
            <a:ext cx="2493264" cy="237744"/>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Dropout 0.1 → pobednik</a:t>
            </a:r>
            <a:endParaRPr lang="en-US" sz="1000" dirty="0"/>
          </a:p>
        </p:txBody>
      </p:sp>
      <p:sp>
        <p:nvSpPr>
          <p:cNvPr id="6" name="Text 3"/>
          <p:cNvSpPr/>
          <p:nvPr/>
        </p:nvSpPr>
        <p:spPr>
          <a:xfrm>
            <a:off x="475488" y="4389120"/>
            <a:ext cx="2493264" cy="475488"/>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Manja regularizacija oslobađa kapacitet za fine obrasce finansijskih anomalija</a:t>
            </a:r>
            <a:endParaRPr lang="en-US" sz="850" dirty="0"/>
          </a:p>
        </p:txBody>
      </p:sp>
      <p:sp>
        <p:nvSpPr>
          <p:cNvPr id="7" name="Shape 4"/>
          <p:cNvSpPr/>
          <p:nvPr/>
        </p:nvSpPr>
        <p:spPr>
          <a:xfrm>
            <a:off x="3224784" y="4096512"/>
            <a:ext cx="2712720" cy="822960"/>
          </a:xfrm>
          <a:prstGeom prst="roundRect">
            <a:avLst>
              <a:gd name="adj" fmla="val 8889"/>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3" name="Text 5"/>
          <p:cNvSpPr/>
          <p:nvPr/>
        </p:nvSpPr>
        <p:spPr>
          <a:xfrm>
            <a:off x="3334512" y="4142232"/>
            <a:ext cx="2493264" cy="237744"/>
          </a:xfrm>
          <a:prstGeom prst="rect">
            <a:avLst/>
          </a:prstGeom>
          <a:noFill/>
          <a:ln/>
        </p:spPr>
        <p:txBody>
          <a:bodyPr wrap="square" lIns="0" tIns="0" rIns="0" bIns="0" rtlCol="0" anchor="ctr"/>
          <a:lstStyle/>
          <a:p>
            <a:pPr marL="0" indent="0">
              <a:buNone/>
            </a:pPr>
            <a:r>
              <a:rPr lang="en-US" sz="1000" b="1" dirty="0">
                <a:solidFill>
                  <a:srgbClr val="60A5FA"/>
                </a:solidFill>
                <a:latin typeface="Calibri" pitchFamily="34" charset="0"/>
                <a:ea typeface="Calibri" pitchFamily="34" charset="-122"/>
                <a:cs typeface="Calibri" pitchFamily="34" charset="-120"/>
              </a:rPr>
              <a:t>Veća mreža brže konvergira</a:t>
            </a:r>
            <a:endParaRPr lang="en-US" sz="1000" dirty="0"/>
          </a:p>
        </p:txBody>
      </p:sp>
      <p:sp>
        <p:nvSpPr>
          <p:cNvPr id="9" name="Text 6"/>
          <p:cNvSpPr/>
          <p:nvPr/>
        </p:nvSpPr>
        <p:spPr>
          <a:xfrm>
            <a:off x="3334512" y="4389120"/>
            <a:ext cx="2493264" cy="475488"/>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(128,64) zaustavlja se na epohi 29 vs 35 kod baseline — isti nivo kvaliteta</a:t>
            </a:r>
            <a:endParaRPr lang="en-US" sz="850" dirty="0"/>
          </a:p>
        </p:txBody>
      </p:sp>
      <p:sp>
        <p:nvSpPr>
          <p:cNvPr id="10" name="Shape 7"/>
          <p:cNvSpPr/>
          <p:nvPr/>
        </p:nvSpPr>
        <p:spPr>
          <a:xfrm>
            <a:off x="6083808" y="4096512"/>
            <a:ext cx="2712720" cy="822960"/>
          </a:xfrm>
          <a:prstGeom prst="roundRect">
            <a:avLst>
              <a:gd name="adj" fmla="val 8889"/>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11" name="Text 8"/>
          <p:cNvSpPr/>
          <p:nvPr/>
        </p:nvSpPr>
        <p:spPr>
          <a:xfrm>
            <a:off x="6193536" y="4142232"/>
            <a:ext cx="2493264" cy="237744"/>
          </a:xfrm>
          <a:prstGeom prst="rect">
            <a:avLst/>
          </a:prstGeom>
          <a:noFill/>
          <a:ln/>
        </p:spPr>
        <p:txBody>
          <a:bodyPr wrap="square" lIns="0" tIns="0" rIns="0" bIns="0" rtlCol="0" anchor="ctr"/>
          <a:lstStyle/>
          <a:p>
            <a:pPr marL="0" indent="0">
              <a:buNone/>
            </a:pPr>
            <a:r>
              <a:rPr lang="en-US" sz="1000" b="1" dirty="0">
                <a:solidFill>
                  <a:srgbClr val="FBBF24"/>
                </a:solidFill>
                <a:latin typeface="Calibri" pitchFamily="34" charset="0"/>
                <a:ea typeface="Calibri" pitchFamily="34" charset="-122"/>
                <a:cs typeface="Calibri" pitchFamily="34" charset="-120"/>
              </a:rPr>
              <a:t>LR = 0.001 je optimalan</a:t>
            </a:r>
            <a:endParaRPr lang="en-US" sz="1000" dirty="0"/>
          </a:p>
        </p:txBody>
      </p:sp>
      <p:sp>
        <p:nvSpPr>
          <p:cNvPr id="12" name="Text 9"/>
          <p:cNvSpPr/>
          <p:nvPr/>
        </p:nvSpPr>
        <p:spPr>
          <a:xfrm>
            <a:off x="6193536" y="4389120"/>
            <a:ext cx="2493264" cy="475488"/>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0.01 destabilizuje optimizaciju (0.0221), 0.0001 je prespor (nije konvergirao)</a:t>
            </a:r>
            <a:endParaRPr lang="en-US" sz="8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365760"/>
          </a:xfrm>
          <a:prstGeom prst="rect">
            <a:avLst/>
          </a:prstGeom>
          <a:noFill/>
          <a:ln/>
        </p:spPr>
        <p:txBody>
          <a:bodyPr wrap="square" lIns="0" tIns="0" rIns="0" bIns="0" rtlCol="0" anchor="ctr"/>
          <a:lstStyle/>
          <a:p>
            <a:pPr marL="0" indent="0">
              <a:buNone/>
            </a:pPr>
            <a:r>
              <a:rPr lang="en-US" sz="1700" b="1" dirty="0">
                <a:solidFill>
                  <a:srgbClr val="10B981"/>
                </a:solidFill>
                <a:latin typeface="Calibri" pitchFamily="34" charset="0"/>
                <a:ea typeface="Calibri" pitchFamily="34" charset="-122"/>
                <a:cs typeface="Calibri" pitchFamily="34" charset="-120"/>
              </a:rPr>
              <a:t>06</a:t>
            </a:r>
            <a:r>
              <a:rPr lang="en-US" sz="1700" dirty="0">
                <a:solidFill>
                  <a:srgbClr val="9CA3AF"/>
                </a:solidFill>
                <a:latin typeface="Calibri" pitchFamily="34" charset="0"/>
                <a:ea typeface="Calibri" pitchFamily="34" charset="-122"/>
                <a:cs typeface="Calibri" pitchFamily="34" charset="-120"/>
              </a:rPr>
              <a:t>  ·  </a:t>
            </a:r>
            <a:r>
              <a:rPr lang="en-US" sz="1700" b="1" dirty="0">
                <a:solidFill>
                  <a:srgbClr val="F9FAFB"/>
                </a:solidFill>
                <a:latin typeface="Calibri" pitchFamily="34" charset="0"/>
                <a:ea typeface="Calibri" pitchFamily="34" charset="-122"/>
                <a:cs typeface="Calibri" pitchFamily="34" charset="-120"/>
              </a:rPr>
              <a:t>Rezultati evaluacije  —  test skup: 40.000 transakcija</a:t>
            </a:r>
            <a:endParaRPr lang="en-US" sz="1700" dirty="0"/>
          </a:p>
        </p:txBody>
      </p:sp>
      <p:sp>
        <p:nvSpPr>
          <p:cNvPr id="3" name="Text 1"/>
          <p:cNvSpPr/>
          <p:nvPr/>
        </p:nvSpPr>
        <p:spPr>
          <a:xfrm>
            <a:off x="1097280" y="640080"/>
            <a:ext cx="3474720" cy="201168"/>
          </a:xfrm>
          <a:prstGeom prst="rect">
            <a:avLst/>
          </a:prstGeom>
          <a:noFill/>
          <a:ln/>
        </p:spPr>
        <p:txBody>
          <a:bodyPr wrap="square"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Predviđeno:</a:t>
            </a:r>
            <a:endParaRPr lang="en-US" sz="900" dirty="0"/>
          </a:p>
        </p:txBody>
      </p:sp>
      <p:sp>
        <p:nvSpPr>
          <p:cNvPr id="4" name="Text 2"/>
          <p:cNvSpPr/>
          <p:nvPr/>
        </p:nvSpPr>
        <p:spPr>
          <a:xfrm>
            <a:off x="1097280" y="841248"/>
            <a:ext cx="1737360" cy="201168"/>
          </a:xfrm>
          <a:prstGeom prst="rect">
            <a:avLst/>
          </a:prstGeom>
          <a:noFill/>
          <a:ln/>
        </p:spPr>
        <p:txBody>
          <a:bodyPr wrap="square" rtlCol="0" anchor="ctr"/>
          <a:lstStyle/>
          <a:p>
            <a:pPr marL="0" indent="0" algn="ctr">
              <a:buNone/>
            </a:pPr>
            <a:r>
              <a:rPr lang="en-US" sz="950" b="1" dirty="0">
                <a:solidFill>
                  <a:srgbClr val="F9FAFB"/>
                </a:solidFill>
                <a:latin typeface="Calibri" pitchFamily="34" charset="0"/>
                <a:ea typeface="Calibri" pitchFamily="34" charset="-122"/>
                <a:cs typeface="Calibri" pitchFamily="34" charset="-120"/>
              </a:rPr>
              <a:t>Legitimna</a:t>
            </a:r>
            <a:endParaRPr lang="en-US" sz="950" dirty="0"/>
          </a:p>
        </p:txBody>
      </p:sp>
      <p:sp>
        <p:nvSpPr>
          <p:cNvPr id="5" name="Text 3"/>
          <p:cNvSpPr/>
          <p:nvPr/>
        </p:nvSpPr>
        <p:spPr>
          <a:xfrm>
            <a:off x="2834640" y="841248"/>
            <a:ext cx="1737360" cy="201168"/>
          </a:xfrm>
          <a:prstGeom prst="rect">
            <a:avLst/>
          </a:prstGeom>
          <a:noFill/>
          <a:ln/>
        </p:spPr>
        <p:txBody>
          <a:bodyPr wrap="square" rtlCol="0" anchor="ctr"/>
          <a:lstStyle/>
          <a:p>
            <a:pPr marL="0" indent="0" algn="ctr">
              <a:buNone/>
            </a:pPr>
            <a:r>
              <a:rPr lang="en-US" sz="950" b="1" dirty="0">
                <a:solidFill>
                  <a:srgbClr val="F9FAFB"/>
                </a:solidFill>
                <a:latin typeface="Calibri" pitchFamily="34" charset="0"/>
                <a:ea typeface="Calibri" pitchFamily="34" charset="-122"/>
                <a:cs typeface="Calibri" pitchFamily="34" charset="-120"/>
              </a:rPr>
              <a:t>Prevara</a:t>
            </a:r>
            <a:endParaRPr lang="en-US" sz="950" dirty="0"/>
          </a:p>
        </p:txBody>
      </p:sp>
      <p:sp>
        <p:nvSpPr>
          <p:cNvPr id="6" name="Text 4"/>
          <p:cNvSpPr/>
          <p:nvPr/>
        </p:nvSpPr>
        <p:spPr>
          <a:xfrm rot="16200000">
            <a:off x="365760" y="859536"/>
            <a:ext cx="685800" cy="3511296"/>
          </a:xfrm>
          <a:prstGeom prst="rect">
            <a:avLst/>
          </a:prstGeom>
          <a:noFill/>
          <a:ln/>
        </p:spPr>
        <p:txBody>
          <a:bodyPr wrap="square"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Stvarno:</a:t>
            </a:r>
            <a:endParaRPr lang="en-US" sz="900" dirty="0"/>
          </a:p>
        </p:txBody>
      </p:sp>
      <p:sp>
        <p:nvSpPr>
          <p:cNvPr id="7" name="Text 5"/>
          <p:cNvSpPr/>
          <p:nvPr/>
        </p:nvSpPr>
        <p:spPr>
          <a:xfrm rot="16200000">
            <a:off x="457200" y="1161288"/>
            <a:ext cx="594360" cy="1755648"/>
          </a:xfrm>
          <a:prstGeom prst="rect">
            <a:avLst/>
          </a:prstGeom>
          <a:noFill/>
          <a:ln/>
        </p:spPr>
        <p:txBody>
          <a:bodyPr wrap="square" rtlCol="0" anchor="ctr"/>
          <a:lstStyle/>
          <a:p>
            <a:pPr marL="0" indent="0" algn="ctr">
              <a:buNone/>
            </a:pPr>
            <a:r>
              <a:rPr lang="en-US" sz="950" b="1" dirty="0">
                <a:solidFill>
                  <a:srgbClr val="F9FAFB"/>
                </a:solidFill>
                <a:latin typeface="Calibri" pitchFamily="34" charset="0"/>
                <a:ea typeface="Calibri" pitchFamily="34" charset="-122"/>
                <a:cs typeface="Calibri" pitchFamily="34" charset="-120"/>
              </a:rPr>
              <a:t>Legitimna</a:t>
            </a:r>
            <a:endParaRPr lang="en-US" sz="950" dirty="0"/>
          </a:p>
        </p:txBody>
      </p:sp>
      <p:sp>
        <p:nvSpPr>
          <p:cNvPr id="8" name="Text 6"/>
          <p:cNvSpPr/>
          <p:nvPr/>
        </p:nvSpPr>
        <p:spPr>
          <a:xfrm rot="16200000">
            <a:off x="457200" y="2916936"/>
            <a:ext cx="594360" cy="1755648"/>
          </a:xfrm>
          <a:prstGeom prst="rect">
            <a:avLst/>
          </a:prstGeom>
          <a:noFill/>
          <a:ln/>
        </p:spPr>
        <p:txBody>
          <a:bodyPr wrap="square" rtlCol="0" anchor="ctr"/>
          <a:lstStyle/>
          <a:p>
            <a:pPr marL="0" indent="0" algn="ctr">
              <a:buNone/>
            </a:pPr>
            <a:r>
              <a:rPr lang="en-US" sz="950" b="1" dirty="0">
                <a:solidFill>
                  <a:srgbClr val="F9FAFB"/>
                </a:solidFill>
                <a:latin typeface="Calibri" pitchFamily="34" charset="0"/>
                <a:ea typeface="Calibri" pitchFamily="34" charset="-122"/>
                <a:cs typeface="Calibri" pitchFamily="34" charset="-120"/>
              </a:rPr>
              <a:t>Prevara</a:t>
            </a:r>
            <a:endParaRPr lang="en-US" sz="950" dirty="0"/>
          </a:p>
        </p:txBody>
      </p:sp>
      <p:sp>
        <p:nvSpPr>
          <p:cNvPr id="9" name="Shape 7"/>
          <p:cNvSpPr/>
          <p:nvPr/>
        </p:nvSpPr>
        <p:spPr>
          <a:xfrm>
            <a:off x="1133856" y="1097280"/>
            <a:ext cx="1664208" cy="1682496"/>
          </a:xfrm>
          <a:prstGeom prst="roundRect">
            <a:avLst>
              <a:gd name="adj" fmla="val 3297"/>
            </a:avLst>
          </a:prstGeom>
          <a:solidFill>
            <a:srgbClr val="0D3121"/>
          </a:solidFill>
          <a:ln w="6350">
            <a:solidFill>
              <a:srgbClr val="374151"/>
            </a:solidFill>
            <a:prstDash val="solid"/>
          </a:ln>
        </p:spPr>
      </p:sp>
      <p:sp>
        <p:nvSpPr>
          <p:cNvPr id="10" name="Text 8"/>
          <p:cNvSpPr/>
          <p:nvPr/>
        </p:nvSpPr>
        <p:spPr>
          <a:xfrm>
            <a:off x="1133856" y="1197864"/>
            <a:ext cx="1664208" cy="790042"/>
          </a:xfrm>
          <a:prstGeom prst="rect">
            <a:avLst/>
          </a:prstGeom>
          <a:noFill/>
          <a:ln/>
        </p:spPr>
        <p:txBody>
          <a:bodyPr wrap="square" lIns="0" tIns="0" rIns="0" bIns="0" rtlCol="0" anchor="ctr"/>
          <a:lstStyle/>
          <a:p>
            <a:pPr marL="0" indent="0" algn="ctr">
              <a:buNone/>
            </a:pPr>
            <a:r>
              <a:rPr lang="en-US" sz="1800" b="1" dirty="0">
                <a:solidFill>
                  <a:srgbClr val="34D399"/>
                </a:solidFill>
                <a:latin typeface="Calibri" pitchFamily="34" charset="0"/>
                <a:ea typeface="Calibri" pitchFamily="34" charset="-122"/>
                <a:cs typeface="Calibri" pitchFamily="34" charset="-120"/>
              </a:rPr>
              <a:t>TN = 39.643</a:t>
            </a:r>
            <a:endParaRPr lang="en-US" sz="1800" dirty="0"/>
          </a:p>
        </p:txBody>
      </p:sp>
      <p:sp>
        <p:nvSpPr>
          <p:cNvPr id="11" name="Text 9"/>
          <p:cNvSpPr/>
          <p:nvPr/>
        </p:nvSpPr>
        <p:spPr>
          <a:xfrm>
            <a:off x="1133856" y="2026310"/>
            <a:ext cx="1664208" cy="632033"/>
          </a:xfrm>
          <a:prstGeom prst="rect">
            <a:avLst/>
          </a:prstGeom>
          <a:noFill/>
          <a:ln/>
        </p:spPr>
        <p:txBody>
          <a:bodyPr wrap="square" lIns="0" tIns="0" rIns="0" bIns="0" rtlCol="0" anchor="ctr"/>
          <a:lstStyle/>
          <a:p>
            <a:pPr marL="0" indent="0" algn="ctr">
              <a:buNone/>
            </a:pPr>
            <a:r>
              <a:rPr lang="en-US" sz="850" dirty="0">
                <a:solidFill>
                  <a:srgbClr val="9CA3AF"/>
                </a:solidFill>
                <a:latin typeface="Calibri" pitchFamily="34" charset="0"/>
                <a:ea typeface="Calibri" pitchFamily="34" charset="-122"/>
                <a:cs typeface="Calibri" pitchFamily="34" charset="-120"/>
              </a:rPr>
              <a:t>Ispravno legitimna</a:t>
            </a:r>
            <a:endParaRPr lang="en-US" sz="850" dirty="0"/>
          </a:p>
        </p:txBody>
      </p:sp>
      <p:sp>
        <p:nvSpPr>
          <p:cNvPr id="12" name="Shape 10"/>
          <p:cNvSpPr/>
          <p:nvPr/>
        </p:nvSpPr>
        <p:spPr>
          <a:xfrm>
            <a:off x="2871216" y="1097280"/>
            <a:ext cx="1664208" cy="1682496"/>
          </a:xfrm>
          <a:prstGeom prst="roundRect">
            <a:avLst>
              <a:gd name="adj" fmla="val 3297"/>
            </a:avLst>
          </a:prstGeom>
          <a:solidFill>
            <a:srgbClr val="2D1A0A"/>
          </a:solidFill>
          <a:ln w="6350">
            <a:solidFill>
              <a:srgbClr val="374151"/>
            </a:solidFill>
            <a:prstDash val="solid"/>
          </a:ln>
        </p:spPr>
      </p:sp>
      <p:sp>
        <p:nvSpPr>
          <p:cNvPr id="13" name="Text 11"/>
          <p:cNvSpPr/>
          <p:nvPr/>
        </p:nvSpPr>
        <p:spPr>
          <a:xfrm>
            <a:off x="2871216" y="1197864"/>
            <a:ext cx="1664208" cy="790042"/>
          </a:xfrm>
          <a:prstGeom prst="rect">
            <a:avLst/>
          </a:prstGeom>
          <a:noFill/>
          <a:ln/>
        </p:spPr>
        <p:txBody>
          <a:bodyPr wrap="square" lIns="0" tIns="0" rIns="0" bIns="0" rtlCol="0" anchor="ctr"/>
          <a:lstStyle/>
          <a:p>
            <a:pPr marL="0" indent="0" algn="ctr">
              <a:buNone/>
            </a:pPr>
            <a:r>
              <a:rPr lang="en-US" sz="1800" b="1" dirty="0">
                <a:solidFill>
                  <a:srgbClr val="FBBF24"/>
                </a:solidFill>
                <a:latin typeface="Calibri" pitchFamily="34" charset="0"/>
                <a:ea typeface="Calibri" pitchFamily="34" charset="-122"/>
                <a:cs typeface="Calibri" pitchFamily="34" charset="-120"/>
              </a:rPr>
              <a:t>FP = 28</a:t>
            </a:r>
            <a:endParaRPr lang="en-US" sz="1800" dirty="0"/>
          </a:p>
        </p:txBody>
      </p:sp>
      <p:sp>
        <p:nvSpPr>
          <p:cNvPr id="14" name="Text 12"/>
          <p:cNvSpPr/>
          <p:nvPr/>
        </p:nvSpPr>
        <p:spPr>
          <a:xfrm>
            <a:off x="2871216" y="2026310"/>
            <a:ext cx="1664208" cy="632033"/>
          </a:xfrm>
          <a:prstGeom prst="rect">
            <a:avLst/>
          </a:prstGeom>
          <a:noFill/>
          <a:ln/>
        </p:spPr>
        <p:txBody>
          <a:bodyPr wrap="square" lIns="0" tIns="0" rIns="0" bIns="0" rtlCol="0" anchor="ctr"/>
          <a:lstStyle/>
          <a:p>
            <a:pPr marL="0" indent="0" algn="ctr">
              <a:buNone/>
            </a:pPr>
            <a:r>
              <a:rPr lang="en-US" sz="850" dirty="0">
                <a:solidFill>
                  <a:srgbClr val="9CA3AF"/>
                </a:solidFill>
                <a:latin typeface="Calibri" pitchFamily="34" charset="0"/>
                <a:ea typeface="Calibri" pitchFamily="34" charset="-122"/>
                <a:cs typeface="Calibri" pitchFamily="34" charset="-120"/>
              </a:rPr>
              <a:t>Lažna uzbuna</a:t>
            </a:r>
            <a:endParaRPr lang="en-US" sz="850" dirty="0"/>
          </a:p>
        </p:txBody>
      </p:sp>
      <p:sp>
        <p:nvSpPr>
          <p:cNvPr id="15" name="Shape 13"/>
          <p:cNvSpPr/>
          <p:nvPr/>
        </p:nvSpPr>
        <p:spPr>
          <a:xfrm>
            <a:off x="1133856" y="2852928"/>
            <a:ext cx="1664208" cy="1682496"/>
          </a:xfrm>
          <a:prstGeom prst="roundRect">
            <a:avLst>
              <a:gd name="adj" fmla="val 3297"/>
            </a:avLst>
          </a:prstGeom>
          <a:solidFill>
            <a:srgbClr val="2D0D0D"/>
          </a:solidFill>
          <a:ln w="6350">
            <a:solidFill>
              <a:srgbClr val="374151"/>
            </a:solidFill>
            <a:prstDash val="solid"/>
          </a:ln>
        </p:spPr>
      </p:sp>
      <p:sp>
        <p:nvSpPr>
          <p:cNvPr id="16" name="Text 14"/>
          <p:cNvSpPr/>
          <p:nvPr/>
        </p:nvSpPr>
        <p:spPr>
          <a:xfrm>
            <a:off x="1133856" y="2953512"/>
            <a:ext cx="1664208" cy="790042"/>
          </a:xfrm>
          <a:prstGeom prst="rect">
            <a:avLst/>
          </a:prstGeom>
          <a:noFill/>
          <a:ln/>
        </p:spPr>
        <p:txBody>
          <a:bodyPr wrap="square" lIns="0" tIns="0" rIns="0" bIns="0" rtlCol="0" anchor="ctr"/>
          <a:lstStyle/>
          <a:p>
            <a:pPr marL="0" indent="0" algn="ctr">
              <a:buNone/>
            </a:pPr>
            <a:r>
              <a:rPr lang="en-US" sz="1800" b="1" dirty="0">
                <a:solidFill>
                  <a:srgbClr val="F87171"/>
                </a:solidFill>
                <a:latin typeface="Calibri" pitchFamily="34" charset="0"/>
                <a:ea typeface="Calibri" pitchFamily="34" charset="-122"/>
                <a:cs typeface="Calibri" pitchFamily="34" charset="-120"/>
              </a:rPr>
              <a:t>FN = 79</a:t>
            </a:r>
            <a:endParaRPr lang="en-US" sz="1800" dirty="0"/>
          </a:p>
        </p:txBody>
      </p:sp>
      <p:sp>
        <p:nvSpPr>
          <p:cNvPr id="17" name="Text 15"/>
          <p:cNvSpPr/>
          <p:nvPr/>
        </p:nvSpPr>
        <p:spPr>
          <a:xfrm>
            <a:off x="1133856" y="3781958"/>
            <a:ext cx="1664208" cy="632033"/>
          </a:xfrm>
          <a:prstGeom prst="rect">
            <a:avLst/>
          </a:prstGeom>
          <a:noFill/>
          <a:ln/>
        </p:spPr>
        <p:txBody>
          <a:bodyPr wrap="square" lIns="0" tIns="0" rIns="0" bIns="0" rtlCol="0" anchor="ctr"/>
          <a:lstStyle/>
          <a:p>
            <a:pPr marL="0" indent="0" algn="ctr">
              <a:buNone/>
            </a:pPr>
            <a:r>
              <a:rPr lang="en-US" sz="850" dirty="0">
                <a:solidFill>
                  <a:srgbClr val="9CA3AF"/>
                </a:solidFill>
                <a:latin typeface="Calibri" pitchFamily="34" charset="0"/>
                <a:ea typeface="Calibri" pitchFamily="34" charset="-122"/>
                <a:cs typeface="Calibri" pitchFamily="34" charset="-120"/>
              </a:rPr>
              <a:t>Propuštena prevara</a:t>
            </a:r>
            <a:endParaRPr lang="en-US" sz="850" dirty="0"/>
          </a:p>
        </p:txBody>
      </p:sp>
      <p:sp>
        <p:nvSpPr>
          <p:cNvPr id="18" name="Shape 16"/>
          <p:cNvSpPr/>
          <p:nvPr/>
        </p:nvSpPr>
        <p:spPr>
          <a:xfrm>
            <a:off x="2871216" y="2852928"/>
            <a:ext cx="1664208" cy="1682496"/>
          </a:xfrm>
          <a:prstGeom prst="roundRect">
            <a:avLst>
              <a:gd name="adj" fmla="val 3297"/>
            </a:avLst>
          </a:prstGeom>
          <a:solidFill>
            <a:srgbClr val="0A2A18"/>
          </a:solidFill>
          <a:ln w="6350">
            <a:solidFill>
              <a:srgbClr val="374151"/>
            </a:solidFill>
            <a:prstDash val="solid"/>
          </a:ln>
        </p:spPr>
      </p:sp>
      <p:sp>
        <p:nvSpPr>
          <p:cNvPr id="19" name="Text 17"/>
          <p:cNvSpPr/>
          <p:nvPr/>
        </p:nvSpPr>
        <p:spPr>
          <a:xfrm>
            <a:off x="2871216" y="2953512"/>
            <a:ext cx="1664208" cy="790042"/>
          </a:xfrm>
          <a:prstGeom prst="rect">
            <a:avLst/>
          </a:prstGeom>
          <a:noFill/>
          <a:ln/>
        </p:spPr>
        <p:txBody>
          <a:bodyPr wrap="square" lIns="0" tIns="0" rIns="0" bIns="0" rtlCol="0" anchor="ctr"/>
          <a:lstStyle/>
          <a:p>
            <a:pPr marL="0" indent="0" algn="ctr">
              <a:buNone/>
            </a:pPr>
            <a:r>
              <a:rPr lang="en-US" sz="1800" b="1" dirty="0">
                <a:solidFill>
                  <a:srgbClr val="10B981"/>
                </a:solidFill>
                <a:latin typeface="Calibri" pitchFamily="34" charset="0"/>
                <a:ea typeface="Calibri" pitchFamily="34" charset="-122"/>
                <a:cs typeface="Calibri" pitchFamily="34" charset="-120"/>
              </a:rPr>
              <a:t>TP = 250</a:t>
            </a:r>
            <a:endParaRPr lang="en-US" sz="1800" dirty="0"/>
          </a:p>
        </p:txBody>
      </p:sp>
      <p:sp>
        <p:nvSpPr>
          <p:cNvPr id="20" name="Text 18"/>
          <p:cNvSpPr/>
          <p:nvPr/>
        </p:nvSpPr>
        <p:spPr>
          <a:xfrm>
            <a:off x="2871216" y="3781958"/>
            <a:ext cx="1664208" cy="632033"/>
          </a:xfrm>
          <a:prstGeom prst="rect">
            <a:avLst/>
          </a:prstGeom>
          <a:noFill/>
          <a:ln/>
        </p:spPr>
        <p:txBody>
          <a:bodyPr wrap="square" lIns="0" tIns="0" rIns="0" bIns="0" rtlCol="0" anchor="ctr"/>
          <a:lstStyle/>
          <a:p>
            <a:pPr marL="0" indent="0" algn="ctr">
              <a:buNone/>
            </a:pPr>
            <a:r>
              <a:rPr lang="en-US" sz="850" dirty="0">
                <a:solidFill>
                  <a:srgbClr val="9CA3AF"/>
                </a:solidFill>
                <a:latin typeface="Calibri" pitchFamily="34" charset="0"/>
                <a:ea typeface="Calibri" pitchFamily="34" charset="-122"/>
                <a:cs typeface="Calibri" pitchFamily="34" charset="-120"/>
              </a:rPr>
              <a:t>Uhvaćena prevara ✓</a:t>
            </a:r>
            <a:endParaRPr lang="en-US" sz="850" dirty="0"/>
          </a:p>
        </p:txBody>
      </p:sp>
      <p:sp>
        <p:nvSpPr>
          <p:cNvPr id="21" name="Shape 19"/>
          <p:cNvSpPr/>
          <p:nvPr/>
        </p:nvSpPr>
        <p:spPr>
          <a:xfrm>
            <a:off x="4754880" y="658368"/>
            <a:ext cx="4023360" cy="329184"/>
          </a:xfrm>
          <a:prstGeom prst="roundRect">
            <a:avLst>
              <a:gd name="adj" fmla="val 22222"/>
            </a:avLst>
          </a:prstGeom>
          <a:solidFill>
            <a:srgbClr val="0E1F15"/>
          </a:solidFill>
          <a:ln w="7620">
            <a:solidFill>
              <a:srgbClr val="374151"/>
            </a:solidFill>
            <a:prstDash val="solid"/>
          </a:ln>
        </p:spPr>
      </p:sp>
      <p:sp>
        <p:nvSpPr>
          <p:cNvPr id="22" name="Text 20"/>
          <p:cNvSpPr/>
          <p:nvPr/>
        </p:nvSpPr>
        <p:spPr>
          <a:xfrm>
            <a:off x="4864608" y="694944"/>
            <a:ext cx="3803904" cy="237744"/>
          </a:xfrm>
          <a:prstGeom prst="rect">
            <a:avLst/>
          </a:prstGeom>
          <a:noFill/>
          <a:ln/>
        </p:spPr>
        <p:txBody>
          <a:bodyPr wrap="square" lIns="0" tIns="0" rIns="0" bIns="0" rtlCol="0" anchor="ctr"/>
          <a:lstStyle/>
          <a:p>
            <a:pPr marL="0" indent="0">
              <a:buNone/>
            </a:pPr>
            <a:r>
              <a:rPr lang="en-US" sz="1050" b="1" dirty="0">
                <a:solidFill>
                  <a:srgbClr val="6EE7B7"/>
                </a:solidFill>
                <a:latin typeface="Calibri" pitchFamily="34" charset="0"/>
                <a:ea typeface="Calibri" pitchFamily="34" charset="-122"/>
                <a:cs typeface="Calibri" pitchFamily="34" charset="-120"/>
              </a:rPr>
              <a:t>Prag klasifikacije: 0.5  (standardni)</a:t>
            </a:r>
            <a:endParaRPr lang="en-US" sz="1050" dirty="0"/>
          </a:p>
        </p:txBody>
      </p:sp>
      <p:sp>
        <p:nvSpPr>
          <p:cNvPr id="23" name="Shape 21"/>
          <p:cNvSpPr/>
          <p:nvPr/>
        </p:nvSpPr>
        <p:spPr>
          <a:xfrm>
            <a:off x="4754880" y="1097280"/>
            <a:ext cx="4023360" cy="566928"/>
          </a:xfrm>
          <a:prstGeom prst="roundRect">
            <a:avLst>
              <a:gd name="adj" fmla="val 12903"/>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24" name="Text 22"/>
          <p:cNvSpPr/>
          <p:nvPr/>
        </p:nvSpPr>
        <p:spPr>
          <a:xfrm>
            <a:off x="4864608" y="1152144"/>
            <a:ext cx="1005840" cy="219456"/>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Precision</a:t>
            </a:r>
            <a:endParaRPr lang="en-US" sz="1000" dirty="0"/>
          </a:p>
        </p:txBody>
      </p:sp>
      <p:sp>
        <p:nvSpPr>
          <p:cNvPr id="25" name="Text 23"/>
          <p:cNvSpPr/>
          <p:nvPr/>
        </p:nvSpPr>
        <p:spPr>
          <a:xfrm>
            <a:off x="5870448" y="1115568"/>
            <a:ext cx="914400" cy="292608"/>
          </a:xfrm>
          <a:prstGeom prst="rect">
            <a:avLst/>
          </a:prstGeom>
          <a:noFill/>
          <a:ln/>
        </p:spPr>
        <p:txBody>
          <a:bodyPr wrap="square" lIns="0" tIns="0" rIns="0" bIns="0" rtlCol="0" anchor="ctr"/>
          <a:lstStyle/>
          <a:p>
            <a:pPr marL="0" indent="0">
              <a:buNone/>
            </a:pPr>
            <a:r>
              <a:rPr lang="en-US" sz="1800" b="1" dirty="0">
                <a:solidFill>
                  <a:srgbClr val="34D399"/>
                </a:solidFill>
                <a:latin typeface="Calibri" pitchFamily="34" charset="0"/>
                <a:ea typeface="Calibri" pitchFamily="34" charset="-122"/>
                <a:cs typeface="Calibri" pitchFamily="34" charset="-120"/>
              </a:rPr>
              <a:t>0.899</a:t>
            </a:r>
            <a:endParaRPr lang="en-US" sz="1800" dirty="0"/>
          </a:p>
        </p:txBody>
      </p:sp>
      <p:sp>
        <p:nvSpPr>
          <p:cNvPr id="26" name="Text 24"/>
          <p:cNvSpPr/>
          <p:nvPr/>
        </p:nvSpPr>
        <p:spPr>
          <a:xfrm>
            <a:off x="4864608" y="1389888"/>
            <a:ext cx="3803904" cy="237744"/>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Kad model javi prevaru — u 89.9% je ispravno</a:t>
            </a:r>
            <a:endParaRPr lang="en-US" sz="850" dirty="0"/>
          </a:p>
        </p:txBody>
      </p:sp>
      <p:sp>
        <p:nvSpPr>
          <p:cNvPr id="27" name="Shape 25"/>
          <p:cNvSpPr/>
          <p:nvPr/>
        </p:nvSpPr>
        <p:spPr>
          <a:xfrm>
            <a:off x="4754880" y="1737360"/>
            <a:ext cx="4023360" cy="566928"/>
          </a:xfrm>
          <a:prstGeom prst="roundRect">
            <a:avLst>
              <a:gd name="adj" fmla="val 12903"/>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28" name="Text 26"/>
          <p:cNvSpPr/>
          <p:nvPr/>
        </p:nvSpPr>
        <p:spPr>
          <a:xfrm>
            <a:off x="4864608" y="1792224"/>
            <a:ext cx="1005840" cy="219456"/>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Recall</a:t>
            </a:r>
            <a:endParaRPr lang="en-US" sz="1000" dirty="0"/>
          </a:p>
        </p:txBody>
      </p:sp>
      <p:sp>
        <p:nvSpPr>
          <p:cNvPr id="29" name="Text 27"/>
          <p:cNvSpPr/>
          <p:nvPr/>
        </p:nvSpPr>
        <p:spPr>
          <a:xfrm>
            <a:off x="5870448" y="1755648"/>
            <a:ext cx="914400" cy="292608"/>
          </a:xfrm>
          <a:prstGeom prst="rect">
            <a:avLst/>
          </a:prstGeom>
          <a:noFill/>
          <a:ln/>
        </p:spPr>
        <p:txBody>
          <a:bodyPr wrap="square" lIns="0" tIns="0" rIns="0" bIns="0" rtlCol="0" anchor="ctr"/>
          <a:lstStyle/>
          <a:p>
            <a:pPr marL="0" indent="0">
              <a:buNone/>
            </a:pPr>
            <a:r>
              <a:rPr lang="en-US" sz="1800" b="1" dirty="0">
                <a:solidFill>
                  <a:srgbClr val="60A5FA"/>
                </a:solidFill>
                <a:latin typeface="Calibri" pitchFamily="34" charset="0"/>
                <a:ea typeface="Calibri" pitchFamily="34" charset="-122"/>
                <a:cs typeface="Calibri" pitchFamily="34" charset="-120"/>
              </a:rPr>
              <a:t>0.760</a:t>
            </a:r>
            <a:endParaRPr lang="en-US" sz="1800" dirty="0"/>
          </a:p>
        </p:txBody>
      </p:sp>
      <p:sp>
        <p:nvSpPr>
          <p:cNvPr id="30" name="Text 28"/>
          <p:cNvSpPr/>
          <p:nvPr/>
        </p:nvSpPr>
        <p:spPr>
          <a:xfrm>
            <a:off x="4864608" y="2029968"/>
            <a:ext cx="3803904" cy="237744"/>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Uhvatili smo 76.0% svih stvarnih prevara</a:t>
            </a:r>
            <a:endParaRPr lang="en-US" sz="850" dirty="0"/>
          </a:p>
        </p:txBody>
      </p:sp>
      <p:sp>
        <p:nvSpPr>
          <p:cNvPr id="31" name="Shape 29"/>
          <p:cNvSpPr/>
          <p:nvPr/>
        </p:nvSpPr>
        <p:spPr>
          <a:xfrm>
            <a:off x="4754880" y="2377440"/>
            <a:ext cx="4023360" cy="566928"/>
          </a:xfrm>
          <a:prstGeom prst="roundRect">
            <a:avLst>
              <a:gd name="adj" fmla="val 12903"/>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32" name="Text 30"/>
          <p:cNvSpPr/>
          <p:nvPr/>
        </p:nvSpPr>
        <p:spPr>
          <a:xfrm>
            <a:off x="4864608" y="2432304"/>
            <a:ext cx="1005840" cy="219456"/>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F1-Score</a:t>
            </a:r>
            <a:endParaRPr lang="en-US" sz="1000" dirty="0"/>
          </a:p>
        </p:txBody>
      </p:sp>
      <p:sp>
        <p:nvSpPr>
          <p:cNvPr id="33" name="Text 31"/>
          <p:cNvSpPr/>
          <p:nvPr/>
        </p:nvSpPr>
        <p:spPr>
          <a:xfrm>
            <a:off x="5870448" y="2395728"/>
            <a:ext cx="914400" cy="292608"/>
          </a:xfrm>
          <a:prstGeom prst="rect">
            <a:avLst/>
          </a:prstGeom>
          <a:noFill/>
          <a:ln/>
        </p:spPr>
        <p:txBody>
          <a:bodyPr wrap="square" lIns="0" tIns="0" rIns="0" bIns="0" rtlCol="0" anchor="ctr"/>
          <a:lstStyle/>
          <a:p>
            <a:pPr marL="0" indent="0">
              <a:buNone/>
            </a:pPr>
            <a:r>
              <a:rPr lang="en-US" sz="1800" b="1" dirty="0">
                <a:solidFill>
                  <a:srgbClr val="10B981"/>
                </a:solidFill>
                <a:latin typeface="Calibri" pitchFamily="34" charset="0"/>
                <a:ea typeface="Calibri" pitchFamily="34" charset="-122"/>
                <a:cs typeface="Calibri" pitchFamily="34" charset="-120"/>
              </a:rPr>
              <a:t>0.824</a:t>
            </a:r>
            <a:endParaRPr lang="en-US" sz="1800" dirty="0"/>
          </a:p>
        </p:txBody>
      </p:sp>
      <p:sp>
        <p:nvSpPr>
          <p:cNvPr id="34" name="Text 32"/>
          <p:cNvSpPr/>
          <p:nvPr/>
        </p:nvSpPr>
        <p:spPr>
          <a:xfrm>
            <a:off x="4864608" y="2670048"/>
            <a:ext cx="3803904" cy="237744"/>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Harmonijska sredina Precision i Recall</a:t>
            </a:r>
            <a:endParaRPr lang="en-US" sz="850" dirty="0"/>
          </a:p>
        </p:txBody>
      </p:sp>
      <p:sp>
        <p:nvSpPr>
          <p:cNvPr id="35" name="Shape 33"/>
          <p:cNvSpPr/>
          <p:nvPr/>
        </p:nvSpPr>
        <p:spPr>
          <a:xfrm>
            <a:off x="4754880" y="3017520"/>
            <a:ext cx="4023360" cy="566928"/>
          </a:xfrm>
          <a:prstGeom prst="roundRect">
            <a:avLst>
              <a:gd name="adj" fmla="val 12903"/>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36" name="Text 34"/>
          <p:cNvSpPr/>
          <p:nvPr/>
        </p:nvSpPr>
        <p:spPr>
          <a:xfrm>
            <a:off x="4864608" y="3072384"/>
            <a:ext cx="1005840" cy="219456"/>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ROC-AUC</a:t>
            </a:r>
            <a:endParaRPr lang="en-US" sz="1000" dirty="0"/>
          </a:p>
        </p:txBody>
      </p:sp>
      <p:sp>
        <p:nvSpPr>
          <p:cNvPr id="37" name="Text 35"/>
          <p:cNvSpPr/>
          <p:nvPr/>
        </p:nvSpPr>
        <p:spPr>
          <a:xfrm>
            <a:off x="5870448" y="3035808"/>
            <a:ext cx="914400" cy="292608"/>
          </a:xfrm>
          <a:prstGeom prst="rect">
            <a:avLst/>
          </a:prstGeom>
          <a:noFill/>
          <a:ln/>
        </p:spPr>
        <p:txBody>
          <a:bodyPr wrap="square" lIns="0" tIns="0" rIns="0" bIns="0" rtlCol="0" anchor="ctr"/>
          <a:lstStyle/>
          <a:p>
            <a:pPr marL="0" indent="0">
              <a:buNone/>
            </a:pPr>
            <a:r>
              <a:rPr lang="en-US" sz="1800" b="1" dirty="0">
                <a:solidFill>
                  <a:srgbClr val="6EE7B7"/>
                </a:solidFill>
                <a:latin typeface="Calibri" pitchFamily="34" charset="0"/>
                <a:ea typeface="Calibri" pitchFamily="34" charset="-122"/>
                <a:cs typeface="Calibri" pitchFamily="34" charset="-120"/>
              </a:rPr>
              <a:t>0.990</a:t>
            </a:r>
            <a:endParaRPr lang="en-US" sz="1800" dirty="0"/>
          </a:p>
        </p:txBody>
      </p:sp>
      <p:sp>
        <p:nvSpPr>
          <p:cNvPr id="38" name="Text 36"/>
          <p:cNvSpPr/>
          <p:nvPr/>
        </p:nvSpPr>
        <p:spPr>
          <a:xfrm>
            <a:off x="4864608" y="3310128"/>
            <a:ext cx="3803904" cy="237744"/>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Skoro savršeno rangiranje klasa</a:t>
            </a:r>
            <a:endParaRPr lang="en-US" sz="850" dirty="0"/>
          </a:p>
        </p:txBody>
      </p:sp>
      <p:sp>
        <p:nvSpPr>
          <p:cNvPr id="39" name="Shape 37"/>
          <p:cNvSpPr/>
          <p:nvPr/>
        </p:nvSpPr>
        <p:spPr>
          <a:xfrm>
            <a:off x="4754880" y="3657600"/>
            <a:ext cx="4023360" cy="566928"/>
          </a:xfrm>
          <a:prstGeom prst="roundRect">
            <a:avLst>
              <a:gd name="adj" fmla="val 12903"/>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40" name="Text 38"/>
          <p:cNvSpPr/>
          <p:nvPr/>
        </p:nvSpPr>
        <p:spPr>
          <a:xfrm>
            <a:off x="4864608" y="3712464"/>
            <a:ext cx="1005840" cy="219456"/>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PR-AUC</a:t>
            </a:r>
            <a:endParaRPr lang="en-US" sz="1000" dirty="0"/>
          </a:p>
        </p:txBody>
      </p:sp>
      <p:sp>
        <p:nvSpPr>
          <p:cNvPr id="41" name="Text 39"/>
          <p:cNvSpPr/>
          <p:nvPr/>
        </p:nvSpPr>
        <p:spPr>
          <a:xfrm>
            <a:off x="5870448" y="3675888"/>
            <a:ext cx="914400" cy="292608"/>
          </a:xfrm>
          <a:prstGeom prst="rect">
            <a:avLst/>
          </a:prstGeom>
          <a:noFill/>
          <a:ln/>
        </p:spPr>
        <p:txBody>
          <a:bodyPr wrap="square" lIns="0" tIns="0" rIns="0" bIns="0" rtlCol="0" anchor="ctr"/>
          <a:lstStyle/>
          <a:p>
            <a:pPr marL="0" indent="0">
              <a:buNone/>
            </a:pPr>
            <a:r>
              <a:rPr lang="en-US" sz="1800" b="1" dirty="0">
                <a:solidFill>
                  <a:srgbClr val="FBBF24"/>
                </a:solidFill>
                <a:latin typeface="Calibri" pitchFamily="34" charset="0"/>
                <a:ea typeface="Calibri" pitchFamily="34" charset="-122"/>
                <a:cs typeface="Calibri" pitchFamily="34" charset="-120"/>
              </a:rPr>
              <a:t>0.8421</a:t>
            </a:r>
            <a:endParaRPr lang="en-US" sz="1800" dirty="0"/>
          </a:p>
        </p:txBody>
      </p:sp>
      <p:sp>
        <p:nvSpPr>
          <p:cNvPr id="42" name="Text 40"/>
          <p:cNvSpPr/>
          <p:nvPr/>
        </p:nvSpPr>
        <p:spPr>
          <a:xfrm>
            <a:off x="4864608" y="3950208"/>
            <a:ext cx="3803904" cy="237744"/>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103× bolji od slučajnog modela (0.0082)</a:t>
            </a:r>
            <a:endParaRPr lang="en-US" sz="850" dirty="0"/>
          </a:p>
        </p:txBody>
      </p:sp>
      <p:sp>
        <p:nvSpPr>
          <p:cNvPr id="43" name="Shape 41"/>
          <p:cNvSpPr/>
          <p:nvPr/>
        </p:nvSpPr>
        <p:spPr>
          <a:xfrm>
            <a:off x="4754880" y="4315968"/>
            <a:ext cx="4023360" cy="457200"/>
          </a:xfrm>
          <a:prstGeom prst="roundRect">
            <a:avLst>
              <a:gd name="adj" fmla="val 16000"/>
            </a:avLst>
          </a:prstGeom>
          <a:solidFill>
            <a:srgbClr val="0D2218"/>
          </a:solidFill>
          <a:ln w="7620">
            <a:solidFill>
              <a:srgbClr val="374151"/>
            </a:solidFill>
            <a:prstDash val="solid"/>
          </a:ln>
        </p:spPr>
      </p:sp>
      <p:sp>
        <p:nvSpPr>
          <p:cNvPr id="44" name="Text 42"/>
          <p:cNvSpPr/>
          <p:nvPr/>
        </p:nvSpPr>
        <p:spPr>
          <a:xfrm>
            <a:off x="4864608" y="4370832"/>
            <a:ext cx="3803904" cy="347472"/>
          </a:xfrm>
          <a:prstGeom prst="rect">
            <a:avLst/>
          </a:prstGeom>
          <a:noFill/>
          <a:ln/>
        </p:spPr>
        <p:txBody>
          <a:bodyPr wrap="square" lIns="0" tIns="0" rIns="0" bIns="0" rtlCol="0" anchor="ctr"/>
          <a:lstStyle/>
          <a:p>
            <a:pPr marL="0" indent="0">
              <a:buNone/>
            </a:pPr>
            <a:r>
              <a:rPr lang="en-US" sz="1100" dirty="0">
                <a:solidFill>
                  <a:srgbClr val="9CA3AF"/>
                </a:solidFill>
                <a:latin typeface="Calibri" pitchFamily="34" charset="0"/>
                <a:ea typeface="Calibri" pitchFamily="34" charset="-122"/>
                <a:cs typeface="Calibri" pitchFamily="34" charset="-120"/>
              </a:rPr>
              <a:t>Ukupna tačnost: </a:t>
            </a:r>
            <a:r>
              <a:rPr lang="en-US" sz="1100" b="1" dirty="0">
                <a:solidFill>
                  <a:srgbClr val="34D399"/>
                </a:solidFill>
                <a:latin typeface="Calibri" pitchFamily="34" charset="0"/>
                <a:ea typeface="Calibri" pitchFamily="34" charset="-122"/>
                <a:cs typeface="Calibri" pitchFamily="34" charset="-120"/>
              </a:rPr>
              <a:t>99.73%</a:t>
            </a:r>
            <a:r>
              <a:rPr lang="en-US" sz="850" dirty="0">
                <a:solidFill>
                  <a:srgbClr val="9CA3AF"/>
                </a:solidFill>
                <a:latin typeface="Calibri" pitchFamily="34" charset="0"/>
                <a:ea typeface="Calibri" pitchFamily="34" charset="-122"/>
                <a:cs typeface="Calibri" pitchFamily="34" charset="-120"/>
              </a:rPr>
              <a:t>   (Random baseline: 99.18%)</a:t>
            </a:r>
            <a:endParaRPr lang="en-US" sz="11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365760"/>
          </a:xfrm>
          <a:prstGeom prst="rect">
            <a:avLst/>
          </a:prstGeom>
          <a:noFill/>
          <a:ln/>
        </p:spPr>
        <p:txBody>
          <a:bodyPr wrap="square" lIns="0" tIns="0" rIns="0" bIns="0" rtlCol="0" anchor="ctr"/>
          <a:lstStyle/>
          <a:p>
            <a:pPr marL="0" indent="0">
              <a:buNone/>
            </a:pPr>
            <a:r>
              <a:rPr lang="en-US" sz="1700" b="1" dirty="0">
                <a:solidFill>
                  <a:srgbClr val="10B981"/>
                </a:solidFill>
                <a:latin typeface="Calibri" pitchFamily="34" charset="0"/>
                <a:ea typeface="Calibri" pitchFamily="34" charset="-122"/>
                <a:cs typeface="Calibri" pitchFamily="34" charset="-120"/>
              </a:rPr>
              <a:t>06</a:t>
            </a:r>
            <a:r>
              <a:rPr lang="en-US" sz="1700" dirty="0">
                <a:solidFill>
                  <a:srgbClr val="9CA3AF"/>
                </a:solidFill>
                <a:latin typeface="Calibri" pitchFamily="34" charset="0"/>
                <a:ea typeface="Calibri" pitchFamily="34" charset="-122"/>
                <a:cs typeface="Calibri" pitchFamily="34" charset="-120"/>
              </a:rPr>
              <a:t>  ·  </a:t>
            </a:r>
            <a:r>
              <a:rPr lang="en-US" sz="1700" b="1" dirty="0">
                <a:solidFill>
                  <a:srgbClr val="F9FAFB"/>
                </a:solidFill>
                <a:latin typeface="Calibri" pitchFamily="34" charset="0"/>
                <a:ea typeface="Calibri" pitchFamily="34" charset="-122"/>
                <a:cs typeface="Calibri" pitchFamily="34" charset="-120"/>
              </a:rPr>
              <a:t>Analiza praga klasifikacije (Threshold Tuning)</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658368"/>
          <a:ext cx="4937760" cy="3072384"/>
        </p:xfrm>
        <a:graphic>
          <a:graphicData uri="http://schemas.openxmlformats.org/drawingml/2006/table">
            <a:tbl>
              <a:tblPr/>
              <a:tblGrid>
                <a:gridCol w="59436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tblGrid>
              <a:tr h="384048">
                <a:tc>
                  <a:txBody>
                    <a:bodyPr/>
                    <a:lstStyle/>
                    <a:p>
                      <a:pPr marL="0" indent="0" algn="ctr">
                        <a:buNone/>
                      </a:pPr>
                      <a:r>
                        <a:rPr lang="en-US" sz="1100" b="1" dirty="0">
                          <a:solidFill>
                            <a:srgbClr val="F9FAFB"/>
                          </a:solidFill>
                          <a:latin typeface="Calibri" pitchFamily="34" charset="0"/>
                          <a:ea typeface="Calibri" pitchFamily="34" charset="-122"/>
                          <a:cs typeface="Calibri" pitchFamily="34" charset="-120"/>
                        </a:rPr>
                        <a:t>Prag</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b="1" dirty="0">
                          <a:solidFill>
                            <a:srgbClr val="F9FAFB"/>
                          </a:solidFill>
                          <a:latin typeface="Calibri" pitchFamily="34" charset="0"/>
                          <a:ea typeface="Calibri" pitchFamily="34" charset="-122"/>
                          <a:cs typeface="Calibri" pitchFamily="34" charset="-120"/>
                        </a:rPr>
                        <a:t>TP</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b="1" dirty="0">
                          <a:solidFill>
                            <a:srgbClr val="F9FAFB"/>
                          </a:solidFill>
                          <a:latin typeface="Calibri" pitchFamily="34" charset="0"/>
                          <a:ea typeface="Calibri" pitchFamily="34" charset="-122"/>
                          <a:cs typeface="Calibri" pitchFamily="34" charset="-120"/>
                        </a:rPr>
                        <a:t>FP</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b="1" dirty="0">
                          <a:solidFill>
                            <a:srgbClr val="F9FAFB"/>
                          </a:solidFill>
                          <a:latin typeface="Calibri" pitchFamily="34" charset="0"/>
                          <a:ea typeface="Calibri" pitchFamily="34" charset="-122"/>
                          <a:cs typeface="Calibri" pitchFamily="34" charset="-120"/>
                        </a:rPr>
                        <a:t>FN</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b="1" dirty="0">
                          <a:solidFill>
                            <a:srgbClr val="F9FAFB"/>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b="1" dirty="0">
                          <a:solidFill>
                            <a:srgbClr val="F9FAFB"/>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b="1" dirty="0">
                          <a:solidFill>
                            <a:srgbClr val="F9FAFB"/>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0"/>
                  </a:ext>
                </a:extLst>
              </a:tr>
              <a:tr h="384048">
                <a:tc>
                  <a:txBody>
                    <a:bodyPr/>
                    <a:lstStyle/>
                    <a:p>
                      <a:pPr marL="0" indent="0" algn="ctr">
                        <a:buNone/>
                      </a:pPr>
                      <a:r>
                        <a:rPr lang="en-US" sz="1100" dirty="0">
                          <a:solidFill>
                            <a:srgbClr val="F9FAFB"/>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282</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322</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0.467</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0.857</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0.605</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1"/>
                  </a:ext>
                </a:extLst>
              </a:tr>
              <a:tr h="384048">
                <a:tc>
                  <a:txBody>
                    <a:bodyPr/>
                    <a:lstStyle/>
                    <a:p>
                      <a:pPr marL="0" indent="0" algn="ctr">
                        <a:buNone/>
                      </a:pPr>
                      <a:r>
                        <a:rPr lang="en-US" sz="1100" dirty="0">
                          <a:solidFill>
                            <a:srgbClr val="F9FAFB"/>
                          </a:solidFill>
                          <a:latin typeface="Calibri" pitchFamily="34" charset="0"/>
                          <a:ea typeface="Calibri" pitchFamily="34" charset="-122"/>
                          <a:cs typeface="Calibri" pitchFamily="34" charset="-120"/>
                        </a:rPr>
                        <a:t>0.2</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271</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121</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0.691</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0.824</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0.752</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2"/>
                  </a:ext>
                </a:extLst>
              </a:tr>
              <a:tr h="384048">
                <a:tc>
                  <a:txBody>
                    <a:bodyPr/>
                    <a:lstStyle/>
                    <a:p>
                      <a:pPr marL="0" indent="0" algn="ctr">
                        <a:buNone/>
                      </a:pPr>
                      <a:r>
                        <a:rPr lang="en-US" sz="1100" b="1" dirty="0">
                          <a:solidFill>
                            <a:srgbClr val="FBBF24"/>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10B981"/>
                          </a:solidFill>
                          <a:latin typeface="Calibri" pitchFamily="34" charset="0"/>
                          <a:ea typeface="Calibri" pitchFamily="34" charset="-122"/>
                          <a:cs typeface="Calibri" pitchFamily="34" charset="-120"/>
                        </a:rPr>
                        <a:t>262</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FBBF24"/>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60A5FA"/>
                          </a:solidFill>
                          <a:latin typeface="Calibri" pitchFamily="34" charset="0"/>
                          <a:ea typeface="Calibri" pitchFamily="34" charset="-122"/>
                          <a:cs typeface="Calibri" pitchFamily="34" charset="-120"/>
                        </a:rPr>
                        <a:t>67</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34D399"/>
                          </a:solidFill>
                          <a:latin typeface="Calibri" pitchFamily="34" charset="0"/>
                          <a:ea typeface="Calibri" pitchFamily="34" charset="-122"/>
                          <a:cs typeface="Calibri" pitchFamily="34" charset="-120"/>
                        </a:rPr>
                        <a:t>0.789</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34D399"/>
                          </a:solidFill>
                          <a:latin typeface="Calibri" pitchFamily="34" charset="0"/>
                          <a:ea typeface="Calibri" pitchFamily="34" charset="-122"/>
                          <a:cs typeface="Calibri" pitchFamily="34" charset="-120"/>
                        </a:rPr>
                        <a:t>0.796</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0.793</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3"/>
                  </a:ext>
                </a:extLst>
              </a:tr>
              <a:tr h="384048">
                <a:tc>
                  <a:txBody>
                    <a:bodyPr/>
                    <a:lstStyle/>
                    <a:p>
                      <a:pPr marL="0" indent="0" algn="ctr">
                        <a:buNone/>
                      </a:pPr>
                      <a:r>
                        <a:rPr lang="en-US" sz="1100" dirty="0">
                          <a:solidFill>
                            <a:srgbClr val="F9FAFB"/>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255</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74</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0.847</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0.775</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0.810</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4"/>
                  </a:ext>
                </a:extLst>
              </a:tr>
              <a:tr h="384048">
                <a:tc>
                  <a:txBody>
                    <a:bodyPr/>
                    <a:lstStyle/>
                    <a:p>
                      <a:pPr marL="0" indent="0" algn="ctr">
                        <a:buNone/>
                      </a:pPr>
                      <a:r>
                        <a:rPr lang="en-US" sz="1100" dirty="0">
                          <a:solidFill>
                            <a:srgbClr val="F9FAFB"/>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79</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0.899</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0.760</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0.824</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5"/>
                  </a:ext>
                </a:extLst>
              </a:tr>
              <a:tr h="384048">
                <a:tc>
                  <a:txBody>
                    <a:bodyPr/>
                    <a:lstStyle/>
                    <a:p>
                      <a:pPr marL="0" indent="0" algn="ctr">
                        <a:buNone/>
                      </a:pPr>
                      <a:r>
                        <a:rPr lang="en-US" sz="1100" dirty="0">
                          <a:solidFill>
                            <a:srgbClr val="F9FAFB"/>
                          </a:solidFill>
                          <a:latin typeface="Calibri" pitchFamily="34" charset="0"/>
                          <a:ea typeface="Calibri" pitchFamily="34" charset="-122"/>
                          <a:cs typeface="Calibri" pitchFamily="34" charset="-120"/>
                        </a:rPr>
                        <a:t>0.6</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237</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92</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0.922</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0.720</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0.809</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6"/>
                  </a:ext>
                </a:extLst>
              </a:tr>
              <a:tr h="384048">
                <a:tc>
                  <a:txBody>
                    <a:bodyPr/>
                    <a:lstStyle/>
                    <a:p>
                      <a:pPr marL="0" indent="0" algn="ctr">
                        <a:buNone/>
                      </a:pPr>
                      <a:r>
                        <a:rPr lang="en-US" sz="1100" dirty="0">
                          <a:solidFill>
                            <a:srgbClr val="F9FAFB"/>
                          </a:solidFill>
                          <a:latin typeface="Calibri" pitchFamily="34" charset="0"/>
                          <a:ea typeface="Calibri" pitchFamily="34" charset="-122"/>
                          <a:cs typeface="Calibri" pitchFamily="34" charset="-120"/>
                        </a:rPr>
                        <a:t>0.7</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132</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0.925</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0.599</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marL="0" indent="0" algn="ctr">
                        <a:buNone/>
                      </a:pPr>
                      <a:r>
                        <a:rPr lang="en-US" sz="1100" dirty="0">
                          <a:solidFill>
                            <a:srgbClr val="9CA3AF"/>
                          </a:solidFill>
                          <a:latin typeface="Calibri" pitchFamily="34" charset="0"/>
                          <a:ea typeface="Calibri" pitchFamily="34" charset="-122"/>
                          <a:cs typeface="Calibri" pitchFamily="34" charset="-120"/>
                        </a:rPr>
                        <a:t>0.727</a:t>
                      </a:r>
                      <a:endParaRPr lang="en-US" sz="1100" dirty="0">
                        <a:latin typeface="Calibri" charset="0"/>
                        <a:ea typeface="Calibri" charset="0"/>
                        <a:cs typeface="Calibri" charset="0"/>
                      </a:endParaRPr>
                    </a:p>
                  </a:txBody>
                  <a:tcP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extLst>
                  <a:ext uri="{0D108BD9-81ED-4DB2-BD59-A6C34878D82A}">
                    <a16:rowId xmlns:a16="http://schemas.microsoft.com/office/drawing/2014/main" val="10007"/>
                  </a:ext>
                </a:extLst>
              </a:tr>
            </a:tbl>
          </a:graphicData>
        </a:graphic>
      </p:graphicFrame>
      <p:sp>
        <p:nvSpPr>
          <p:cNvPr id="4" name="Shape 1"/>
          <p:cNvSpPr/>
          <p:nvPr/>
        </p:nvSpPr>
        <p:spPr>
          <a:xfrm>
            <a:off x="5440680" y="658368"/>
            <a:ext cx="3337560" cy="1463040"/>
          </a:xfrm>
          <a:prstGeom prst="roundRect">
            <a:avLst>
              <a:gd name="adj" fmla="val 5000"/>
            </a:avLst>
          </a:prstGeom>
          <a:solidFill>
            <a:srgbClr val="0D2218"/>
          </a:solidFill>
          <a:ln w="7620">
            <a:solidFill>
              <a:srgbClr val="374151"/>
            </a:solidFill>
            <a:prstDash val="solid"/>
          </a:ln>
          <a:effectLst>
            <a:outerShdw blurRad="101600" dist="25400" dir="2700000" algn="bl" rotWithShape="0">
              <a:srgbClr val="000000">
                <a:alpha val="20000"/>
              </a:srgbClr>
            </a:outerShdw>
          </a:effectLst>
        </p:spPr>
      </p:sp>
      <p:sp>
        <p:nvSpPr>
          <p:cNvPr id="5" name="Text 2"/>
          <p:cNvSpPr/>
          <p:nvPr/>
        </p:nvSpPr>
        <p:spPr>
          <a:xfrm>
            <a:off x="5577840" y="749808"/>
            <a:ext cx="3063240" cy="320040"/>
          </a:xfrm>
          <a:prstGeom prst="rect">
            <a:avLst/>
          </a:prstGeom>
          <a:noFill/>
          <a:ln/>
        </p:spPr>
        <p:txBody>
          <a:bodyPr wrap="square" lIns="0" tIns="0" rIns="0" bIns="0" rtlCol="0" anchor="ctr"/>
          <a:lstStyle/>
          <a:p>
            <a:pPr marL="0" indent="0">
              <a:buNone/>
            </a:pPr>
            <a:r>
              <a:rPr lang="en-US" sz="1350" b="1" dirty="0">
                <a:solidFill>
                  <a:srgbClr val="10B981"/>
                </a:solidFill>
                <a:latin typeface="Calibri" pitchFamily="34" charset="0"/>
                <a:ea typeface="Calibri" pitchFamily="34" charset="-122"/>
                <a:cs typeface="Calibri" pitchFamily="34" charset="-120"/>
              </a:rPr>
              <a:t>Preporučeni prag: 0.3</a:t>
            </a:r>
            <a:endParaRPr lang="en-US" sz="1350" dirty="0"/>
          </a:p>
        </p:txBody>
      </p:sp>
      <p:sp>
        <p:nvSpPr>
          <p:cNvPr id="6" name="Text 3"/>
          <p:cNvSpPr/>
          <p:nvPr/>
        </p:nvSpPr>
        <p:spPr>
          <a:xfrm>
            <a:off x="5577840" y="1097280"/>
            <a:ext cx="3063240" cy="256032"/>
          </a:xfrm>
          <a:prstGeom prst="rect">
            <a:avLst/>
          </a:prstGeom>
          <a:noFill/>
          <a:ln/>
        </p:spPr>
        <p:txBody>
          <a:bodyPr wrap="square" lIns="0" tIns="0" rIns="0" bIns="0" rtlCol="0" anchor="ctr"/>
          <a:lstStyle/>
          <a:p>
            <a:pPr marL="0" indent="0">
              <a:buNone/>
            </a:pPr>
            <a:r>
              <a:rPr lang="en-US" sz="1050" dirty="0">
                <a:solidFill>
                  <a:srgbClr val="9CA3AF"/>
                </a:solidFill>
                <a:latin typeface="Calibri" pitchFamily="34" charset="0"/>
                <a:ea typeface="Calibri" pitchFamily="34" charset="-122"/>
                <a:cs typeface="Calibri" pitchFamily="34" charset="-120"/>
              </a:rPr>
              <a:t>Hvata </a:t>
            </a:r>
            <a:r>
              <a:rPr lang="en-US" sz="1050" b="1" dirty="0">
                <a:solidFill>
                  <a:srgbClr val="34D399"/>
                </a:solidFill>
                <a:latin typeface="Calibri" pitchFamily="34" charset="0"/>
                <a:ea typeface="Calibri" pitchFamily="34" charset="-122"/>
                <a:cs typeface="Calibri" pitchFamily="34" charset="-120"/>
              </a:rPr>
              <a:t>262/329</a:t>
            </a:r>
            <a:r>
              <a:rPr lang="en-US" sz="1050" dirty="0">
                <a:solidFill>
                  <a:srgbClr val="9CA3AF"/>
                </a:solidFill>
                <a:latin typeface="Calibri" pitchFamily="34" charset="0"/>
                <a:ea typeface="Calibri" pitchFamily="34" charset="-122"/>
                <a:cs typeface="Calibri" pitchFamily="34" charset="-120"/>
              </a:rPr>
              <a:t> prevara (Recall 79.6%)</a:t>
            </a:r>
            <a:endParaRPr lang="en-US" sz="1050" dirty="0"/>
          </a:p>
        </p:txBody>
      </p:sp>
      <p:sp>
        <p:nvSpPr>
          <p:cNvPr id="7" name="Text 4"/>
          <p:cNvSpPr/>
          <p:nvPr/>
        </p:nvSpPr>
        <p:spPr>
          <a:xfrm>
            <a:off x="5577840" y="1371600"/>
            <a:ext cx="3063240" cy="219456"/>
          </a:xfrm>
          <a:prstGeom prst="rect">
            <a:avLst/>
          </a:prstGeom>
          <a:noFill/>
          <a:ln/>
        </p:spPr>
        <p:txBody>
          <a:bodyPr wrap="square" lIns="0" tIns="0" rIns="0" bIns="0" rtlCol="0" anchor="ctr"/>
          <a:lstStyle/>
          <a:p>
            <a:pPr marL="0" indent="0">
              <a:buNone/>
            </a:pPr>
            <a:r>
              <a:rPr lang="en-US" sz="1000" dirty="0">
                <a:solidFill>
                  <a:srgbClr val="9CA3AF"/>
                </a:solidFill>
                <a:latin typeface="Calibri" pitchFamily="34" charset="0"/>
                <a:ea typeface="Calibri" pitchFamily="34" charset="-122"/>
                <a:cs typeface="Calibri" pitchFamily="34" charset="-120"/>
              </a:rPr>
              <a:t>70 lažnih uzbuna vs. 28 pri pragu 0.5</a:t>
            </a:r>
            <a:endParaRPr lang="en-US" sz="1000" dirty="0"/>
          </a:p>
        </p:txBody>
      </p:sp>
      <p:sp>
        <p:nvSpPr>
          <p:cNvPr id="8" name="Shape 5"/>
          <p:cNvSpPr/>
          <p:nvPr/>
        </p:nvSpPr>
        <p:spPr>
          <a:xfrm>
            <a:off x="5440680" y="2249424"/>
            <a:ext cx="3337560" cy="658368"/>
          </a:xfrm>
          <a:prstGeom prst="roundRect">
            <a:avLst>
              <a:gd name="adj" fmla="val 11111"/>
            </a:avLst>
          </a:prstGeom>
          <a:solidFill>
            <a:srgbClr val="1F2937"/>
          </a:solidFill>
          <a:ln w="7620">
            <a:solidFill>
              <a:srgbClr val="374151"/>
            </a:solidFill>
            <a:prstDash val="solid"/>
          </a:ln>
        </p:spPr>
      </p:sp>
      <p:sp>
        <p:nvSpPr>
          <p:cNvPr id="9" name="Text 6"/>
          <p:cNvSpPr/>
          <p:nvPr/>
        </p:nvSpPr>
        <p:spPr>
          <a:xfrm>
            <a:off x="5577840" y="2322576"/>
            <a:ext cx="3063240" cy="228600"/>
          </a:xfrm>
          <a:prstGeom prst="rect">
            <a:avLst/>
          </a:prstGeom>
          <a:noFill/>
          <a:ln/>
        </p:spPr>
        <p:txBody>
          <a:bodyPr wrap="square" lIns="0" tIns="0" rIns="0" bIns="0" rtlCol="0" anchor="ctr"/>
          <a:lstStyle/>
          <a:p>
            <a:pPr marL="0" indent="0">
              <a:buNone/>
            </a:pPr>
            <a:r>
              <a:rPr lang="en-US" sz="1000" b="1" dirty="0">
                <a:solidFill>
                  <a:srgbClr val="FBBF24"/>
                </a:solidFill>
                <a:latin typeface="Calibri" pitchFamily="34" charset="0"/>
                <a:ea typeface="Calibri" pitchFamily="34" charset="-122"/>
                <a:cs typeface="Calibri" pitchFamily="34" charset="-120"/>
              </a:rPr>
              <a:t>Bankarski kontekst</a:t>
            </a:r>
            <a:endParaRPr lang="en-US" sz="1000" dirty="0"/>
          </a:p>
        </p:txBody>
      </p:sp>
      <p:sp>
        <p:nvSpPr>
          <p:cNvPr id="3" name="Text 7"/>
          <p:cNvSpPr/>
          <p:nvPr/>
        </p:nvSpPr>
        <p:spPr>
          <a:xfrm>
            <a:off x="5577840" y="2560320"/>
            <a:ext cx="3063240" cy="301752"/>
          </a:xfrm>
          <a:prstGeom prst="rect">
            <a:avLst/>
          </a:prstGeom>
          <a:noFill/>
          <a:ln/>
        </p:spPr>
        <p:txBody>
          <a:bodyPr wrap="square" lIns="0" tIns="0" rIns="0" bIns="0" rtlCol="0" anchor="ctr"/>
          <a:lstStyle/>
          <a:p>
            <a:pPr marL="0" indent="0">
              <a:buNone/>
            </a:pPr>
            <a:r>
              <a:rPr lang="en-US" sz="900" dirty="0">
                <a:solidFill>
                  <a:srgbClr val="9CA3AF"/>
                </a:solidFill>
                <a:latin typeface="Calibri" pitchFamily="34" charset="0"/>
                <a:ea typeface="Calibri" pitchFamily="34" charset="-122"/>
                <a:cs typeface="Calibri" pitchFamily="34" charset="-120"/>
              </a:rPr>
              <a:t>Cena propuštene prevare (finansijski gubitak) &gt;&gt; cena lažne uzbune (SMS potvrda klijentu).</a:t>
            </a:r>
            <a:endParaRPr lang="en-US" sz="900" dirty="0"/>
          </a:p>
        </p:txBody>
      </p:sp>
      <p:sp>
        <p:nvSpPr>
          <p:cNvPr id="11" name="Shape 8"/>
          <p:cNvSpPr/>
          <p:nvPr/>
        </p:nvSpPr>
        <p:spPr>
          <a:xfrm>
            <a:off x="5440680" y="2999232"/>
            <a:ext cx="3337560" cy="658368"/>
          </a:xfrm>
          <a:prstGeom prst="roundRect">
            <a:avLst>
              <a:gd name="adj" fmla="val 11111"/>
            </a:avLst>
          </a:prstGeom>
          <a:solidFill>
            <a:srgbClr val="1F2937"/>
          </a:solidFill>
          <a:ln w="7620">
            <a:solidFill>
              <a:srgbClr val="374151"/>
            </a:solidFill>
            <a:prstDash val="solid"/>
          </a:ln>
        </p:spPr>
      </p:sp>
      <p:sp>
        <p:nvSpPr>
          <p:cNvPr id="12" name="Text 9"/>
          <p:cNvSpPr/>
          <p:nvPr/>
        </p:nvSpPr>
        <p:spPr>
          <a:xfrm>
            <a:off x="5577840" y="3072384"/>
            <a:ext cx="3063240" cy="228600"/>
          </a:xfrm>
          <a:prstGeom prst="rect">
            <a:avLst/>
          </a:prstGeom>
          <a:noFill/>
          <a:ln/>
        </p:spPr>
        <p:txBody>
          <a:bodyPr wrap="square" lIns="0" tIns="0" rIns="0" bIns="0" rtlCol="0" anchor="ctr"/>
          <a:lstStyle/>
          <a:p>
            <a:pPr marL="0" indent="0">
              <a:buNone/>
            </a:pPr>
            <a:r>
              <a:rPr lang="en-US" sz="1000" b="1" dirty="0">
                <a:solidFill>
                  <a:srgbClr val="60A5FA"/>
                </a:solidFill>
                <a:latin typeface="Calibri" pitchFamily="34" charset="0"/>
                <a:ea typeface="Calibri" pitchFamily="34" charset="-122"/>
                <a:cs typeface="Calibri" pitchFamily="34" charset="-120"/>
              </a:rPr>
              <a:t>Prag 0.1 — previše uzbuna</a:t>
            </a:r>
            <a:endParaRPr lang="en-US" sz="1000" dirty="0"/>
          </a:p>
        </p:txBody>
      </p:sp>
      <p:sp>
        <p:nvSpPr>
          <p:cNvPr id="13" name="Text 10"/>
          <p:cNvSpPr/>
          <p:nvPr/>
        </p:nvSpPr>
        <p:spPr>
          <a:xfrm>
            <a:off x="5577840" y="3310128"/>
            <a:ext cx="3063240" cy="301752"/>
          </a:xfrm>
          <a:prstGeom prst="rect">
            <a:avLst/>
          </a:prstGeom>
          <a:noFill/>
          <a:ln/>
        </p:spPr>
        <p:txBody>
          <a:bodyPr wrap="square" lIns="0" tIns="0" rIns="0" bIns="0" rtlCol="0" anchor="ctr"/>
          <a:lstStyle/>
          <a:p>
            <a:pPr marL="0" indent="0">
              <a:buNone/>
            </a:pPr>
            <a:r>
              <a:rPr lang="en-US" sz="900" dirty="0">
                <a:solidFill>
                  <a:srgbClr val="9CA3AF"/>
                </a:solidFill>
                <a:latin typeface="Calibri" pitchFamily="34" charset="0"/>
                <a:ea typeface="Calibri" pitchFamily="34" charset="-122"/>
                <a:cs typeface="Calibri" pitchFamily="34" charset="-120"/>
              </a:rPr>
              <a:t>322 lažnih uzbuna je neprihvatljivo za operativni sistem banke.</a:t>
            </a:r>
            <a:endParaRPr lang="en-US" sz="900" dirty="0"/>
          </a:p>
        </p:txBody>
      </p:sp>
      <p:sp>
        <p:nvSpPr>
          <p:cNvPr id="14" name="Shape 11"/>
          <p:cNvSpPr/>
          <p:nvPr/>
        </p:nvSpPr>
        <p:spPr>
          <a:xfrm>
            <a:off x="5440680" y="3749040"/>
            <a:ext cx="3337560" cy="658368"/>
          </a:xfrm>
          <a:prstGeom prst="roundRect">
            <a:avLst>
              <a:gd name="adj" fmla="val 11111"/>
            </a:avLst>
          </a:prstGeom>
          <a:solidFill>
            <a:srgbClr val="1F2937"/>
          </a:solidFill>
          <a:ln w="7620">
            <a:solidFill>
              <a:srgbClr val="374151"/>
            </a:solidFill>
            <a:prstDash val="solid"/>
          </a:ln>
        </p:spPr>
      </p:sp>
      <p:sp>
        <p:nvSpPr>
          <p:cNvPr id="15" name="Text 12"/>
          <p:cNvSpPr/>
          <p:nvPr/>
        </p:nvSpPr>
        <p:spPr>
          <a:xfrm>
            <a:off x="5577840" y="3822192"/>
            <a:ext cx="3063240" cy="228600"/>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F1 balans</a:t>
            </a:r>
            <a:endParaRPr lang="en-US" sz="1000" dirty="0"/>
          </a:p>
        </p:txBody>
      </p:sp>
      <p:sp>
        <p:nvSpPr>
          <p:cNvPr id="16" name="Text 13"/>
          <p:cNvSpPr/>
          <p:nvPr/>
        </p:nvSpPr>
        <p:spPr>
          <a:xfrm>
            <a:off x="5577840" y="4059936"/>
            <a:ext cx="3063240" cy="301752"/>
          </a:xfrm>
          <a:prstGeom prst="rect">
            <a:avLst/>
          </a:prstGeom>
          <a:noFill/>
          <a:ln/>
        </p:spPr>
        <p:txBody>
          <a:bodyPr wrap="square" lIns="0" tIns="0" rIns="0" bIns="0" rtlCol="0" anchor="ctr"/>
          <a:lstStyle/>
          <a:p>
            <a:pPr marL="0" indent="0">
              <a:buNone/>
            </a:pPr>
            <a:r>
              <a:rPr lang="en-US" sz="900" dirty="0">
                <a:solidFill>
                  <a:srgbClr val="9CA3AF"/>
                </a:solidFill>
                <a:latin typeface="Calibri" pitchFamily="34" charset="0"/>
                <a:ea typeface="Calibri" pitchFamily="34" charset="-122"/>
                <a:cs typeface="Calibri" pitchFamily="34" charset="-120"/>
              </a:rPr>
              <a:t>Prag 0.3 nudi najuravnoteženiji odnos (P=0.789, R=0.796) za bankarsku primenu.</a:t>
            </a:r>
            <a:endParaRPr lang="en-US" sz="900" dirty="0"/>
          </a:p>
        </p:txBody>
      </p:sp>
      <p:sp>
        <p:nvSpPr>
          <p:cNvPr id="17" name="Shape 14"/>
          <p:cNvSpPr/>
          <p:nvPr/>
        </p:nvSpPr>
        <p:spPr>
          <a:xfrm>
            <a:off x="365760" y="3977640"/>
            <a:ext cx="4937760" cy="502920"/>
          </a:xfrm>
          <a:prstGeom prst="roundRect">
            <a:avLst>
              <a:gd name="adj" fmla="val 14545"/>
            </a:avLst>
          </a:prstGeom>
          <a:solidFill>
            <a:srgbClr val="0D1A14"/>
          </a:solidFill>
          <a:ln w="7620">
            <a:solidFill>
              <a:srgbClr val="374151"/>
            </a:solidFill>
            <a:prstDash val="solid"/>
          </a:ln>
        </p:spPr>
      </p:sp>
      <p:sp>
        <p:nvSpPr>
          <p:cNvPr id="18" name="Text 15"/>
          <p:cNvSpPr/>
          <p:nvPr/>
        </p:nvSpPr>
        <p:spPr>
          <a:xfrm>
            <a:off x="493776" y="4023360"/>
            <a:ext cx="4718304" cy="420624"/>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Konačan izbor praga u produkcijskom sistemu zavisi od poslovne politike banke i definisanog odnosa troškova FP i FN grešaka.</a:t>
            </a:r>
            <a:endParaRPr lang="en-US" sz="95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365760"/>
          </a:xfrm>
          <a:prstGeom prst="rect">
            <a:avLst/>
          </a:prstGeom>
          <a:noFill/>
          <a:ln/>
        </p:spPr>
        <p:txBody>
          <a:bodyPr wrap="square" lIns="0" tIns="0" rIns="0" bIns="0" rtlCol="0" anchor="ctr"/>
          <a:lstStyle/>
          <a:p>
            <a:pPr marL="0" indent="0">
              <a:buNone/>
            </a:pPr>
            <a:r>
              <a:rPr lang="en-US" sz="1700" b="1" dirty="0">
                <a:solidFill>
                  <a:srgbClr val="10B981"/>
                </a:solidFill>
                <a:latin typeface="Calibri" pitchFamily="34" charset="0"/>
                <a:ea typeface="Calibri" pitchFamily="34" charset="-122"/>
                <a:cs typeface="Calibri" pitchFamily="34" charset="-120"/>
              </a:rPr>
              <a:t>07</a:t>
            </a:r>
            <a:r>
              <a:rPr lang="en-US" sz="1700" dirty="0">
                <a:solidFill>
                  <a:srgbClr val="9CA3AF"/>
                </a:solidFill>
                <a:latin typeface="Calibri" pitchFamily="34" charset="0"/>
                <a:ea typeface="Calibri" pitchFamily="34" charset="-122"/>
                <a:cs typeface="Calibri" pitchFamily="34" charset="-120"/>
              </a:rPr>
              <a:t>  ·  </a:t>
            </a:r>
            <a:r>
              <a:rPr lang="en-US" sz="1700" b="1" dirty="0">
                <a:solidFill>
                  <a:srgbClr val="F9FAFB"/>
                </a:solidFill>
                <a:latin typeface="Calibri" pitchFamily="34" charset="0"/>
                <a:ea typeface="Calibri" pitchFamily="34" charset="-122"/>
                <a:cs typeface="Calibri" pitchFamily="34" charset="-120"/>
              </a:rPr>
              <a:t>Diskusija</a:t>
            </a:r>
            <a:endParaRPr lang="en-US" sz="1700" dirty="0"/>
          </a:p>
        </p:txBody>
      </p:sp>
      <p:sp>
        <p:nvSpPr>
          <p:cNvPr id="3" name="Shape 1"/>
          <p:cNvSpPr/>
          <p:nvPr/>
        </p:nvSpPr>
        <p:spPr>
          <a:xfrm>
            <a:off x="365760" y="658368"/>
            <a:ext cx="4160520" cy="1828800"/>
          </a:xfrm>
          <a:prstGeom prst="roundRect">
            <a:avLst>
              <a:gd name="adj" fmla="val 4000"/>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4" name="Shape 2"/>
          <p:cNvSpPr/>
          <p:nvPr/>
        </p:nvSpPr>
        <p:spPr>
          <a:xfrm>
            <a:off x="493776" y="786384"/>
            <a:ext cx="201168" cy="201168"/>
          </a:xfrm>
          <a:prstGeom prst="ellipse">
            <a:avLst/>
          </a:prstGeom>
          <a:solidFill>
            <a:srgbClr val="10B981"/>
          </a:solidFill>
          <a:ln w="12700">
            <a:solidFill>
              <a:srgbClr val="10B981"/>
            </a:solidFill>
            <a:prstDash val="solid"/>
          </a:ln>
        </p:spPr>
      </p:sp>
      <p:sp>
        <p:nvSpPr>
          <p:cNvPr id="5" name="Text 3"/>
          <p:cNvSpPr/>
          <p:nvPr/>
        </p:nvSpPr>
        <p:spPr>
          <a:xfrm>
            <a:off x="777240" y="749808"/>
            <a:ext cx="3639312" cy="274320"/>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Regularizacija: manje je više</a:t>
            </a:r>
            <a:endParaRPr lang="en-US" sz="1100" dirty="0"/>
          </a:p>
        </p:txBody>
      </p:sp>
      <p:sp>
        <p:nvSpPr>
          <p:cNvPr id="6" name="Text 4"/>
          <p:cNvSpPr/>
          <p:nvPr/>
        </p:nvSpPr>
        <p:spPr>
          <a:xfrm>
            <a:off x="493776" y="1088136"/>
            <a:ext cx="3904488" cy="1325880"/>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Dropout 0.3 bio previše agresivan — gušio je sposobnost mreže da nauči retke obrasce prevara. Smanjenjem na 0.1 postignut je apsolutno najbolji Val Loss (0.0110).</a:t>
            </a:r>
            <a:endParaRPr lang="en-US" sz="950" dirty="0"/>
          </a:p>
        </p:txBody>
      </p:sp>
      <p:sp>
        <p:nvSpPr>
          <p:cNvPr id="7" name="Shape 5"/>
          <p:cNvSpPr/>
          <p:nvPr/>
        </p:nvSpPr>
        <p:spPr>
          <a:xfrm>
            <a:off x="4636008" y="658368"/>
            <a:ext cx="4160520" cy="1828800"/>
          </a:xfrm>
          <a:prstGeom prst="roundRect">
            <a:avLst>
              <a:gd name="adj" fmla="val 4000"/>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8" name="Shape 6"/>
          <p:cNvSpPr/>
          <p:nvPr/>
        </p:nvSpPr>
        <p:spPr>
          <a:xfrm>
            <a:off x="4764024" y="786384"/>
            <a:ext cx="201168" cy="201168"/>
          </a:xfrm>
          <a:prstGeom prst="ellipse">
            <a:avLst/>
          </a:prstGeom>
          <a:solidFill>
            <a:srgbClr val="60A5FA"/>
          </a:solidFill>
          <a:ln w="12700">
            <a:solidFill>
              <a:srgbClr val="60A5FA"/>
            </a:solidFill>
            <a:prstDash val="solid"/>
          </a:ln>
        </p:spPr>
      </p:sp>
      <p:sp>
        <p:nvSpPr>
          <p:cNvPr id="9" name="Text 7"/>
          <p:cNvSpPr/>
          <p:nvPr/>
        </p:nvSpPr>
        <p:spPr>
          <a:xfrm>
            <a:off x="5047488" y="749808"/>
            <a:ext cx="3639312" cy="274320"/>
          </a:xfrm>
          <a:prstGeom prst="rect">
            <a:avLst/>
          </a:prstGeom>
          <a:noFill/>
          <a:ln/>
        </p:spPr>
        <p:txBody>
          <a:bodyPr wrap="square" lIns="0" tIns="0" rIns="0" bIns="0" rtlCol="0" anchor="ctr"/>
          <a:lstStyle/>
          <a:p>
            <a:pPr marL="0" indent="0">
              <a:buNone/>
            </a:pPr>
            <a:r>
              <a:rPr lang="en-US" sz="1100" b="1" dirty="0">
                <a:solidFill>
                  <a:srgbClr val="60A5FA"/>
                </a:solidFill>
                <a:latin typeface="Calibri" pitchFamily="34" charset="0"/>
                <a:ea typeface="Calibri" pitchFamily="34" charset="-122"/>
                <a:cs typeface="Calibri" pitchFamily="34" charset="-120"/>
              </a:rPr>
              <a:t>Kapacitet mreže — veća = brža konvergencija</a:t>
            </a:r>
            <a:endParaRPr lang="en-US" sz="1100" dirty="0"/>
          </a:p>
        </p:txBody>
      </p:sp>
      <p:sp>
        <p:nvSpPr>
          <p:cNvPr id="10" name="Text 8"/>
          <p:cNvSpPr/>
          <p:nvPr/>
        </p:nvSpPr>
        <p:spPr>
          <a:xfrm>
            <a:off x="4764024" y="1088136"/>
            <a:ext cx="3904488" cy="1325880"/>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Model (128,64) konvergira za 29 epoha vs. 35 kod baseline — širi prostor obeležja lakše razdvaja klase. Aditivnost ne važi: kombinovanje ne daje zbir poboljšanja.</a:t>
            </a:r>
            <a:endParaRPr lang="en-US" sz="950" dirty="0"/>
          </a:p>
        </p:txBody>
      </p:sp>
      <p:sp>
        <p:nvSpPr>
          <p:cNvPr id="11" name="Shape 9"/>
          <p:cNvSpPr/>
          <p:nvPr/>
        </p:nvSpPr>
        <p:spPr>
          <a:xfrm>
            <a:off x="365760" y="2596896"/>
            <a:ext cx="4160520" cy="1828800"/>
          </a:xfrm>
          <a:prstGeom prst="roundRect">
            <a:avLst>
              <a:gd name="adj" fmla="val 4000"/>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12" name="Shape 10"/>
          <p:cNvSpPr/>
          <p:nvPr/>
        </p:nvSpPr>
        <p:spPr>
          <a:xfrm>
            <a:off x="493776" y="2724912"/>
            <a:ext cx="201168" cy="201168"/>
          </a:xfrm>
          <a:prstGeom prst="ellipse">
            <a:avLst/>
          </a:prstGeom>
          <a:solidFill>
            <a:srgbClr val="FBBF24"/>
          </a:solidFill>
          <a:ln w="12700">
            <a:solidFill>
              <a:srgbClr val="FBBF24"/>
            </a:solidFill>
            <a:prstDash val="solid"/>
          </a:ln>
        </p:spPr>
      </p:sp>
      <p:sp>
        <p:nvSpPr>
          <p:cNvPr id="13" name="Text 11"/>
          <p:cNvSpPr/>
          <p:nvPr/>
        </p:nvSpPr>
        <p:spPr>
          <a:xfrm>
            <a:off x="777240" y="2688336"/>
            <a:ext cx="3639312" cy="274320"/>
          </a:xfrm>
          <a:prstGeom prst="rect">
            <a:avLst/>
          </a:prstGeom>
          <a:noFill/>
          <a:ln/>
        </p:spPr>
        <p:txBody>
          <a:bodyPr wrap="square" lIns="0" tIns="0" rIns="0" bIns="0" rtlCol="0" anchor="ctr"/>
          <a:lstStyle/>
          <a:p>
            <a:pPr marL="0" indent="0">
              <a:buNone/>
            </a:pPr>
            <a:r>
              <a:rPr lang="en-US" sz="1100" b="1" dirty="0">
                <a:solidFill>
                  <a:srgbClr val="FBBF24"/>
                </a:solidFill>
                <a:latin typeface="Calibri" pitchFamily="34" charset="0"/>
                <a:ea typeface="Calibri" pitchFamily="34" charset="-122"/>
                <a:cs typeface="Calibri" pitchFamily="34" charset="-120"/>
              </a:rPr>
              <a:t>RobustScaler — ključan za finansijske podatke</a:t>
            </a:r>
            <a:endParaRPr lang="en-US" sz="1100" dirty="0"/>
          </a:p>
        </p:txBody>
      </p:sp>
      <p:sp>
        <p:nvSpPr>
          <p:cNvPr id="14" name="Text 12"/>
          <p:cNvSpPr/>
          <p:nvPr/>
        </p:nvSpPr>
        <p:spPr>
          <a:xfrm>
            <a:off x="493776" y="3026664"/>
            <a:ext cx="3904488" cy="1325880"/>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Shapiro-Wilk test potvrdio nenormalnu raspodelu svih obeležja. RobustScaler ignoruje ekstremne iznose transakcija (outlajeri) i čuva stabilnost gradijenata.</a:t>
            </a:r>
            <a:endParaRPr lang="en-US" sz="950" dirty="0"/>
          </a:p>
        </p:txBody>
      </p:sp>
      <p:sp>
        <p:nvSpPr>
          <p:cNvPr id="15" name="Shape 13"/>
          <p:cNvSpPr/>
          <p:nvPr/>
        </p:nvSpPr>
        <p:spPr>
          <a:xfrm>
            <a:off x="4636008" y="2596896"/>
            <a:ext cx="4160520" cy="1828800"/>
          </a:xfrm>
          <a:prstGeom prst="roundRect">
            <a:avLst>
              <a:gd name="adj" fmla="val 4000"/>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16" name="Shape 14"/>
          <p:cNvSpPr/>
          <p:nvPr/>
        </p:nvSpPr>
        <p:spPr>
          <a:xfrm>
            <a:off x="4764024" y="2724912"/>
            <a:ext cx="201168" cy="201168"/>
          </a:xfrm>
          <a:prstGeom prst="ellipse">
            <a:avLst/>
          </a:prstGeom>
          <a:solidFill>
            <a:srgbClr val="F87171"/>
          </a:solidFill>
          <a:ln w="12700">
            <a:solidFill>
              <a:srgbClr val="F87171"/>
            </a:solidFill>
            <a:prstDash val="solid"/>
          </a:ln>
        </p:spPr>
      </p:sp>
      <p:sp>
        <p:nvSpPr>
          <p:cNvPr id="17" name="Text 15"/>
          <p:cNvSpPr/>
          <p:nvPr/>
        </p:nvSpPr>
        <p:spPr>
          <a:xfrm>
            <a:off x="5047488" y="2688336"/>
            <a:ext cx="3639312" cy="274320"/>
          </a:xfrm>
          <a:prstGeom prst="rect">
            <a:avLst/>
          </a:prstGeom>
          <a:noFill/>
          <a:ln/>
        </p:spPr>
        <p:txBody>
          <a:bodyPr wrap="square" lIns="0" tIns="0" rIns="0" bIns="0" rtlCol="0" anchor="ctr"/>
          <a:lstStyle/>
          <a:p>
            <a:pPr marL="0" indent="0">
              <a:buNone/>
            </a:pPr>
            <a:r>
              <a:rPr lang="en-US" sz="1100" b="1" dirty="0">
                <a:solidFill>
                  <a:srgbClr val="F87171"/>
                </a:solidFill>
                <a:latin typeface="Calibri" pitchFamily="34" charset="0"/>
                <a:ea typeface="Calibri" pitchFamily="34" charset="-122"/>
                <a:cs typeface="Calibri" pitchFamily="34" charset="-120"/>
              </a:rPr>
              <a:t>Ograničenja i dalja istraživanja</a:t>
            </a:r>
            <a:endParaRPr lang="en-US" sz="1100" dirty="0"/>
          </a:p>
        </p:txBody>
      </p:sp>
      <p:sp>
        <p:nvSpPr>
          <p:cNvPr id="18" name="Text 16"/>
          <p:cNvSpPr/>
          <p:nvPr/>
        </p:nvSpPr>
        <p:spPr>
          <a:xfrm>
            <a:off x="4764024" y="3026664"/>
            <a:ext cx="3904488" cy="1325880"/>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1) Uvesti 1.5M transakcija za širi obuhvat prevara.</a:t>
            </a:r>
            <a:endParaRPr lang="en-US" sz="950" dirty="0"/>
          </a:p>
          <a:p>
            <a:pPr marL="0" indent="0">
              <a:buNone/>
            </a:pPr>
            <a:r>
              <a:rPr lang="en-US" sz="950" dirty="0">
                <a:solidFill>
                  <a:srgbClr val="9CA3AF"/>
                </a:solidFill>
                <a:latin typeface="Calibri" pitchFamily="34" charset="0"/>
                <a:ea typeface="Calibri" pitchFamily="34" charset="-122"/>
                <a:cs typeface="Calibri" pitchFamily="34" charset="-120"/>
              </a:rPr>
              <a:t>2) Feature: udaljenost klijent ↔ prodavnica (lat/lon → km).</a:t>
            </a:r>
            <a:endParaRPr lang="en-US" sz="950" dirty="0"/>
          </a:p>
          <a:p>
            <a:pPr marL="0" indent="0">
              <a:buNone/>
            </a:pPr>
            <a:r>
              <a:rPr lang="en-US" sz="950" dirty="0">
                <a:solidFill>
                  <a:srgbClr val="9CA3AF"/>
                </a:solidFill>
                <a:latin typeface="Calibri" pitchFamily="34" charset="0"/>
                <a:ea typeface="Calibri" pitchFamily="34" charset="-122"/>
                <a:cs typeface="Calibri" pitchFamily="34" charset="-120"/>
              </a:rPr>
              <a:t>3) Temporalna validacija: trenirati na starijim, testirati na novijim transakcijama.</a:t>
            </a:r>
            <a:endParaRPr lang="en-US" sz="9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365760"/>
          </a:xfrm>
          <a:prstGeom prst="rect">
            <a:avLst/>
          </a:prstGeom>
          <a:noFill/>
          <a:ln/>
        </p:spPr>
        <p:txBody>
          <a:bodyPr wrap="square" lIns="0" tIns="0" rIns="0" bIns="0" rtlCol="0" anchor="ctr"/>
          <a:lstStyle/>
          <a:p>
            <a:pPr marL="0" indent="0">
              <a:buNone/>
            </a:pPr>
            <a:r>
              <a:rPr lang="en-US" sz="1700" b="1" dirty="0">
                <a:solidFill>
                  <a:srgbClr val="10B981"/>
                </a:solidFill>
                <a:latin typeface="Calibri" pitchFamily="34" charset="0"/>
                <a:ea typeface="Calibri" pitchFamily="34" charset="-122"/>
                <a:cs typeface="Calibri" pitchFamily="34" charset="-120"/>
              </a:rPr>
              <a:t>08</a:t>
            </a:r>
            <a:r>
              <a:rPr lang="en-US" sz="1700" dirty="0">
                <a:solidFill>
                  <a:srgbClr val="9CA3AF"/>
                </a:solidFill>
                <a:latin typeface="Calibri" pitchFamily="34" charset="0"/>
                <a:ea typeface="Calibri" pitchFamily="34" charset="-122"/>
                <a:cs typeface="Calibri" pitchFamily="34" charset="-120"/>
              </a:rPr>
              <a:t>  ·  </a:t>
            </a:r>
            <a:r>
              <a:rPr lang="en-US" sz="1700" b="1" dirty="0">
                <a:solidFill>
                  <a:srgbClr val="F9FAFB"/>
                </a:solidFill>
                <a:latin typeface="Calibri" pitchFamily="34" charset="0"/>
                <a:ea typeface="Calibri" pitchFamily="34" charset="-122"/>
                <a:cs typeface="Calibri" pitchFamily="34" charset="-120"/>
              </a:rPr>
              <a:t>Zaključak</a:t>
            </a:r>
            <a:endParaRPr lang="en-US" sz="1700" dirty="0"/>
          </a:p>
        </p:txBody>
      </p:sp>
      <p:sp>
        <p:nvSpPr>
          <p:cNvPr id="3" name="Shape 1"/>
          <p:cNvSpPr/>
          <p:nvPr/>
        </p:nvSpPr>
        <p:spPr>
          <a:xfrm>
            <a:off x="365760" y="658368"/>
            <a:ext cx="8412480" cy="694944"/>
          </a:xfrm>
          <a:prstGeom prst="roundRect">
            <a:avLst>
              <a:gd name="adj" fmla="val 10526"/>
            </a:avLst>
          </a:prstGeom>
          <a:solidFill>
            <a:srgbClr val="0A2218"/>
          </a:solidFill>
          <a:ln w="7620">
            <a:solidFill>
              <a:srgbClr val="374151"/>
            </a:solidFill>
            <a:prstDash val="solid"/>
          </a:ln>
          <a:effectLst>
            <a:outerShdw blurRad="101600" dist="25400" dir="2700000" algn="bl" rotWithShape="0">
              <a:srgbClr val="000000">
                <a:alpha val="20000"/>
              </a:srgbClr>
            </a:outerShdw>
          </a:effectLst>
        </p:spPr>
      </p:sp>
      <p:sp>
        <p:nvSpPr>
          <p:cNvPr id="4" name="Text 2"/>
          <p:cNvSpPr/>
          <p:nvPr/>
        </p:nvSpPr>
        <p:spPr>
          <a:xfrm>
            <a:off x="530352" y="731520"/>
            <a:ext cx="8083296" cy="548640"/>
          </a:xfrm>
          <a:prstGeom prst="rect">
            <a:avLst/>
          </a:prstGeom>
          <a:noFill/>
          <a:ln/>
        </p:spPr>
        <p:txBody>
          <a:bodyPr wrap="square" lIns="0" tIns="0" rIns="0" bIns="0" rtlCol="0" anchor="ctr"/>
          <a:lstStyle/>
          <a:p>
            <a:pPr marL="0" indent="0">
              <a:buNone/>
            </a:pPr>
            <a:r>
              <a:rPr lang="en-US" sz="1250" dirty="0">
                <a:solidFill>
                  <a:srgbClr val="9CA3AF"/>
                </a:solidFill>
                <a:latin typeface="Calibri" pitchFamily="34" charset="0"/>
                <a:ea typeface="Calibri" pitchFamily="34" charset="-122"/>
                <a:cs typeface="Calibri" pitchFamily="34" charset="-120"/>
              </a:rPr>
              <a:t>Finalni model: </a:t>
            </a:r>
            <a:r>
              <a:rPr lang="en-US" sz="1250" b="1" dirty="0">
                <a:solidFill>
                  <a:srgbClr val="34D399"/>
                </a:solidFill>
                <a:latin typeface="Calibri" pitchFamily="34" charset="0"/>
                <a:ea typeface="Calibri" pitchFamily="34" charset="-122"/>
                <a:cs typeface="Calibri" pitchFamily="34" charset="-120"/>
              </a:rPr>
              <a:t>hidden=(64,32), dropout=0.1, lr=0.001</a:t>
            </a:r>
            <a:r>
              <a:rPr lang="en-US" sz="1250" dirty="0">
                <a:solidFill>
                  <a:srgbClr val="9CA3AF"/>
                </a:solidFill>
                <a:latin typeface="Calibri" pitchFamily="34" charset="0"/>
                <a:ea typeface="Calibri" pitchFamily="34" charset="-122"/>
                <a:cs typeface="Calibri" pitchFamily="34" charset="-120"/>
              </a:rPr>
              <a:t>   ·   PR-AUC = </a:t>
            </a:r>
            <a:r>
              <a:rPr lang="en-US" sz="1250" b="1" dirty="0">
                <a:solidFill>
                  <a:srgbClr val="10B981"/>
                </a:solidFill>
                <a:latin typeface="Calibri" pitchFamily="34" charset="0"/>
                <a:ea typeface="Calibri" pitchFamily="34" charset="-122"/>
                <a:cs typeface="Calibri" pitchFamily="34" charset="-120"/>
              </a:rPr>
              <a:t>0.8421</a:t>
            </a:r>
            <a:r>
              <a:rPr lang="en-US" sz="1250" dirty="0">
                <a:solidFill>
                  <a:srgbClr val="9CA3AF"/>
                </a:solidFill>
                <a:latin typeface="Calibri" pitchFamily="34" charset="0"/>
                <a:ea typeface="Calibri" pitchFamily="34" charset="-122"/>
                <a:cs typeface="Calibri" pitchFamily="34" charset="-120"/>
              </a:rPr>
              <a:t>  (103× bolji od slučajnog)</a:t>
            </a:r>
            <a:endParaRPr lang="en-US" sz="1250" dirty="0"/>
          </a:p>
        </p:txBody>
      </p:sp>
      <p:sp>
        <p:nvSpPr>
          <p:cNvPr id="5" name="Shape 3"/>
          <p:cNvSpPr/>
          <p:nvPr/>
        </p:nvSpPr>
        <p:spPr>
          <a:xfrm>
            <a:off x="365760" y="1481328"/>
            <a:ext cx="8412480" cy="1024128"/>
          </a:xfrm>
          <a:prstGeom prst="roundRect">
            <a:avLst>
              <a:gd name="adj" fmla="val 7143"/>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6" name="Shape 4"/>
          <p:cNvSpPr/>
          <p:nvPr/>
        </p:nvSpPr>
        <p:spPr>
          <a:xfrm>
            <a:off x="493776" y="1801368"/>
            <a:ext cx="365760" cy="365760"/>
          </a:xfrm>
          <a:prstGeom prst="ellipse">
            <a:avLst/>
          </a:prstGeom>
          <a:solidFill>
            <a:srgbClr val="0D2A1C"/>
          </a:solidFill>
          <a:ln w="19050">
            <a:solidFill>
              <a:srgbClr val="FBBF24"/>
            </a:solidFill>
            <a:prstDash val="solid"/>
          </a:ln>
        </p:spPr>
      </p:sp>
      <p:sp>
        <p:nvSpPr>
          <p:cNvPr id="7" name="Text 5"/>
          <p:cNvSpPr/>
          <p:nvPr/>
        </p:nvSpPr>
        <p:spPr>
          <a:xfrm>
            <a:off x="493776" y="1801368"/>
            <a:ext cx="365760" cy="365760"/>
          </a:xfrm>
          <a:prstGeom prst="rect">
            <a:avLst/>
          </a:prstGeom>
          <a:noFill/>
          <a:ln/>
        </p:spPr>
        <p:txBody>
          <a:bodyPr wrap="square" lIns="0" tIns="0" rIns="0" bIns="0" rtlCol="0" anchor="ctr"/>
          <a:lstStyle/>
          <a:p>
            <a:pPr marL="0" indent="0" algn="ctr">
              <a:buNone/>
            </a:pPr>
            <a:r>
              <a:rPr lang="en-US" sz="1050" b="1" dirty="0">
                <a:solidFill>
                  <a:srgbClr val="FBBF24"/>
                </a:solidFill>
                <a:latin typeface="Calibri" pitchFamily="34" charset="0"/>
                <a:ea typeface="Calibri" pitchFamily="34" charset="-122"/>
                <a:cs typeface="Calibri" pitchFamily="34" charset="-120"/>
              </a:rPr>
              <a:t>01</a:t>
            </a:r>
            <a:endParaRPr lang="en-US" sz="1050" dirty="0"/>
          </a:p>
        </p:txBody>
      </p:sp>
      <p:sp>
        <p:nvSpPr>
          <p:cNvPr id="8" name="Text 6"/>
          <p:cNvSpPr/>
          <p:nvPr/>
        </p:nvSpPr>
        <p:spPr>
          <a:xfrm>
            <a:off x="987552" y="1572768"/>
            <a:ext cx="7662672" cy="256032"/>
          </a:xfrm>
          <a:prstGeom prst="rect">
            <a:avLst/>
          </a:prstGeom>
          <a:noFill/>
          <a:ln/>
        </p:spPr>
        <p:txBody>
          <a:bodyPr wrap="square" lIns="0" tIns="0" rIns="0" bIns="0" rtlCol="0" anchor="ctr"/>
          <a:lstStyle/>
          <a:p>
            <a:pPr marL="0" indent="0">
              <a:buNone/>
            </a:pPr>
            <a:r>
              <a:rPr lang="en-US" sz="1100" b="1" dirty="0">
                <a:solidFill>
                  <a:srgbClr val="FBBF24"/>
                </a:solidFill>
                <a:latin typeface="Calibri" pitchFamily="34" charset="0"/>
                <a:ea typeface="Calibri" pitchFamily="34" charset="-122"/>
                <a:cs typeface="Calibri" pitchFamily="34" charset="-120"/>
              </a:rPr>
              <a:t>Duboko učenje &gt; klasični algoritmi za disbalans</a:t>
            </a:r>
            <a:endParaRPr lang="en-US" sz="1100" dirty="0"/>
          </a:p>
        </p:txBody>
      </p:sp>
      <p:sp>
        <p:nvSpPr>
          <p:cNvPr id="9" name="Text 7"/>
          <p:cNvSpPr/>
          <p:nvPr/>
        </p:nvSpPr>
        <p:spPr>
          <a:xfrm>
            <a:off x="987552" y="1828800"/>
            <a:ext cx="7662672" cy="621792"/>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Feedforward MLP sa pažljivo podešenim parametrima postiže ROC-AUC 0.99 i hvata 76–80% svih prevara uz zanemarljiv broj lažnih uzbuna — rezultat koji klasični modeli bez posebnih tehnika balansiranja ne mogu dostići.</a:t>
            </a:r>
            <a:endParaRPr lang="en-US" sz="950" dirty="0"/>
          </a:p>
        </p:txBody>
      </p:sp>
      <p:sp>
        <p:nvSpPr>
          <p:cNvPr id="10" name="Shape 8"/>
          <p:cNvSpPr/>
          <p:nvPr/>
        </p:nvSpPr>
        <p:spPr>
          <a:xfrm>
            <a:off x="365760" y="2596896"/>
            <a:ext cx="8412480" cy="1024128"/>
          </a:xfrm>
          <a:prstGeom prst="roundRect">
            <a:avLst>
              <a:gd name="adj" fmla="val 7143"/>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11" name="Shape 9"/>
          <p:cNvSpPr/>
          <p:nvPr/>
        </p:nvSpPr>
        <p:spPr>
          <a:xfrm>
            <a:off x="493776" y="2916936"/>
            <a:ext cx="365760" cy="365760"/>
          </a:xfrm>
          <a:prstGeom prst="ellipse">
            <a:avLst/>
          </a:prstGeom>
          <a:solidFill>
            <a:srgbClr val="0D2A1C"/>
          </a:solidFill>
          <a:ln w="19050">
            <a:solidFill>
              <a:srgbClr val="10B981"/>
            </a:solidFill>
            <a:prstDash val="solid"/>
          </a:ln>
        </p:spPr>
      </p:sp>
      <p:sp>
        <p:nvSpPr>
          <p:cNvPr id="12" name="Text 10"/>
          <p:cNvSpPr/>
          <p:nvPr/>
        </p:nvSpPr>
        <p:spPr>
          <a:xfrm>
            <a:off x="493776" y="2916936"/>
            <a:ext cx="365760" cy="365760"/>
          </a:xfrm>
          <a:prstGeom prst="rect">
            <a:avLst/>
          </a:prstGeom>
          <a:noFill/>
          <a:ln/>
        </p:spPr>
        <p:txBody>
          <a:bodyPr wrap="square" lIns="0" tIns="0" rIns="0" bIns="0" rtlCol="0" anchor="ctr"/>
          <a:lstStyle/>
          <a:p>
            <a:pPr marL="0" indent="0" algn="ctr">
              <a:buNone/>
            </a:pPr>
            <a:r>
              <a:rPr lang="en-US" sz="1050" b="1" dirty="0">
                <a:solidFill>
                  <a:srgbClr val="10B981"/>
                </a:solidFill>
                <a:latin typeface="Calibri" pitchFamily="34" charset="0"/>
                <a:ea typeface="Calibri" pitchFamily="34" charset="-122"/>
                <a:cs typeface="Calibri" pitchFamily="34" charset="-120"/>
              </a:rPr>
              <a:t>02</a:t>
            </a:r>
            <a:endParaRPr lang="en-US" sz="1050" dirty="0"/>
          </a:p>
        </p:txBody>
      </p:sp>
      <p:sp>
        <p:nvSpPr>
          <p:cNvPr id="13" name="Text 11"/>
          <p:cNvSpPr/>
          <p:nvPr/>
        </p:nvSpPr>
        <p:spPr>
          <a:xfrm>
            <a:off x="987552" y="2688336"/>
            <a:ext cx="7662672" cy="256032"/>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Preprocesiranje i regularizacija su ključni</a:t>
            </a:r>
            <a:endParaRPr lang="en-US" sz="1100" dirty="0"/>
          </a:p>
        </p:txBody>
      </p:sp>
      <p:sp>
        <p:nvSpPr>
          <p:cNvPr id="14" name="Text 12"/>
          <p:cNvSpPr/>
          <p:nvPr/>
        </p:nvSpPr>
        <p:spPr>
          <a:xfrm>
            <a:off x="987552" y="2944368"/>
            <a:ext cx="7662672" cy="621792"/>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RobustScaler je zaštitio model od ekstremnih iznosa transakcija. Dropout 0.1 (ne 0.3) dao je prostora mreži da nauči fine obrasce prevara. Early Stopping je automatski pronašao optimalni trenutak za zaustavljanje (epoha 25).</a:t>
            </a:r>
            <a:endParaRPr lang="en-US" sz="950" dirty="0"/>
          </a:p>
        </p:txBody>
      </p:sp>
      <p:sp>
        <p:nvSpPr>
          <p:cNvPr id="15" name="Shape 13"/>
          <p:cNvSpPr/>
          <p:nvPr/>
        </p:nvSpPr>
        <p:spPr>
          <a:xfrm>
            <a:off x="365760" y="3712464"/>
            <a:ext cx="8412480" cy="1024128"/>
          </a:xfrm>
          <a:prstGeom prst="roundRect">
            <a:avLst>
              <a:gd name="adj" fmla="val 7143"/>
            </a:avLst>
          </a:prstGeom>
          <a:solidFill>
            <a:srgbClr val="1F2937"/>
          </a:solidFill>
          <a:ln w="7620">
            <a:solidFill>
              <a:srgbClr val="374151"/>
            </a:solidFill>
            <a:prstDash val="solid"/>
          </a:ln>
          <a:effectLst>
            <a:outerShdw blurRad="101600" dist="25400" dir="2700000" algn="bl" rotWithShape="0">
              <a:srgbClr val="000000">
                <a:alpha val="20000"/>
              </a:srgbClr>
            </a:outerShdw>
          </a:effectLst>
        </p:spPr>
      </p:sp>
      <p:sp>
        <p:nvSpPr>
          <p:cNvPr id="16" name="Shape 14"/>
          <p:cNvSpPr/>
          <p:nvPr/>
        </p:nvSpPr>
        <p:spPr>
          <a:xfrm>
            <a:off x="493776" y="4032504"/>
            <a:ext cx="365760" cy="365760"/>
          </a:xfrm>
          <a:prstGeom prst="ellipse">
            <a:avLst/>
          </a:prstGeom>
          <a:solidFill>
            <a:srgbClr val="0D2A1C"/>
          </a:solidFill>
          <a:ln w="19050">
            <a:solidFill>
              <a:srgbClr val="60A5FA"/>
            </a:solidFill>
            <a:prstDash val="solid"/>
          </a:ln>
        </p:spPr>
      </p:sp>
      <p:sp>
        <p:nvSpPr>
          <p:cNvPr id="17" name="Text 15"/>
          <p:cNvSpPr/>
          <p:nvPr/>
        </p:nvSpPr>
        <p:spPr>
          <a:xfrm>
            <a:off x="493776" y="4032504"/>
            <a:ext cx="365760" cy="365760"/>
          </a:xfrm>
          <a:prstGeom prst="rect">
            <a:avLst/>
          </a:prstGeom>
          <a:noFill/>
          <a:ln/>
        </p:spPr>
        <p:txBody>
          <a:bodyPr wrap="square" lIns="0" tIns="0" rIns="0" bIns="0" rtlCol="0" anchor="ctr"/>
          <a:lstStyle/>
          <a:p>
            <a:pPr marL="0" indent="0" algn="ctr">
              <a:buNone/>
            </a:pPr>
            <a:r>
              <a:rPr lang="en-US" sz="1050" b="1" dirty="0">
                <a:solidFill>
                  <a:srgbClr val="60A5FA"/>
                </a:solidFill>
                <a:latin typeface="Calibri" pitchFamily="34" charset="0"/>
                <a:ea typeface="Calibri" pitchFamily="34" charset="-122"/>
                <a:cs typeface="Calibri" pitchFamily="34" charset="-120"/>
              </a:rPr>
              <a:t>03</a:t>
            </a:r>
            <a:endParaRPr lang="en-US" sz="1050" dirty="0"/>
          </a:p>
        </p:txBody>
      </p:sp>
      <p:sp>
        <p:nvSpPr>
          <p:cNvPr id="18" name="Text 16"/>
          <p:cNvSpPr/>
          <p:nvPr/>
        </p:nvSpPr>
        <p:spPr>
          <a:xfrm>
            <a:off x="987552" y="3803904"/>
            <a:ext cx="7662672" cy="256032"/>
          </a:xfrm>
          <a:prstGeom prst="rect">
            <a:avLst/>
          </a:prstGeom>
          <a:noFill/>
          <a:ln/>
        </p:spPr>
        <p:txBody>
          <a:bodyPr wrap="square" lIns="0" tIns="0" rIns="0" bIns="0" rtlCol="0" anchor="ctr"/>
          <a:lstStyle/>
          <a:p>
            <a:pPr marL="0" indent="0">
              <a:buNone/>
            </a:pPr>
            <a:r>
              <a:rPr lang="en-US" sz="1100" b="1" dirty="0">
                <a:solidFill>
                  <a:srgbClr val="60A5FA"/>
                </a:solidFill>
                <a:latin typeface="Calibri" pitchFamily="34" charset="0"/>
                <a:ea typeface="Calibri" pitchFamily="34" charset="-122"/>
                <a:cs typeface="Calibri" pitchFamily="34" charset="-120"/>
              </a:rPr>
              <a:t>Izbor praga = poslovna odluka</a:t>
            </a:r>
            <a:endParaRPr lang="en-US" sz="1100" dirty="0"/>
          </a:p>
        </p:txBody>
      </p:sp>
      <p:sp>
        <p:nvSpPr>
          <p:cNvPr id="19" name="Text 17"/>
          <p:cNvSpPr/>
          <p:nvPr/>
        </p:nvSpPr>
        <p:spPr>
          <a:xfrm>
            <a:off x="987552" y="4059936"/>
            <a:ext cx="7662672" cy="621792"/>
          </a:xfrm>
          <a:prstGeom prst="rect">
            <a:avLst/>
          </a:prstGeom>
          <a:noFill/>
          <a:ln/>
        </p:spPr>
        <p:txBody>
          <a:bodyPr wrap="square" lIns="0" tIns="0" rIns="0" bIns="0" rtlCol="0" anchor="ctr"/>
          <a:lstStyle/>
          <a:p>
            <a:pPr marL="0" indent="0">
              <a:buNone/>
            </a:pPr>
            <a:r>
              <a:rPr lang="en-US" sz="950" dirty="0">
                <a:solidFill>
                  <a:srgbClr val="9CA3AF"/>
                </a:solidFill>
                <a:latin typeface="Calibri" pitchFamily="34" charset="0"/>
                <a:ea typeface="Calibri" pitchFamily="34" charset="-122"/>
                <a:cs typeface="Calibri" pitchFamily="34" charset="-120"/>
              </a:rPr>
              <a:t>Standardni prag 0.5 daje Precision 0.899 (minimum lažnih uzbuna). Preporučeni prag 0.3 hvata 12 dodatnih prevara uz prihvatljiv porast uzbuna — u bankarskom kontekstu finansijska zaštita ima prednost.</a:t>
            </a:r>
            <a:endParaRPr lang="en-US" sz="9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E18"/>
        </a:solidFill>
        <a:effectLst/>
      </p:bgPr>
    </p:bg>
    <p:spTree>
      <p:nvGrpSpPr>
        <p:cNvPr id="1" name=""/>
        <p:cNvGrpSpPr/>
        <p:nvPr/>
      </p:nvGrpSpPr>
      <p:grpSpPr>
        <a:xfrm>
          <a:off x="0" y="0"/>
          <a:ext cx="0" cy="0"/>
          <a:chOff x="0" y="0"/>
          <a:chExt cx="0" cy="0"/>
        </a:xfrm>
      </p:grpSpPr>
      <p:sp>
        <p:nvSpPr>
          <p:cNvPr id="2" name="Shape 0"/>
          <p:cNvSpPr/>
          <p:nvPr/>
        </p:nvSpPr>
        <p:spPr>
          <a:xfrm>
            <a:off x="-457200" y="-457200"/>
            <a:ext cx="2743200" cy="2743200"/>
          </a:xfrm>
          <a:prstGeom prst="ellipse">
            <a:avLst/>
          </a:prstGeom>
          <a:solidFill>
            <a:srgbClr val="152030"/>
          </a:solidFill>
          <a:ln w="12700">
            <a:solidFill>
              <a:srgbClr val="1A2A3A"/>
            </a:solidFill>
            <a:prstDash val="solid"/>
          </a:ln>
        </p:spPr>
      </p:sp>
      <p:sp>
        <p:nvSpPr>
          <p:cNvPr id="3" name="Shape 1"/>
          <p:cNvSpPr/>
          <p:nvPr/>
        </p:nvSpPr>
        <p:spPr>
          <a:xfrm>
            <a:off x="182880" y="91440"/>
            <a:ext cx="2011680" cy="2011680"/>
          </a:xfrm>
          <a:prstGeom prst="ellipse">
            <a:avLst/>
          </a:prstGeom>
          <a:solidFill>
            <a:srgbClr val="0A1A28"/>
          </a:solidFill>
          <a:ln w="12700">
            <a:solidFill>
              <a:srgbClr val="1A2A3A"/>
            </a:solidFill>
            <a:prstDash val="solid"/>
          </a:ln>
        </p:spPr>
      </p:sp>
      <p:sp>
        <p:nvSpPr>
          <p:cNvPr id="4" name="Shape 2"/>
          <p:cNvSpPr/>
          <p:nvPr/>
        </p:nvSpPr>
        <p:spPr>
          <a:xfrm>
            <a:off x="6858000" y="2560320"/>
            <a:ext cx="2743200" cy="2743200"/>
          </a:xfrm>
          <a:prstGeom prst="ellipse">
            <a:avLst/>
          </a:prstGeom>
          <a:solidFill>
            <a:srgbClr val="152030"/>
          </a:solidFill>
          <a:ln w="12700">
            <a:solidFill>
              <a:srgbClr val="1A2A3A"/>
            </a:solidFill>
            <a:prstDash val="solid"/>
          </a:ln>
        </p:spPr>
      </p:sp>
      <p:sp>
        <p:nvSpPr>
          <p:cNvPr id="5" name="Shape 3"/>
          <p:cNvSpPr/>
          <p:nvPr/>
        </p:nvSpPr>
        <p:spPr>
          <a:xfrm>
            <a:off x="7498080" y="3200400"/>
            <a:ext cx="1828800" cy="1828800"/>
          </a:xfrm>
          <a:prstGeom prst="ellipse">
            <a:avLst/>
          </a:prstGeom>
          <a:solidFill>
            <a:srgbClr val="0A1A28"/>
          </a:solidFill>
          <a:ln w="12700">
            <a:solidFill>
              <a:srgbClr val="1A2A3A"/>
            </a:solidFill>
            <a:prstDash val="solid"/>
          </a:ln>
        </p:spPr>
      </p:sp>
      <p:sp>
        <p:nvSpPr>
          <p:cNvPr id="6" name="Text 4"/>
          <p:cNvSpPr/>
          <p:nvPr/>
        </p:nvSpPr>
        <p:spPr>
          <a:xfrm>
            <a:off x="0" y="1463040"/>
            <a:ext cx="9144000" cy="914400"/>
          </a:xfrm>
          <a:prstGeom prst="rect">
            <a:avLst/>
          </a:prstGeom>
          <a:noFill/>
          <a:ln/>
        </p:spPr>
        <p:txBody>
          <a:bodyPr wrap="square" rtlCol="0" anchor="ctr"/>
          <a:lstStyle/>
          <a:p>
            <a:pPr marL="0" indent="0" algn="ctr">
              <a:buNone/>
            </a:pPr>
            <a:r>
              <a:rPr lang="en-US" sz="4400" b="1" dirty="0">
                <a:solidFill>
                  <a:srgbClr val="F9FAFB"/>
                </a:solidFill>
                <a:latin typeface="Calibri" pitchFamily="34" charset="0"/>
                <a:ea typeface="Calibri" pitchFamily="34" charset="-122"/>
                <a:cs typeface="Calibri" pitchFamily="34" charset="-120"/>
              </a:rPr>
              <a:t>Hvala na pažnji!</a:t>
            </a:r>
            <a:endParaRPr lang="en-US" sz="4400" dirty="0"/>
          </a:p>
        </p:txBody>
      </p:sp>
      <p:sp>
        <p:nvSpPr>
          <p:cNvPr id="7" name="Text 5"/>
          <p:cNvSpPr/>
          <p:nvPr/>
        </p:nvSpPr>
        <p:spPr>
          <a:xfrm>
            <a:off x="0" y="2468880"/>
            <a:ext cx="9144000" cy="384048"/>
          </a:xfrm>
          <a:prstGeom prst="rect">
            <a:avLst/>
          </a:prstGeom>
          <a:noFill/>
          <a:ln/>
        </p:spPr>
        <p:txBody>
          <a:bodyPr wrap="square" rtlCol="0" anchor="ctr"/>
          <a:lstStyle/>
          <a:p>
            <a:pPr marL="0" indent="0" algn="ctr">
              <a:buNone/>
            </a:pPr>
            <a:r>
              <a:rPr lang="en-US" sz="1300" dirty="0">
                <a:solidFill>
                  <a:srgbClr val="9CA3AF"/>
                </a:solidFill>
                <a:latin typeface="Calibri" pitchFamily="34" charset="0"/>
                <a:ea typeface="Calibri" pitchFamily="34" charset="-122"/>
                <a:cs typeface="Calibri" pitchFamily="34" charset="-120"/>
              </a:rPr>
              <a:t>Detekcija prevara kreditnim </a:t>
            </a:r>
            <a:r>
              <a:rPr lang="en-US" sz="1300" dirty="0" err="1">
                <a:solidFill>
                  <a:srgbClr val="9CA3AF"/>
                </a:solidFill>
                <a:latin typeface="Calibri" pitchFamily="34" charset="0"/>
                <a:ea typeface="Calibri" pitchFamily="34" charset="-122"/>
                <a:cs typeface="Calibri" pitchFamily="34" charset="-120"/>
              </a:rPr>
              <a:t>karticama</a:t>
            </a:r>
            <a:r>
              <a:rPr lang="en-US" sz="1300" dirty="0">
                <a:solidFill>
                  <a:srgbClr val="9CA3AF"/>
                </a:solidFill>
                <a:latin typeface="Calibri" pitchFamily="34" charset="0"/>
                <a:ea typeface="Calibri" pitchFamily="34" charset="-122"/>
                <a:cs typeface="Calibri" pitchFamily="34" charset="-120"/>
              </a:rPr>
              <a:t>  </a:t>
            </a:r>
            <a:endParaRPr lang="en-US" sz="1300" dirty="0"/>
          </a:p>
        </p:txBody>
      </p:sp>
      <p:sp>
        <p:nvSpPr>
          <p:cNvPr id="8" name="Shape 6"/>
          <p:cNvSpPr/>
          <p:nvPr/>
        </p:nvSpPr>
        <p:spPr>
          <a:xfrm>
            <a:off x="3200400" y="2999232"/>
            <a:ext cx="2743200" cy="22860"/>
          </a:xfrm>
          <a:prstGeom prst="rect">
            <a:avLst/>
          </a:prstGeom>
          <a:solidFill>
            <a:srgbClr val="10B981"/>
          </a:solidFill>
          <a:ln w="12700">
            <a:solidFill>
              <a:srgbClr val="10B981"/>
            </a:solidFill>
            <a:prstDash val="solid"/>
          </a:ln>
        </p:spPr>
      </p:sp>
      <p:sp>
        <p:nvSpPr>
          <p:cNvPr id="9" name="Text 7"/>
          <p:cNvSpPr/>
          <p:nvPr/>
        </p:nvSpPr>
        <p:spPr>
          <a:xfrm>
            <a:off x="0" y="3154680"/>
            <a:ext cx="9144000" cy="320040"/>
          </a:xfrm>
          <a:prstGeom prst="rect">
            <a:avLst/>
          </a:prstGeom>
          <a:noFill/>
          <a:ln/>
        </p:spPr>
        <p:txBody>
          <a:bodyPr wrap="square" rtlCol="0" anchor="ctr"/>
          <a:lstStyle/>
          <a:p>
            <a:pPr marL="0" indent="0" algn="ctr">
              <a:buNone/>
            </a:pPr>
            <a:r>
              <a:rPr lang="en-US" sz="1200" dirty="0">
                <a:solidFill>
                  <a:srgbClr val="9CA3AF"/>
                </a:solidFill>
                <a:latin typeface="Calibri" pitchFamily="34" charset="0"/>
                <a:ea typeface="Calibri" pitchFamily="34" charset="-122"/>
                <a:cs typeface="Calibri" pitchFamily="34" charset="-120"/>
              </a:rPr>
              <a:t>Luka </a:t>
            </a:r>
            <a:r>
              <a:rPr lang="sr-Latn-RS" sz="1200" dirty="0" smtClean="0">
                <a:solidFill>
                  <a:srgbClr val="9CA3AF"/>
                </a:solidFill>
                <a:latin typeface="Calibri" pitchFamily="34" charset="0"/>
                <a:ea typeface="Calibri" pitchFamily="34" charset="-122"/>
                <a:cs typeface="Calibri" pitchFamily="34" charset="-120"/>
              </a:rPr>
              <a:t>Đokić</a:t>
            </a:r>
            <a:r>
              <a:rPr lang="en-US" sz="1200" dirty="0" smtClean="0">
                <a:solidFill>
                  <a:srgbClr val="9CA3AF"/>
                </a:solidFill>
                <a:latin typeface="Calibri" pitchFamily="34" charset="0"/>
                <a:ea typeface="Calibri" pitchFamily="34" charset="-122"/>
                <a:cs typeface="Calibri" pitchFamily="34" charset="-120"/>
              </a:rPr>
              <a:t> </a:t>
            </a:r>
            <a:r>
              <a:rPr lang="sr-Latn-RS" sz="1200" dirty="0" smtClean="0">
                <a:solidFill>
                  <a:srgbClr val="9CA3AF"/>
                </a:solidFill>
                <a:latin typeface="Calibri" pitchFamily="34" charset="0"/>
                <a:ea typeface="Calibri" pitchFamily="34" charset="-122"/>
                <a:cs typeface="Calibri" pitchFamily="34" charset="-120"/>
              </a:rPr>
              <a:t>2022/0312</a:t>
            </a:r>
            <a:endParaRPr lang="en-US" sz="1200" dirty="0"/>
          </a:p>
        </p:txBody>
      </p:sp>
      <p:sp>
        <p:nvSpPr>
          <p:cNvPr id="10" name="Text 8"/>
          <p:cNvSpPr/>
          <p:nvPr/>
        </p:nvSpPr>
        <p:spPr>
          <a:xfrm>
            <a:off x="0" y="3493008"/>
            <a:ext cx="9144000" cy="274320"/>
          </a:xfrm>
          <a:prstGeom prst="rect">
            <a:avLst/>
          </a:prstGeom>
          <a:noFill/>
          <a:ln/>
        </p:spPr>
        <p:txBody>
          <a:bodyPr wrap="square" rtlCol="0" anchor="ctr"/>
          <a:lstStyle/>
          <a:p>
            <a:pPr marL="0" indent="0" algn="ctr">
              <a:buNone/>
            </a:pPr>
            <a:r>
              <a:rPr lang="en-US" sz="1100" dirty="0">
                <a:solidFill>
                  <a:srgbClr val="374151"/>
                </a:solidFill>
                <a:latin typeface="Calibri" pitchFamily="34" charset="0"/>
                <a:ea typeface="Calibri" pitchFamily="34" charset="-122"/>
                <a:cs typeface="Calibri" pitchFamily="34" charset="-120"/>
              </a:rPr>
              <a:t>Duboko učenje i neuronske mreže</a:t>
            </a:r>
            <a:endParaRPr lang="en-US" sz="1100" dirty="0"/>
          </a:p>
        </p:txBody>
      </p:sp>
      <p:sp>
        <p:nvSpPr>
          <p:cNvPr id="11" name="Text 9"/>
          <p:cNvSpPr/>
          <p:nvPr/>
        </p:nvSpPr>
        <p:spPr>
          <a:xfrm>
            <a:off x="0" y="3931920"/>
            <a:ext cx="9144000" cy="256032"/>
          </a:xfrm>
          <a:prstGeom prst="rect">
            <a:avLst/>
          </a:prstGeom>
          <a:noFill/>
          <a:ln/>
        </p:spPr>
        <p:txBody>
          <a:bodyPr wrap="square" rtlCol="0" anchor="ctr"/>
          <a:lstStyle/>
          <a:p>
            <a:pPr algn="ctr"/>
            <a:r>
              <a:rPr lang="en-US" sz="1000" dirty="0">
                <a:solidFill>
                  <a:srgbClr val="10B981"/>
                </a:solidFill>
                <a:latin typeface="Calibri" pitchFamily="34" charset="0"/>
                <a:ea typeface="Calibri" pitchFamily="34" charset="-122"/>
                <a:cs typeface="Calibri" pitchFamily="34" charset="-120"/>
              </a:rPr>
              <a:t>https://github.com/LukaDjokic14/Credit_Card_Fraud_Detection</a:t>
            </a:r>
            <a:endParaRPr lang="en-US" sz="1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1236</Words>
  <Application>Microsoft Office PowerPoint</Application>
  <PresentationFormat>On-screen Show (16:9)</PresentationFormat>
  <Paragraphs>297</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Detekcija prevara kreditnim karticama</dc:title>
  <dc:subject>PptxGenJS Presentation</dc:subject>
  <dc:creator>PptxGenJS</dc:creator>
  <cp:lastModifiedBy>Luka Đokić</cp:lastModifiedBy>
  <cp:revision>8</cp:revision>
  <dcterms:created xsi:type="dcterms:W3CDTF">2026-06-24T17:30:53Z</dcterms:created>
  <dcterms:modified xsi:type="dcterms:W3CDTF">2026-06-24T18:03:48Z</dcterms:modified>
</cp:coreProperties>
</file>